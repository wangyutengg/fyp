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2.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5C161"/>
                </a:solidFill>
                <a:latin typeface="Calibri"/>
              </a:defRPr>
            </a:pPr>
            <a:r>
              <a:rPr sz="1200" b="0" i="0" u="none" strike="noStrike">
                <a:solidFill>
                  <a:srgbClr val="F5C161"/>
                </a:solidFill>
                <a:latin typeface="Calibri"/>
              </a:rPr>
              <a:t>Pearson r per model</a:t>
            </a:r>
          </a:p>
        </c:rich>
      </c:tx>
      <c:layout/>
      <c:overlay val="0"/>
    </c:title>
    <c:autoTitleDeleted val="0"/>
    <c:plotArea>
      <c:layout/>
      <c:barChart>
        <c:barDir val="bar"/>
        <c:grouping val="clustered"/>
        <c:varyColors val="0"/>
        <c:ser>
          <c:idx val="0"/>
          <c:order val="0"/>
          <c:tx>
            <c:strRef>
              <c:f>Sheet1!$B$1</c:f>
              <c:strCache>
                <c:ptCount val="1"/>
                <c:pt idx="0">
                  <c:v>Pearson r</c:v>
                </c:pt>
              </c:strCache>
            </c:strRef>
          </c:tx>
          <c:spPr>
            <a:solidFill>
              <a:srgbClr val="E8A33D"/>
            </a:solidFill>
            <a:effectLst/>
          </c:spPr>
          <c:invertIfNegative val="0"/>
          <c:dLbls>
            <c:numFmt formatCode="0.00" sourceLinked="0"/>
            <c:txPr>
              <a:bodyPr/>
              <a:lstStyle/>
              <a:p>
                <a:pPr>
                  <a:defRPr b="0" i="0" strike="noStrike" sz="900" u="none">
                    <a:solidFill>
                      <a:srgbClr val="F4F4F5"/>
                    </a:solidFill>
                    <a:latin typeface="Calibri"/>
                  </a:defRPr>
                </a:pPr>
              </a:p>
            </c:txPr>
            <c:showLegendKey val="0"/>
            <c:showVal val="1"/>
            <c:showCatName val="0"/>
            <c:showSerName val="0"/>
            <c:showPercent val="0"/>
            <c:showBubbleSize val="0"/>
            <c:showLeaderLines val="0"/>
          </c:dLbls>
          <c:cat>
            <c:multiLvlStrRef>
              <c:f>Sheet1!$A$2:$A$7</c:f>
              <c:multiLvlStrCache>
                <c:ptCount val="6"/>
                <c:lvl>
                  <c:pt idx="0">
                    <c:v>Claude Opus</c:v>
                  </c:pt>
                  <c:pt idx="1">
                    <c:v>Claude Sonnet</c:v>
                  </c:pt>
                  <c:pt idx="2">
                    <c:v>GPT-5.4</c:v>
                  </c:pt>
                  <c:pt idx="3">
                    <c:v>Gemini 3.1 Pro</c:v>
                  </c:pt>
                  <c:pt idx="4">
                    <c:v>GPT-5.4 Mini</c:v>
                  </c:pt>
                  <c:pt idx="5">
                    <c:v>Gemini 3 Flash</c:v>
                  </c:pt>
                </c:lvl>
              </c:multiLvlStrCache>
            </c:multiLvlStrRef>
          </c:cat>
          <c:val>
            <c:numRef>
              <c:f>Sheet1!$B$2:$B$7</c:f>
              <c:numCache>
                <c:formatCode>General</c:formatCode>
                <c:ptCount val="6"/>
                <c:pt idx="0">
                  <c:v>0.92</c:v>
                </c:pt>
                <c:pt idx="1">
                  <c:v>0.89</c:v>
                </c:pt>
                <c:pt idx="2">
                  <c:v>0.86</c:v>
                </c:pt>
                <c:pt idx="3">
                  <c:v>0.85</c:v>
                </c:pt>
                <c:pt idx="4">
                  <c:v>0.79</c:v>
                </c:pt>
                <c:pt idx="5">
                  <c:v>0.74</c:v>
                </c:pt>
              </c:numCache>
            </c:numRef>
          </c:val>
        </c:ser>
        <c:dLbls>
          <c:numFmt formatCode="0.00" sourceLinked="0"/>
          <c:txPr>
            <a:bodyPr/>
            <a:lstStyle/>
            <a:p>
              <a:pPr>
                <a:defRPr b="0" i="0" strike="noStrike" sz="900" u="none">
                  <a:solidFill>
                    <a:srgbClr val="F4F4F5"/>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B0B5BD"/>
                </a:solidFill>
                <a:latin typeface="Calibri"/>
              </a:defRPr>
            </a:pPr>
            <a:endParaRPr lang="en-US"/>
          </a:p>
        </c:txPr>
        <c:crossAx val="2094734552"/>
        <c:crosses val="autoZero"/>
        <c:auto val="1"/>
        <c:lblAlgn val="ctr"/>
        <c:noMultiLvlLbl val="1"/>
      </c:catAx>
      <c:valAx>
        <c:axId val="2094734552"/>
        <c:scaling>
          <c:orientation val="minMax"/>
          <c:max val="0.95"/>
          <c:min val="0.7"/>
        </c:scaling>
        <c:delete val="0"/>
        <c:axPos val="b"/>
        <c:majorGridlines>
          <c:spPr>
            <a:ln w="6350" cap="flat">
              <a:solidFill>
                <a:srgbClr val="2D313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B0B5BD"/>
                </a:solidFill>
                <a:latin typeface="Calibri"/>
              </a:defRPr>
            </a:pPr>
            <a:endParaRPr lang="en-US"/>
          </a:p>
        </c:txPr>
        <c:crossAx val="2094734554"/>
        <c:crosses val="autoZero"/>
        <c:crossBetween val="between"/>
      </c:valAx>
      <c:spPr>
        <a:solidFill>
          <a:srgbClr val="1A1D24"/>
        </a:solidFill>
        <a:ln>
          <a:noFill/>
        </a:ln>
        <a:effectLst/>
      </c:spPr>
    </c:plotArea>
    <c:plotVisOnly val="1"/>
    <c:dispBlanksAs val="span"/>
  </c:chart>
  <c:spPr>
    <a:solidFill>
      <a:srgbClr val="1A1D24"/>
    </a:solidFill>
    <a:ln w="6350" cap="flat">
      <a:solidFill>
        <a:srgbClr val="2D3138"/>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Pearson r</c:v>
                </c:pt>
              </c:strCache>
            </c:strRef>
          </c:tx>
          <c:spPr>
            <a:solidFill>
              <a:srgbClr val="F5C161"/>
            </a:solidFill>
            <a:ln w="25400" cap="flat">
              <a:solidFill>
                <a:srgbClr val="F5C161"/>
              </a:solidFill>
              <a:prstDash val="solid"/>
              <a:round/>
            </a:ln>
            <a:effectLst/>
          </c:spPr>
          <c:marker>
            <c:symbol val="circle"/>
            <c:size val="12"/>
            <c:spPr>
              <a:solidFill>
                <a:srgbClr val="F5C161"/>
              </a:solidFill>
              <a:ln w="9525" cap="flat">
                <a:solidFill>
                  <a:srgbClr val="F5C161"/>
                </a:solidFill>
                <a:prstDash val="solid"/>
                <a:round/>
              </a:ln>
              <a:effectLst/>
            </c:spPr>
          </c:marker>
          <c:xVal>
            <c:numRef>
              <c:f>Sheet1!$A$2:$A$7</c:f>
              <c:numCache>
                <c:formatCode>General</c:formatCode>
                <c:ptCount val="6"/>
                <c:pt idx="0">
                  <c:v>0.003</c:v>
                </c:pt>
                <c:pt idx="1">
                  <c:v>0.005</c:v>
                </c:pt>
                <c:pt idx="2">
                  <c:v>0.012</c:v>
                </c:pt>
                <c:pt idx="3">
                  <c:v>0.015</c:v>
                </c:pt>
                <c:pt idx="4">
                  <c:v>0.018</c:v>
                </c:pt>
                <c:pt idx="5">
                  <c:v>0.032</c:v>
                </c:pt>
              </c:numCache>
            </c:numRef>
          </c:xVal>
          <c:yVal>
            <c:numRef>
              <c:f>Sheet1!$B$2:$B$7</c:f>
              <c:numCache>
                <c:formatCode>General</c:formatCode>
                <c:ptCount val="6"/>
                <c:pt idx="0">
                  <c:v>0.74</c:v>
                </c:pt>
                <c:pt idx="1">
                  <c:v>0.79</c:v>
                </c:pt>
                <c:pt idx="2">
                  <c:v>0.85</c:v>
                </c:pt>
                <c:pt idx="3">
                  <c:v>0.86</c:v>
                </c:pt>
                <c:pt idx="4">
                  <c:v>0.89</c:v>
                </c:pt>
                <c:pt idx="5">
                  <c:v>0.92</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0.035"/>
          <c:min val="0"/>
        </c:scaling>
        <c:delete val="0"/>
        <c:axPos val="b"/>
        <c:majorGridlines>
          <c:spPr>
            <a:ln w="6350" cap="flat">
              <a:solidFill>
                <a:srgbClr val="2D3138"/>
              </a:solidFill>
              <a:prstDash val="solid"/>
              <a:round/>
            </a:ln>
          </c:spPr>
        </c:majorGridlines>
        <c:title>
          <c:tx>
            <c:rich>
              <a:bodyPr/>
              <a:lstStyle/>
              <a:p>
                <a:pPr>
                  <a:defRPr sz="1100" b="0" i="0" u="none" strike="noStrike">
                    <a:solidFill>
                      <a:srgbClr val="F5C161"/>
                    </a:solidFill>
                    <a:latin typeface="Calibri"/>
                  </a:defRPr>
                </a:pPr>
                <a:r>
                  <a:rPr sz="1100" b="0" i="0" u="none" strike="noStrike">
                    <a:solidFill>
                      <a:srgbClr val="F5C161"/>
                    </a:solidFill>
                    <a:latin typeface="Calibri"/>
                  </a:rPr>
                  <a:t>Cost / submission (USD)</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B0B5BD"/>
                </a:solidFill>
                <a:latin typeface="Calibri"/>
              </a:defRPr>
            </a:pPr>
            <a:endParaRPr lang="en-US"/>
          </a:p>
        </c:txPr>
        <c:crossAx val="2094734552"/>
        <c:crosses val="autoZero"/>
        <c:auto val="1"/>
        <c:lblAlgn val="ctr"/>
        <c:noMultiLvlLbl val="1"/>
      </c:valAx>
      <c:valAx>
        <c:axId val="2094734552"/>
        <c:scaling>
          <c:orientation val="minMax"/>
          <c:max val="0.95"/>
          <c:min val="0.7"/>
        </c:scaling>
        <c:delete val="0"/>
        <c:axPos val="l"/>
        <c:majorGridlines>
          <c:spPr>
            <a:ln w="6350" cap="flat">
              <a:solidFill>
                <a:srgbClr val="2D3138"/>
              </a:solidFill>
              <a:prstDash val="solid"/>
              <a:round/>
            </a:ln>
          </c:spPr>
        </c:majorGridlines>
        <c:title>
          <c:tx>
            <c:rich>
              <a:bodyPr/>
              <a:lstStyle/>
              <a:p>
                <a:pPr>
                  <a:defRPr sz="1100" b="0" i="0" u="none" strike="noStrike">
                    <a:solidFill>
                      <a:srgbClr val="F5C161"/>
                    </a:solidFill>
                    <a:latin typeface="Calibri"/>
                  </a:defRPr>
                </a:pPr>
                <a:r>
                  <a:rPr sz="1100" b="0" i="0" u="none" strike="noStrike">
                    <a:solidFill>
                      <a:srgbClr val="F5C161"/>
                    </a:solidFill>
                    <a:latin typeface="Calibri"/>
                  </a:rPr>
                  <a:t>Pearson r</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B0B5BD"/>
                </a:solidFill>
                <a:latin typeface="Calibri"/>
              </a:defRPr>
            </a:pPr>
            <a:endParaRPr lang="en-US"/>
          </a:p>
        </c:txPr>
        <c:crossAx val="2094734554"/>
        <c:crosses val="autoZero"/>
        <c:crossBetween val="midCat"/>
      </c:valAx>
      <c:spPr>
        <a:solidFill>
          <a:srgbClr val="1A1D24"/>
        </a:solidFill>
        <a:ln>
          <a:noFill/>
        </a:ln>
        <a:effectLst/>
      </c:spPr>
    </c:plotArea>
    <c:plotVisOnly val="1"/>
    <c:dispBlanksAs val="span"/>
    <c:showDLblsOverMax val="1"/>
  </c:chart>
  <c:spPr>
    <a:solidFill>
      <a:srgbClr val="1A1D24"/>
    </a:solidFill>
    <a:ln w="6350" cap="flat">
      <a:solidFill>
        <a:srgbClr val="2D3138"/>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Wang Yu Teng, and I'll be presenting my final-year project — a full-stack web platform for automated assessment of UML diagrams. This is project CCDS25-0233 under Dr. Loke.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walk through five sections — start with the problem and what's already been tried, show you the system in action, dig into how it's built, present the empirical results from comparing six LLMs, and wrap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Computer-science enrollments have more than doubled in the last decade. UML is still core to software-engineering curricula, but it's the worst-case grading workload — a single class diagram takes about 15 minutes to evaluate, and a 200-student cohort with five diagrams produces a thousand artifacts. That's roughly 83 hours of TA grading per assignment. And that's before we factor in inconsistency between graders.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waves of prior work. Traditional rule-based and ML approaches were promising but tightly coupled to specific tools — Modelio, Rational Rose — and limited to class diagrams. Then LLM-based studies emerged: Wang et al. evaluated GPT-4o, Bouali et al. compared multiple models in early 2025 and got ICC of 0.76. But all of these used earlier-generation models with weaker reasoning and no structured-output enforcement. The gap I'm addressing is twofold — revisit the empirical question with SOTA models, and embed the result in a deployable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each tied to a measurable outcome. The first three are platform engineering. The fourth is the empirical contribution. The fifth is operational deployability — non-negotiable for a school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slide — slow down) Five contribution areas. The platform is the engineering layer — sixteen tables, eighty-three endpoints, eleven route modules. The AI grading pipeline is where the design effort is concentrated, and I'll come back to dual-modality prompting in detail. The custom UML editor was necessary because no off-the-shelf component could produce both the structured PlantUML text and the rendered image we need for grading. The empirical evaluation involved 960 API calls across six frontier models. And the deployment story uses a single Docker image that serves both web and worker tiers.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architecture deep dive, I want you to see it working. The demo is about three minutes — I'll show you the staff workflow, then the student workflow, then the AI grading loop. Hit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logical tiers. The critical decision was separating the web server from the background worker. LLM grading takes anywhere from five to sixty seconds — running that inside the request cycle would block the event loop for every concurrent user. By decoupling job enqueueing from job processing through PostgreSQL, the web server stays responsive even under exam-period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it — pattern-match for the audience) Standard modern TypeScript stack with two non-default choices. Hono over Express for performance. Graphile Worker over Redis-backed queues so the school deployment doesn't need a second data store. Everything else is conventional.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Sixteen tables in five functional groups. Two design choices worth flagging — JSONB for question content lets me support three different question shapes without three separate content tables, and PostgreSQL enums enforce the submission state machine at the database level rather than in application code. Composite unique constraints on submissions and answers prevent retry-storm duplicates during real exam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staff workflow has three stages. Courses come first — bulk-enrollment via CSV is transactional, so a single bad email rolls back the entire batch instead of leaving you with partial state. Questions live in a course-scoped pool that can be reused across multiple assignments. The assignment builder configures every policy — timing, attempts, late penalties, randomisation, focus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attempt is the riskiest UX surface — a browser crash mid-exam can't lose work, and a dishonest student can't game the timer. So we have three independent enforcement layers: auto-save every thirty seconds, a server-side cron that force-submits expired drafts within sixty seconds, and opt-in focus monitoring that auto-submits if the student switches tabs too many times. The submission itself is wrapped in a single database transaction — atomic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editor is custom-built. Off-the-shelf options either lacked grading hooks or output formats incompatible with the dual-modality grading I'll show next. It's structured rather than free-text — students pick visibility from a dropdown and type the attribute name, instead of writing raw UML notation. That structured input is what makes deterministic export to PlantUML possible. The same component renders for the student during their attempt, for staff during grading, and for the LLM as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Grading is asynchronous and Postgres-queued. Staff trigger a batch, the API immediately returns with a job count, and the worker processes them sequentially. Concurrency is deliberately set to one — parallel LLM calls risk rate-limit errors and unpredictable latency, and at the school scale of fifty to a hundred students per course, sequential processing finishes in a reasonable window. Every job is logged. Failures are surfaced to staff, not swallowed.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 this is the kernel) This is the technical core. UML is a visual artifact with both structural semantics and spatial properties. I considered four alternatives — text-only DSL conversion loses visual properties; pure vision risks hallucination on fine-grained labels; graph matching gives no semantic judgment; code generation introduces a lossy translation step. The platform uses dual-modality: it serialises the editor state into PlantUML DSL for an unambiguous structural view, and it renders the same state as a PNG for visual assessment. Both go into the prompt — the LLM cross-references one against the other, which catches errors that either modality alone would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layers of defence. Schema validation through Zod and the AI SDK guarantees the LLM returns valid JSON or fails the job. Score clamping catches the known LLM tendency to occasionally hallucinate out-of-range numbers. Together they ensure that no corrupt suggestion ever reaches the staff review interface — a structural invariant, not just convention.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consequential design decision in the pipeline. AI suggestions live in a staging column, separate from the official marks table. Staff must explicitly accept or reject each one. Every grading action — including overrides of existing marks — is recorded with provenance metadata: who reviewed, whether AI-assisted, whether the AI suggestion was accepted as-is or modified. This audit trail is what makes AI grading defensible at the institution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Docker image, two roles — the same image starts the web server by default or the Graphile worker via a CMD override. That halves the build matrix while keeping the tiers independently scalable. The web tier scales horizontally for exam-period traffic; the worker stays at a single replica because parallel LLM calls collide with rate limits. Migrations run as a pre-deploy job so the schema is always current before traffic hits. And critically — none of the external services are hard prerequisites. A bare-bones on-prem deployment needs only PostgreSQL and the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research questions. RQ1 is grading accuracy against human ground truth. RQ2 is the cost-performance trade-off — does the cheaper model in each provider's lineup hold up? RQ3 is inter-run consistency, since stochastic outputs would undermine reproducibility. RQ4 is structured output reliability — the format-compliance issue that Piscitelli et al. raised in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models — one flagship and one baseline from each of three providers. Two real student submissions from the McGill repository and thirty synthetic submissions covering the full grade spectrum across three domains. Each submission graded five times by each model — nine hundred and sixty API calls total. Temperature zero where supported, exponential backoff on transient failures, every call logged with prompt, response, latency, and token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metrics, weighted toward accuracy (35%) and consistency (25%) since this is summative assessment — both account for sixty percent of the weighted score. Cost and speed are deliberately low-weighted because at the target scale of fifty to a hundred students, even the most expensive model costs under four cents per submission. Each metric is normalised against an absolute reference ceiling rather than min-max, so the rankings stay stable if more models are added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 this is the headline) RQ1. Claude Opus 4.6 leads with Pearson 0.92 and mean absolute error of 0.68 out of 10 — clearly the best-performing model overall. Sonnet and GPT-5.4 form a competitive second tier with Pearson 0.89 and 0.86. The baseline models — GPT-5.4 Mini and Gemini 3 Flash — show a clear accuracy drop. Two takeaways. First, Pearson 0.92 is a notable improvement over Bouali et al.'s 0.76 with an earlier Claude generation, which directly addresses the gap from Section 01. Second, every model shows negative mean bias — they grade more strictly than the human grader. That's consistent with prior work and suggests a systematic LLM tendency, not a quirk of one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RQ2. Even the most expensive model costs under four cents per submission, so for a typical course the entire grading bill is under seven dollars per assignment. The interesting finding is the cost-accuracy ratio within a provider — Sonnet trails Opus by 0.03 on Pearson r at roughly half the cost. Institutions can choose based on budget without meaningfully compromising grading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RQs in one slide because they tell a single story. Claude Opus is the most consistent across runs at standard deviation 0.16, well below the 1.5-point ceiling that would mean two students could receive grades a full letter apart on the same submission. On structured output, both Claude models hit 100% parse rate — the API-level structured-output enforcement, combined with temperature zero, has effectively solved the format-compliance problem that Piscitelli et al. flagged earlier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the weighting formula and Opus and Sonnet tie at 0.87 — Opus leads by less than 0.01 at full precision, driven by its accuracy and consistency advantage. Opus is the production recommendation when grading quality is paramount; Sonnet is the cost-effective alternative at roughly half the per-submission cost. GPT-5.4 is a viable fallback if the Anthropic API is unavailable. The baseline models — Mini and Flash — would be acceptable for formative feedback but their variance is too high for summative grading.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explicit about the limits of these results. The dataset is small and predominantly synthetic — thirty of thirty-two submissions were author-generated. Ground truth came from a single grader, which is the most significant threat to internal validity. We only evaluated class diagrams, not sequence or activity. The McGill data required Umple-to-PlantUML conversion which may affect comparability. And model behaviour drifts as providers update their checkpoints. These are real limits — and they're exactly what Section 05's future work prioritises.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Three were fully met — the platform, the AI grading pipeline with 100% parse rate on Claude, and the empirical evaluation. Two were substantially met with caveats: the grading UX was designed for time-saving but I haven't run a user study to quantify it, and the deployment was architecturally complete but I haven't load-tested it under realistic exam load. Future work in four directions — extend to other diagram types, build a real-student multi-grader benchmark to close the literature gap, validate with multiple human graders, and add air-gapped LLM serving for schools that can't permit outbound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115"/>
        </a:solidFill>
      </p:bgPr>
    </p:bg>
    <p:spTree>
      <p:nvGrpSpPr>
        <p:cNvPr id="1" name=""/>
        <p:cNvGrpSpPr/>
        <p:nvPr/>
      </p:nvGrpSpPr>
      <p:grpSpPr>
        <a:xfrm>
          <a:off x="0" y="0"/>
          <a:ext cx="0" cy="0"/>
          <a:chOff x="0" y="0"/>
          <a:chExt cx="0" cy="0"/>
        </a:xfrm>
      </p:grpSpPr>
      <p:sp>
        <p:nvSpPr>
          <p:cNvPr id="2" name="Shape 0"/>
          <p:cNvSpPr/>
          <p:nvPr/>
        </p:nvSpPr>
        <p:spPr>
          <a:xfrm rot="-480000">
            <a:off x="-914400" y="0"/>
            <a:ext cx="3657600" cy="6858000"/>
          </a:xfrm>
          <a:prstGeom prst="rect">
            <a:avLst/>
          </a:prstGeom>
          <a:solidFill>
            <a:srgbClr val="111419"/>
          </a:solidFill>
          <a:ln w="12700">
            <a:solidFill>
              <a:srgbClr val="111419"/>
            </a:solidFill>
            <a:prstDash val="solid"/>
          </a:ln>
        </p:spPr>
      </p:sp>
      <p:sp>
        <p:nvSpPr>
          <p:cNvPr id="3" name="Shape 1"/>
          <p:cNvSpPr/>
          <p:nvPr/>
        </p:nvSpPr>
        <p:spPr>
          <a:xfrm rot="720000">
            <a:off x="8991295" y="-914400"/>
            <a:ext cx="5486400" cy="6858000"/>
          </a:xfrm>
          <a:prstGeom prst="rect">
            <a:avLst/>
          </a:prstGeom>
          <a:solidFill>
            <a:srgbClr val="13171F"/>
          </a:solidFill>
          <a:ln w="12700">
            <a:solidFill>
              <a:srgbClr val="13171F"/>
            </a:solidFill>
            <a:prstDash val="solid"/>
          </a:ln>
        </p:spPr>
      </p:sp>
      <p:sp>
        <p:nvSpPr>
          <p:cNvPr id="4" name="Text 2"/>
          <p:cNvSpPr/>
          <p:nvPr/>
        </p:nvSpPr>
        <p:spPr>
          <a:xfrm>
            <a:off x="548640" y="411480"/>
            <a:ext cx="1371600" cy="411480"/>
          </a:xfrm>
          <a:prstGeom prst="rect">
            <a:avLst/>
          </a:prstGeom>
          <a:noFill/>
          <a:ln/>
        </p:spPr>
        <p:txBody>
          <a:bodyPr wrap="square" lIns="0" tIns="0" rIns="0" bIns="0" rtlCol="0" anchor="ctr"/>
          <a:lstStyle/>
          <a:p>
            <a:pPr algn="l" indent="0" marL="0">
              <a:buNone/>
            </a:pPr>
            <a:r>
              <a:rPr lang="en-US" sz="1400" b="1" spc="600" kern="0" dirty="0">
                <a:solidFill>
                  <a:srgbClr val="E8A33D"/>
                </a:solidFill>
                <a:latin typeface="Calibri" pitchFamily="34" charset="0"/>
                <a:ea typeface="Calibri" pitchFamily="34" charset="-122"/>
                <a:cs typeface="Calibri" pitchFamily="34" charset="-120"/>
              </a:rPr>
              <a:t>NTU</a:t>
            </a:r>
            <a:endParaRPr lang="en-US" sz="1400" dirty="0"/>
          </a:p>
        </p:txBody>
      </p:sp>
      <p:sp>
        <p:nvSpPr>
          <p:cNvPr id="5" name="Text 3"/>
          <p:cNvSpPr/>
          <p:nvPr/>
        </p:nvSpPr>
        <p:spPr>
          <a:xfrm>
            <a:off x="548640" y="822960"/>
            <a:ext cx="7315200" cy="274320"/>
          </a:xfrm>
          <a:prstGeom prst="rect">
            <a:avLst/>
          </a:prstGeom>
          <a:noFill/>
          <a:ln/>
        </p:spPr>
        <p:txBody>
          <a:bodyPr wrap="square" lIns="0" tIns="0" rIns="0" bIns="0" rtlCol="0" anchor="ctr"/>
          <a:lstStyle/>
          <a:p>
            <a:pPr algn="l" indent="0" marL="0">
              <a:buNone/>
            </a:pPr>
            <a:r>
              <a:rPr lang="en-US" sz="1200" dirty="0">
                <a:solidFill>
                  <a:srgbClr val="B0B5BD"/>
                </a:solidFill>
                <a:latin typeface="Calibri" pitchFamily="34" charset="0"/>
                <a:ea typeface="Calibri" pitchFamily="34" charset="-122"/>
                <a:cs typeface="Calibri" pitchFamily="34" charset="-120"/>
              </a:rPr>
              <a:t>College of Computing and Data Science</a:t>
            </a:r>
            <a:endParaRPr lang="en-US" sz="1200" dirty="0"/>
          </a:p>
        </p:txBody>
      </p:sp>
      <p:sp>
        <p:nvSpPr>
          <p:cNvPr id="6" name="Text 4"/>
          <p:cNvSpPr/>
          <p:nvPr/>
        </p:nvSpPr>
        <p:spPr>
          <a:xfrm>
            <a:off x="548640" y="1828800"/>
            <a:ext cx="11064240" cy="2194560"/>
          </a:xfrm>
          <a:prstGeom prst="rect">
            <a:avLst/>
          </a:prstGeom>
          <a:noFill/>
          <a:ln/>
        </p:spPr>
        <p:txBody>
          <a:bodyPr wrap="square" lIns="0" tIns="0" rIns="0" bIns="0" rtlCol="0" anchor="ctr"/>
          <a:lstStyle/>
          <a:p>
            <a:pPr algn="l" indent="0" marL="0">
              <a:buNone/>
            </a:pPr>
            <a:r>
              <a:rPr lang="en-US" sz="4000" b="1" dirty="0">
                <a:solidFill>
                  <a:srgbClr val="F4F4F5"/>
                </a:solidFill>
                <a:latin typeface="Calibri" pitchFamily="34" charset="0"/>
                <a:ea typeface="Calibri" pitchFamily="34" charset="-122"/>
                <a:cs typeface="Calibri" pitchFamily="34" charset="-120"/>
              </a:rPr>
              <a:t>Full-Stack Web Development of an</a:t>
            </a:r>
            <a:endParaRPr lang="en-US" sz="4000" dirty="0"/>
          </a:p>
          <a:p>
            <a:pPr algn="l" indent="0" marL="0">
              <a:buNone/>
            </a:pPr>
            <a:r>
              <a:rPr lang="en-US" sz="4000" b="1" dirty="0">
                <a:solidFill>
                  <a:srgbClr val="E8A33D"/>
                </a:solidFill>
                <a:latin typeface="Calibri" pitchFamily="34" charset="0"/>
                <a:ea typeface="Calibri" pitchFamily="34" charset="-122"/>
                <a:cs typeface="Calibri" pitchFamily="34" charset="-120"/>
              </a:rPr>
              <a:t>Automated Assessment Platform</a:t>
            </a:r>
            <a:endParaRPr lang="en-US" sz="4000" dirty="0"/>
          </a:p>
          <a:p>
            <a:pPr algn="l" indent="0" marL="0">
              <a:buNone/>
            </a:pPr>
            <a:r>
              <a:rPr lang="en-US" sz="4000" b="1" dirty="0">
                <a:solidFill>
                  <a:srgbClr val="F4F4F5"/>
                </a:solidFill>
                <a:latin typeface="Calibri" pitchFamily="34" charset="0"/>
                <a:ea typeface="Calibri" pitchFamily="34" charset="-122"/>
                <a:cs typeface="Calibri" pitchFamily="34" charset="-120"/>
              </a:rPr>
              <a:t>for UML Diagrams</a:t>
            </a:r>
            <a:endParaRPr lang="en-US" sz="4000" dirty="0"/>
          </a:p>
        </p:txBody>
      </p:sp>
      <p:sp>
        <p:nvSpPr>
          <p:cNvPr id="7" name="Text 5"/>
          <p:cNvSpPr/>
          <p:nvPr/>
        </p:nvSpPr>
        <p:spPr>
          <a:xfrm>
            <a:off x="548640" y="4206240"/>
            <a:ext cx="7315200" cy="1691640"/>
          </a:xfrm>
          <a:prstGeom prst="rect">
            <a:avLst/>
          </a:prstGeom>
          <a:noFill/>
          <a:ln/>
        </p:spPr>
        <p:txBody>
          <a:bodyPr wrap="square" lIns="0" tIns="0" rIns="0" bIns="0" rtlCol="0" anchor="t"/>
          <a:lstStyle/>
          <a:p>
            <a:pPr algn="l" indent="0" marL="0">
              <a:spcAft>
                <a:spcPts val="200"/>
              </a:spcAft>
              <a:buNone/>
            </a:pPr>
            <a:r>
              <a:rPr lang="en-US" sz="2200" b="1" dirty="0">
                <a:solidFill>
                  <a:srgbClr val="F4F4F5"/>
                </a:solidFill>
                <a:latin typeface="Calibri" pitchFamily="34" charset="0"/>
                <a:ea typeface="Calibri" pitchFamily="34" charset="-122"/>
                <a:cs typeface="Calibri" pitchFamily="34" charset="-120"/>
              </a:rPr>
              <a:t>Wang Yu Teng</a:t>
            </a:r>
            <a:endParaRPr lang="en-US" sz="2200" dirty="0"/>
          </a:p>
          <a:p>
            <a:pPr algn="l" indent="0" marL="0">
              <a:spcAft>
                <a:spcPts val="200"/>
              </a:spcAft>
              <a:buNone/>
            </a:pPr>
            <a:r>
              <a:rPr lang="en-US" sz="1500" dirty="0">
                <a:solidFill>
                  <a:srgbClr val="B0B5BD"/>
                </a:solidFill>
                <a:latin typeface="Calibri" pitchFamily="34" charset="0"/>
                <a:ea typeface="Calibri" pitchFamily="34" charset="-122"/>
                <a:cs typeface="Calibri" pitchFamily="34" charset="-120"/>
              </a:rPr>
              <a:t>U2122796L</a:t>
            </a:r>
            <a:endParaRPr lang="en-US" sz="2200" dirty="0"/>
          </a:p>
          <a:p>
            <a:pPr algn="l" indent="0" marL="0">
              <a:spcAft>
                <a:spcPts val="200"/>
              </a:spcAft>
              <a:buNone/>
            </a:pPr>
            <a:r>
              <a:rPr lang="en-US" sz="800" dirty="0">
                <a:solidFill>
                  <a:srgbClr val="F4F4F5"/>
                </a:solidFill>
                <a:latin typeface="Calibri" pitchFamily="34" charset="0"/>
                <a:ea typeface="Calibri" pitchFamily="34" charset="-122"/>
                <a:cs typeface="Calibri" pitchFamily="34" charset="-120"/>
              </a:rPr>
              <a:t> </a:t>
            </a:r>
            <a:endParaRPr lang="en-US" sz="2200" dirty="0"/>
          </a:p>
          <a:p>
            <a:pPr algn="l" indent="0" marL="0">
              <a:spcAft>
                <a:spcPts val="200"/>
              </a:spcAft>
              <a:buNone/>
            </a:pPr>
            <a:r>
              <a:rPr lang="en-US" sz="1400" dirty="0">
                <a:solidFill>
                  <a:srgbClr val="B0B5BD"/>
                </a:solidFill>
                <a:latin typeface="Calibri" pitchFamily="34" charset="0"/>
                <a:ea typeface="Calibri" pitchFamily="34" charset="-122"/>
                <a:cs typeface="Calibri" pitchFamily="34" charset="-120"/>
              </a:rPr>
              <a:t>Supervisor: </a:t>
            </a:r>
            <a:pPr algn="l" indent="0" marL="0">
              <a:spcAft>
                <a:spcPts val="200"/>
              </a:spcAft>
              <a:buNone/>
            </a:pPr>
            <a:r>
              <a:rPr lang="en-US" sz="1400" dirty="0">
                <a:solidFill>
                  <a:srgbClr val="F4F4F5"/>
                </a:solidFill>
                <a:latin typeface="Calibri" pitchFamily="34" charset="0"/>
                <a:ea typeface="Calibri" pitchFamily="34" charset="-122"/>
                <a:cs typeface="Calibri" pitchFamily="34" charset="-120"/>
              </a:rPr>
              <a:t>Dr. Loke Yuan Ren</a:t>
            </a:r>
            <a:endParaRPr lang="en-US" sz="2200" dirty="0"/>
          </a:p>
          <a:p>
            <a:pPr algn="l" indent="0" marL="0">
              <a:spcAft>
                <a:spcPts val="200"/>
              </a:spcAft>
              <a:buNone/>
            </a:pPr>
            <a:r>
              <a:rPr lang="en-US" sz="1400" dirty="0">
                <a:solidFill>
                  <a:srgbClr val="B0B5BD"/>
                </a:solidFill>
                <a:latin typeface="Calibri" pitchFamily="34" charset="0"/>
                <a:ea typeface="Calibri" pitchFamily="34" charset="-122"/>
                <a:cs typeface="Calibri" pitchFamily="34" charset="-120"/>
              </a:rPr>
              <a:t>Examiner: </a:t>
            </a:r>
            <a:pPr algn="l" indent="0" marL="0">
              <a:spcAft>
                <a:spcPts val="200"/>
              </a:spcAft>
              <a:buNone/>
            </a:pPr>
            <a:r>
              <a:rPr lang="en-US" sz="1400" dirty="0">
                <a:solidFill>
                  <a:srgbClr val="F4F4F5"/>
                </a:solidFill>
                <a:latin typeface="Calibri" pitchFamily="34" charset="0"/>
                <a:ea typeface="Calibri" pitchFamily="34" charset="-122"/>
                <a:cs typeface="Calibri" pitchFamily="34" charset="-120"/>
              </a:rPr>
              <a:t>Prof. Zhang Hanwang</a:t>
            </a:r>
            <a:endParaRPr lang="en-US" sz="2200" dirty="0"/>
          </a:p>
        </p:txBody>
      </p:sp>
      <p:sp>
        <p:nvSpPr>
          <p:cNvPr id="8" name="Shape 6"/>
          <p:cNvSpPr/>
          <p:nvPr/>
        </p:nvSpPr>
        <p:spPr>
          <a:xfrm>
            <a:off x="548640" y="6355080"/>
            <a:ext cx="11094415" cy="0"/>
          </a:xfrm>
          <a:prstGeom prst="line">
            <a:avLst/>
          </a:prstGeom>
          <a:noFill/>
          <a:ln w="9525">
            <a:solidFill>
              <a:srgbClr val="2D3138"/>
            </a:solidFill>
            <a:prstDash val="solid"/>
          </a:ln>
        </p:spPr>
      </p:sp>
      <p:sp>
        <p:nvSpPr>
          <p:cNvPr id="9" name="Text 7"/>
          <p:cNvSpPr/>
          <p:nvPr/>
        </p:nvSpPr>
        <p:spPr>
          <a:xfrm>
            <a:off x="548640" y="6446520"/>
            <a:ext cx="2743200" cy="274320"/>
          </a:xfrm>
          <a:prstGeom prst="rect">
            <a:avLst/>
          </a:prstGeom>
          <a:noFill/>
          <a:ln/>
        </p:spPr>
        <p:txBody>
          <a:bodyPr wrap="square" lIns="0" tIns="0" rIns="0" bIns="0" rtlCol="0" anchor="ctr"/>
          <a:lstStyle/>
          <a:p>
            <a:pPr algn="l" indent="0" marL="0">
              <a:buNone/>
            </a:pPr>
            <a:r>
              <a:rPr lang="en-US" sz="1150" dirty="0">
                <a:solidFill>
                  <a:srgbClr val="6B7280"/>
                </a:solidFill>
                <a:latin typeface="Calibri" pitchFamily="34" charset="0"/>
                <a:ea typeface="Calibri" pitchFamily="34" charset="-122"/>
                <a:cs typeface="Calibri" pitchFamily="34" charset="-120"/>
              </a:rPr>
              <a:t>CCDS25-0233</a:t>
            </a:r>
            <a:endParaRPr lang="en-US" sz="1150" dirty="0"/>
          </a:p>
        </p:txBody>
      </p:sp>
      <p:sp>
        <p:nvSpPr>
          <p:cNvPr id="10" name="Text 8"/>
          <p:cNvSpPr/>
          <p:nvPr/>
        </p:nvSpPr>
        <p:spPr>
          <a:xfrm>
            <a:off x="10820095" y="6446520"/>
            <a:ext cx="822960" cy="274320"/>
          </a:xfrm>
          <a:prstGeom prst="rect">
            <a:avLst/>
          </a:prstGeom>
          <a:noFill/>
          <a:ln/>
        </p:spPr>
        <p:txBody>
          <a:bodyPr wrap="square" lIns="0" tIns="0" rIns="0" bIns="0" rtlCol="0" anchor="ctr"/>
          <a:lstStyle/>
          <a:p>
            <a:pPr algn="r" indent="0" marL="0">
              <a:buNone/>
            </a:pPr>
            <a:r>
              <a:rPr lang="en-US" sz="1150" dirty="0">
                <a:solidFill>
                  <a:srgbClr val="6B7280"/>
                </a:solidFill>
                <a:latin typeface="Calibri" pitchFamily="34" charset="0"/>
                <a:ea typeface="Calibri" pitchFamily="34" charset="-122"/>
                <a:cs typeface="Calibri" pitchFamily="34" charset="-120"/>
              </a:rPr>
              <a:t>2026</a:t>
            </a:r>
            <a:endParaRPr lang="en-US" sz="1150" dirty="0"/>
          </a:p>
        </p:txBody>
      </p:sp>
      <p:sp>
        <p:nvSpPr>
          <p:cNvPr id="11" name="Text 9"/>
          <p:cNvSpPr/>
          <p:nvPr/>
        </p:nvSpPr>
        <p:spPr>
          <a:xfrm>
            <a:off x="11643055" y="6446520"/>
            <a:ext cx="365760" cy="274320"/>
          </a:xfrm>
          <a:prstGeom prst="rect">
            <a:avLst/>
          </a:prstGeom>
          <a:noFill/>
          <a:ln/>
        </p:spPr>
        <p:txBody>
          <a:bodyPr wrap="square" lIns="0" tIns="0" rIns="0" bIns="0" rtlCol="0" anchor="ctr"/>
          <a:lstStyle/>
          <a:p>
            <a:pPr algn="r" indent="0" marL="0">
              <a:buNone/>
            </a:pPr>
            <a:r>
              <a:rPr lang="en-US" sz="1150" dirty="0">
                <a:solidFill>
                  <a:srgbClr val="E8A33D"/>
                </a:solidFill>
                <a:latin typeface="Calibri" pitchFamily="34" charset="0"/>
                <a:ea typeface="Calibri" pitchFamily="34" charset="-122"/>
                <a:cs typeface="Calibri" pitchFamily="34" charset="-120"/>
              </a:rPr>
              <a:t>1</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Outline</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Shape 2"/>
          <p:cNvSpPr/>
          <p:nvPr/>
        </p:nvSpPr>
        <p:spPr>
          <a:xfrm>
            <a:off x="586588" y="1417320"/>
            <a:ext cx="3520440" cy="2331720"/>
          </a:xfrm>
          <a:prstGeom prst="roundRect">
            <a:avLst>
              <a:gd name="adj" fmla="val 6275"/>
            </a:avLst>
          </a:prstGeom>
          <a:solidFill>
            <a:srgbClr val="1A1D24"/>
          </a:solidFill>
          <a:ln w="9525">
            <a:solidFill>
              <a:srgbClr val="2D3138"/>
            </a:solidFill>
            <a:prstDash val="solid"/>
          </a:ln>
        </p:spPr>
      </p:sp>
      <p:sp>
        <p:nvSpPr>
          <p:cNvPr id="5" name="Shape 3"/>
          <p:cNvSpPr/>
          <p:nvPr/>
        </p:nvSpPr>
        <p:spPr>
          <a:xfrm>
            <a:off x="1912468" y="1828800"/>
            <a:ext cx="868680" cy="868680"/>
          </a:xfrm>
          <a:prstGeom prst="ellipse">
            <a:avLst/>
          </a:prstGeom>
          <a:solidFill>
            <a:srgbClr val="E8A33D"/>
          </a:solidFill>
          <a:ln w="19050">
            <a:solidFill>
              <a:srgbClr val="F5C161"/>
            </a:solidFill>
            <a:prstDash val="solid"/>
          </a:ln>
        </p:spPr>
      </p:sp>
      <p:sp>
        <p:nvSpPr>
          <p:cNvPr id="6" name="Text 4"/>
          <p:cNvSpPr/>
          <p:nvPr/>
        </p:nvSpPr>
        <p:spPr>
          <a:xfrm>
            <a:off x="1912468" y="1828800"/>
            <a:ext cx="868680" cy="868680"/>
          </a:xfrm>
          <a:prstGeom prst="rect">
            <a:avLst/>
          </a:prstGeom>
          <a:noFill/>
          <a:ln/>
        </p:spPr>
        <p:txBody>
          <a:bodyPr wrap="square" lIns="0" tIns="0" rIns="0" bIns="0" rtlCol="0" anchor="ctr"/>
          <a:lstStyle/>
          <a:p>
            <a:pPr algn="ctr" indent="0" marL="0">
              <a:buNone/>
            </a:pPr>
            <a:r>
              <a:rPr lang="en-US" sz="2200" b="1" dirty="0">
                <a:solidFill>
                  <a:srgbClr val="0F1115"/>
                </a:solidFill>
                <a:latin typeface="Calibri" pitchFamily="34" charset="0"/>
                <a:ea typeface="Calibri" pitchFamily="34" charset="-122"/>
                <a:cs typeface="Calibri" pitchFamily="34" charset="-120"/>
              </a:rPr>
              <a:t>01</a:t>
            </a:r>
            <a:endParaRPr lang="en-US" sz="2200" dirty="0"/>
          </a:p>
        </p:txBody>
      </p:sp>
      <p:sp>
        <p:nvSpPr>
          <p:cNvPr id="7" name="Text 5"/>
          <p:cNvSpPr/>
          <p:nvPr/>
        </p:nvSpPr>
        <p:spPr>
          <a:xfrm>
            <a:off x="586588" y="2834640"/>
            <a:ext cx="3520440" cy="411480"/>
          </a:xfrm>
          <a:prstGeom prst="rect">
            <a:avLst/>
          </a:prstGeom>
          <a:noFill/>
          <a:ln/>
        </p:spPr>
        <p:txBody>
          <a:bodyPr wrap="square" lIns="0" tIns="0" rIns="0" bIns="0" rtlCol="0" anchor="ctr"/>
          <a:lstStyle/>
          <a:p>
            <a:pPr algn="ctr" indent="0" marL="0">
              <a:buNone/>
            </a:pPr>
            <a:r>
              <a:rPr lang="en-US" sz="1800" b="1" dirty="0">
                <a:solidFill>
                  <a:srgbClr val="F5C161"/>
                </a:solidFill>
                <a:latin typeface="Calibri" pitchFamily="34" charset="0"/>
                <a:ea typeface="Calibri" pitchFamily="34" charset="-122"/>
                <a:cs typeface="Calibri" pitchFamily="34" charset="-120"/>
              </a:rPr>
              <a:t>Background</a:t>
            </a:r>
            <a:endParaRPr lang="en-US" sz="1800" dirty="0"/>
          </a:p>
        </p:txBody>
      </p:sp>
      <p:sp>
        <p:nvSpPr>
          <p:cNvPr id="8" name="Text 6"/>
          <p:cNvSpPr/>
          <p:nvPr/>
        </p:nvSpPr>
        <p:spPr>
          <a:xfrm>
            <a:off x="815188" y="3246120"/>
            <a:ext cx="3063240" cy="411480"/>
          </a:xfrm>
          <a:prstGeom prst="rect">
            <a:avLst/>
          </a:prstGeom>
          <a:noFill/>
          <a:ln/>
        </p:spPr>
        <p:txBody>
          <a:bodyPr wrap="square" lIns="0" tIns="0" rIns="0" bIns="0" rtlCol="0" anchor="t"/>
          <a:lstStyle/>
          <a:p>
            <a:pPr algn="ctr" indent="0" marL="0">
              <a:buNone/>
            </a:pPr>
            <a:r>
              <a:rPr lang="en-US" sz="1250" dirty="0">
                <a:solidFill>
                  <a:srgbClr val="B0B5BD"/>
                </a:solidFill>
                <a:latin typeface="Calibri" pitchFamily="34" charset="0"/>
                <a:ea typeface="Calibri" pitchFamily="34" charset="-122"/>
                <a:cs typeface="Calibri" pitchFamily="34" charset="-120"/>
              </a:rPr>
              <a:t>Problem · Prior work · Objectives · Contributions</a:t>
            </a:r>
            <a:endParaRPr lang="en-US" sz="1250" dirty="0"/>
          </a:p>
        </p:txBody>
      </p:sp>
      <p:sp>
        <p:nvSpPr>
          <p:cNvPr id="9" name="Shape 7"/>
          <p:cNvSpPr/>
          <p:nvPr/>
        </p:nvSpPr>
        <p:spPr>
          <a:xfrm>
            <a:off x="4335628" y="1417320"/>
            <a:ext cx="3520440" cy="2331720"/>
          </a:xfrm>
          <a:prstGeom prst="roundRect">
            <a:avLst>
              <a:gd name="adj" fmla="val 6275"/>
            </a:avLst>
          </a:prstGeom>
          <a:solidFill>
            <a:srgbClr val="1A1D24"/>
          </a:solidFill>
          <a:ln w="9525">
            <a:solidFill>
              <a:srgbClr val="2D3138"/>
            </a:solidFill>
            <a:prstDash val="solid"/>
          </a:ln>
        </p:spPr>
      </p:sp>
      <p:sp>
        <p:nvSpPr>
          <p:cNvPr id="10" name="Shape 8"/>
          <p:cNvSpPr/>
          <p:nvPr/>
        </p:nvSpPr>
        <p:spPr>
          <a:xfrm>
            <a:off x="5661508" y="1828800"/>
            <a:ext cx="868680" cy="868680"/>
          </a:xfrm>
          <a:prstGeom prst="ellipse">
            <a:avLst/>
          </a:prstGeom>
          <a:solidFill>
            <a:srgbClr val="E8A33D"/>
          </a:solidFill>
          <a:ln w="19050">
            <a:solidFill>
              <a:srgbClr val="F5C161"/>
            </a:solidFill>
            <a:prstDash val="solid"/>
          </a:ln>
        </p:spPr>
      </p:sp>
      <p:sp>
        <p:nvSpPr>
          <p:cNvPr id="11" name="Text 9"/>
          <p:cNvSpPr/>
          <p:nvPr/>
        </p:nvSpPr>
        <p:spPr>
          <a:xfrm>
            <a:off x="5661508" y="1828800"/>
            <a:ext cx="868680" cy="868680"/>
          </a:xfrm>
          <a:prstGeom prst="rect">
            <a:avLst/>
          </a:prstGeom>
          <a:noFill/>
          <a:ln/>
        </p:spPr>
        <p:txBody>
          <a:bodyPr wrap="square" lIns="0" tIns="0" rIns="0" bIns="0" rtlCol="0" anchor="ctr"/>
          <a:lstStyle/>
          <a:p>
            <a:pPr algn="ctr" indent="0" marL="0">
              <a:buNone/>
            </a:pPr>
            <a:r>
              <a:rPr lang="en-US" sz="2200" b="1" dirty="0">
                <a:solidFill>
                  <a:srgbClr val="0F1115"/>
                </a:solidFill>
                <a:latin typeface="Calibri" pitchFamily="34" charset="0"/>
                <a:ea typeface="Calibri" pitchFamily="34" charset="-122"/>
                <a:cs typeface="Calibri" pitchFamily="34" charset="-120"/>
              </a:rPr>
              <a:t>02</a:t>
            </a:r>
            <a:endParaRPr lang="en-US" sz="2200" dirty="0"/>
          </a:p>
        </p:txBody>
      </p:sp>
      <p:sp>
        <p:nvSpPr>
          <p:cNvPr id="12" name="Text 10"/>
          <p:cNvSpPr/>
          <p:nvPr/>
        </p:nvSpPr>
        <p:spPr>
          <a:xfrm>
            <a:off x="4335628" y="2834640"/>
            <a:ext cx="3520440" cy="411480"/>
          </a:xfrm>
          <a:prstGeom prst="rect">
            <a:avLst/>
          </a:prstGeom>
          <a:noFill/>
          <a:ln/>
        </p:spPr>
        <p:txBody>
          <a:bodyPr wrap="square" lIns="0" tIns="0" rIns="0" bIns="0" rtlCol="0" anchor="ctr"/>
          <a:lstStyle/>
          <a:p>
            <a:pPr algn="ctr" indent="0" marL="0">
              <a:buNone/>
            </a:pPr>
            <a:r>
              <a:rPr lang="en-US" sz="1800" b="1" dirty="0">
                <a:solidFill>
                  <a:srgbClr val="F5C161"/>
                </a:solidFill>
                <a:latin typeface="Calibri" pitchFamily="34" charset="0"/>
                <a:ea typeface="Calibri" pitchFamily="34" charset="-122"/>
                <a:cs typeface="Calibri" pitchFamily="34" charset="-120"/>
              </a:rPr>
              <a:t>Demo</a:t>
            </a:r>
            <a:endParaRPr lang="en-US" sz="1800" dirty="0"/>
          </a:p>
        </p:txBody>
      </p:sp>
      <p:sp>
        <p:nvSpPr>
          <p:cNvPr id="13" name="Text 11"/>
          <p:cNvSpPr/>
          <p:nvPr/>
        </p:nvSpPr>
        <p:spPr>
          <a:xfrm>
            <a:off x="4564228" y="3246120"/>
            <a:ext cx="3063240" cy="411480"/>
          </a:xfrm>
          <a:prstGeom prst="rect">
            <a:avLst/>
          </a:prstGeom>
          <a:noFill/>
          <a:ln/>
        </p:spPr>
        <p:txBody>
          <a:bodyPr wrap="square" lIns="0" tIns="0" rIns="0" bIns="0" rtlCol="0" anchor="t"/>
          <a:lstStyle/>
          <a:p>
            <a:pPr algn="ctr" indent="0" marL="0">
              <a:buNone/>
            </a:pPr>
            <a:r>
              <a:rPr lang="en-US" sz="1250" dirty="0">
                <a:solidFill>
                  <a:srgbClr val="B0B5BD"/>
                </a:solidFill>
                <a:latin typeface="Calibri" pitchFamily="34" charset="0"/>
                <a:ea typeface="Calibri" pitchFamily="34" charset="-122"/>
                <a:cs typeface="Calibri" pitchFamily="34" charset="-120"/>
              </a:rPr>
              <a:t>Pre-recorded walkthrough of the platform</a:t>
            </a:r>
            <a:endParaRPr lang="en-US" sz="1250" dirty="0"/>
          </a:p>
        </p:txBody>
      </p:sp>
      <p:sp>
        <p:nvSpPr>
          <p:cNvPr id="14" name="Shape 12"/>
          <p:cNvSpPr/>
          <p:nvPr/>
        </p:nvSpPr>
        <p:spPr>
          <a:xfrm>
            <a:off x="8084668" y="1417320"/>
            <a:ext cx="3520440" cy="2331720"/>
          </a:xfrm>
          <a:prstGeom prst="roundRect">
            <a:avLst>
              <a:gd name="adj" fmla="val 6275"/>
            </a:avLst>
          </a:prstGeom>
          <a:solidFill>
            <a:srgbClr val="1A1D24"/>
          </a:solidFill>
          <a:ln w="9525">
            <a:solidFill>
              <a:srgbClr val="2D3138"/>
            </a:solidFill>
            <a:prstDash val="solid"/>
          </a:ln>
        </p:spPr>
      </p:sp>
      <p:sp>
        <p:nvSpPr>
          <p:cNvPr id="15" name="Shape 13"/>
          <p:cNvSpPr/>
          <p:nvPr/>
        </p:nvSpPr>
        <p:spPr>
          <a:xfrm>
            <a:off x="9410548" y="1828800"/>
            <a:ext cx="868680" cy="868680"/>
          </a:xfrm>
          <a:prstGeom prst="ellipse">
            <a:avLst/>
          </a:prstGeom>
          <a:solidFill>
            <a:srgbClr val="E8A33D"/>
          </a:solidFill>
          <a:ln w="19050">
            <a:solidFill>
              <a:srgbClr val="F5C161"/>
            </a:solidFill>
            <a:prstDash val="solid"/>
          </a:ln>
        </p:spPr>
      </p:sp>
      <p:sp>
        <p:nvSpPr>
          <p:cNvPr id="16" name="Text 14"/>
          <p:cNvSpPr/>
          <p:nvPr/>
        </p:nvSpPr>
        <p:spPr>
          <a:xfrm>
            <a:off x="9410548" y="1828800"/>
            <a:ext cx="868680" cy="868680"/>
          </a:xfrm>
          <a:prstGeom prst="rect">
            <a:avLst/>
          </a:prstGeom>
          <a:noFill/>
          <a:ln/>
        </p:spPr>
        <p:txBody>
          <a:bodyPr wrap="square" lIns="0" tIns="0" rIns="0" bIns="0" rtlCol="0" anchor="ctr"/>
          <a:lstStyle/>
          <a:p>
            <a:pPr algn="ctr" indent="0" marL="0">
              <a:buNone/>
            </a:pPr>
            <a:r>
              <a:rPr lang="en-US" sz="2200" b="1" dirty="0">
                <a:solidFill>
                  <a:srgbClr val="0F1115"/>
                </a:solidFill>
                <a:latin typeface="Calibri" pitchFamily="34" charset="0"/>
                <a:ea typeface="Calibri" pitchFamily="34" charset="-122"/>
                <a:cs typeface="Calibri" pitchFamily="34" charset="-120"/>
              </a:rPr>
              <a:t>03</a:t>
            </a:r>
            <a:endParaRPr lang="en-US" sz="2200" dirty="0"/>
          </a:p>
        </p:txBody>
      </p:sp>
      <p:sp>
        <p:nvSpPr>
          <p:cNvPr id="17" name="Text 15"/>
          <p:cNvSpPr/>
          <p:nvPr/>
        </p:nvSpPr>
        <p:spPr>
          <a:xfrm>
            <a:off x="8084668" y="2834640"/>
            <a:ext cx="3520440" cy="411480"/>
          </a:xfrm>
          <a:prstGeom prst="rect">
            <a:avLst/>
          </a:prstGeom>
          <a:noFill/>
          <a:ln/>
        </p:spPr>
        <p:txBody>
          <a:bodyPr wrap="square" lIns="0" tIns="0" rIns="0" bIns="0" rtlCol="0" anchor="ctr"/>
          <a:lstStyle/>
          <a:p>
            <a:pPr algn="ctr" indent="0" marL="0">
              <a:buNone/>
            </a:pPr>
            <a:r>
              <a:rPr lang="en-US" sz="1800" b="1" dirty="0">
                <a:solidFill>
                  <a:srgbClr val="F5C161"/>
                </a:solidFill>
                <a:latin typeface="Calibri" pitchFamily="34" charset="0"/>
                <a:ea typeface="Calibri" pitchFamily="34" charset="-122"/>
                <a:cs typeface="Calibri" pitchFamily="34" charset="-120"/>
              </a:rPr>
              <a:t>Implementation</a:t>
            </a:r>
            <a:endParaRPr lang="en-US" sz="1800" dirty="0"/>
          </a:p>
        </p:txBody>
      </p:sp>
      <p:sp>
        <p:nvSpPr>
          <p:cNvPr id="18" name="Text 16"/>
          <p:cNvSpPr/>
          <p:nvPr/>
        </p:nvSpPr>
        <p:spPr>
          <a:xfrm>
            <a:off x="8313268" y="3246120"/>
            <a:ext cx="3063240" cy="411480"/>
          </a:xfrm>
          <a:prstGeom prst="rect">
            <a:avLst/>
          </a:prstGeom>
          <a:noFill/>
          <a:ln/>
        </p:spPr>
        <p:txBody>
          <a:bodyPr wrap="square" lIns="0" tIns="0" rIns="0" bIns="0" rtlCol="0" anchor="t"/>
          <a:lstStyle/>
          <a:p>
            <a:pPr algn="ctr" indent="0" marL="0">
              <a:buNone/>
            </a:pPr>
            <a:r>
              <a:rPr lang="en-US" sz="1250" dirty="0">
                <a:solidFill>
                  <a:srgbClr val="B0B5BD"/>
                </a:solidFill>
                <a:latin typeface="Calibri" pitchFamily="34" charset="0"/>
                <a:ea typeface="Calibri" pitchFamily="34" charset="-122"/>
                <a:cs typeface="Calibri" pitchFamily="34" charset="-120"/>
              </a:rPr>
              <a:t>Architecture · Lifecycle · AI pipeline · Deployment</a:t>
            </a:r>
            <a:endParaRPr lang="en-US" sz="1250" dirty="0"/>
          </a:p>
        </p:txBody>
      </p:sp>
      <p:sp>
        <p:nvSpPr>
          <p:cNvPr id="19" name="Shape 17"/>
          <p:cNvSpPr/>
          <p:nvPr/>
        </p:nvSpPr>
        <p:spPr>
          <a:xfrm>
            <a:off x="2461108" y="4023360"/>
            <a:ext cx="3520440" cy="2331720"/>
          </a:xfrm>
          <a:prstGeom prst="roundRect">
            <a:avLst>
              <a:gd name="adj" fmla="val 6275"/>
            </a:avLst>
          </a:prstGeom>
          <a:solidFill>
            <a:srgbClr val="1A1D24"/>
          </a:solidFill>
          <a:ln w="9525">
            <a:solidFill>
              <a:srgbClr val="2D3138"/>
            </a:solidFill>
            <a:prstDash val="solid"/>
          </a:ln>
        </p:spPr>
      </p:sp>
      <p:sp>
        <p:nvSpPr>
          <p:cNvPr id="20" name="Shape 18"/>
          <p:cNvSpPr/>
          <p:nvPr/>
        </p:nvSpPr>
        <p:spPr>
          <a:xfrm>
            <a:off x="3786988" y="4434840"/>
            <a:ext cx="868680" cy="868680"/>
          </a:xfrm>
          <a:prstGeom prst="ellipse">
            <a:avLst/>
          </a:prstGeom>
          <a:solidFill>
            <a:srgbClr val="E8A33D"/>
          </a:solidFill>
          <a:ln w="19050">
            <a:solidFill>
              <a:srgbClr val="F5C161"/>
            </a:solidFill>
            <a:prstDash val="solid"/>
          </a:ln>
        </p:spPr>
      </p:sp>
      <p:sp>
        <p:nvSpPr>
          <p:cNvPr id="21" name="Text 19"/>
          <p:cNvSpPr/>
          <p:nvPr/>
        </p:nvSpPr>
        <p:spPr>
          <a:xfrm>
            <a:off x="3786988" y="4434840"/>
            <a:ext cx="868680" cy="868680"/>
          </a:xfrm>
          <a:prstGeom prst="rect">
            <a:avLst/>
          </a:prstGeom>
          <a:noFill/>
          <a:ln/>
        </p:spPr>
        <p:txBody>
          <a:bodyPr wrap="square" lIns="0" tIns="0" rIns="0" bIns="0" rtlCol="0" anchor="ctr"/>
          <a:lstStyle/>
          <a:p>
            <a:pPr algn="ctr" indent="0" marL="0">
              <a:buNone/>
            </a:pPr>
            <a:r>
              <a:rPr lang="en-US" sz="2200" b="1" dirty="0">
                <a:solidFill>
                  <a:srgbClr val="0F1115"/>
                </a:solidFill>
                <a:latin typeface="Calibri" pitchFamily="34" charset="0"/>
                <a:ea typeface="Calibri" pitchFamily="34" charset="-122"/>
                <a:cs typeface="Calibri" pitchFamily="34" charset="-120"/>
              </a:rPr>
              <a:t>04</a:t>
            </a:r>
            <a:endParaRPr lang="en-US" sz="2200" dirty="0"/>
          </a:p>
        </p:txBody>
      </p:sp>
      <p:sp>
        <p:nvSpPr>
          <p:cNvPr id="22" name="Text 20"/>
          <p:cNvSpPr/>
          <p:nvPr/>
        </p:nvSpPr>
        <p:spPr>
          <a:xfrm>
            <a:off x="2461108" y="5440680"/>
            <a:ext cx="3520440" cy="411480"/>
          </a:xfrm>
          <a:prstGeom prst="rect">
            <a:avLst/>
          </a:prstGeom>
          <a:noFill/>
          <a:ln/>
        </p:spPr>
        <p:txBody>
          <a:bodyPr wrap="square" lIns="0" tIns="0" rIns="0" bIns="0" rtlCol="0" anchor="ctr"/>
          <a:lstStyle/>
          <a:p>
            <a:pPr algn="ctr" indent="0" marL="0">
              <a:buNone/>
            </a:pPr>
            <a:r>
              <a:rPr lang="en-US" sz="1800" b="1" dirty="0">
                <a:solidFill>
                  <a:srgbClr val="F5C161"/>
                </a:solidFill>
                <a:latin typeface="Calibri" pitchFamily="34" charset="0"/>
                <a:ea typeface="Calibri" pitchFamily="34" charset="-122"/>
                <a:cs typeface="Calibri" pitchFamily="34" charset="-120"/>
              </a:rPr>
              <a:t>Experiment</a:t>
            </a:r>
            <a:endParaRPr lang="en-US" sz="1800" dirty="0"/>
          </a:p>
        </p:txBody>
      </p:sp>
      <p:sp>
        <p:nvSpPr>
          <p:cNvPr id="23" name="Text 21"/>
          <p:cNvSpPr/>
          <p:nvPr/>
        </p:nvSpPr>
        <p:spPr>
          <a:xfrm>
            <a:off x="2689708" y="5852160"/>
            <a:ext cx="3063240" cy="411480"/>
          </a:xfrm>
          <a:prstGeom prst="rect">
            <a:avLst/>
          </a:prstGeom>
          <a:noFill/>
          <a:ln/>
        </p:spPr>
        <p:txBody>
          <a:bodyPr wrap="square" lIns="0" tIns="0" rIns="0" bIns="0" rtlCol="0" anchor="t"/>
          <a:lstStyle/>
          <a:p>
            <a:pPr algn="ctr" indent="0" marL="0">
              <a:buNone/>
            </a:pPr>
            <a:r>
              <a:rPr lang="en-US" sz="1250" dirty="0">
                <a:solidFill>
                  <a:srgbClr val="B0B5BD"/>
                </a:solidFill>
                <a:latin typeface="Calibri" pitchFamily="34" charset="0"/>
                <a:ea typeface="Calibri" pitchFamily="34" charset="-122"/>
                <a:cs typeface="Calibri" pitchFamily="34" charset="-120"/>
              </a:rPr>
              <a:t>RQs · Setup · Metrics · Results · Threats</a:t>
            </a:r>
            <a:endParaRPr lang="en-US" sz="1250" dirty="0"/>
          </a:p>
        </p:txBody>
      </p:sp>
      <p:sp>
        <p:nvSpPr>
          <p:cNvPr id="24" name="Shape 22"/>
          <p:cNvSpPr/>
          <p:nvPr/>
        </p:nvSpPr>
        <p:spPr>
          <a:xfrm>
            <a:off x="6210148" y="4023360"/>
            <a:ext cx="3520440" cy="2331720"/>
          </a:xfrm>
          <a:prstGeom prst="roundRect">
            <a:avLst>
              <a:gd name="adj" fmla="val 6275"/>
            </a:avLst>
          </a:prstGeom>
          <a:solidFill>
            <a:srgbClr val="1A1D24"/>
          </a:solidFill>
          <a:ln w="9525">
            <a:solidFill>
              <a:srgbClr val="2D3138"/>
            </a:solidFill>
            <a:prstDash val="solid"/>
          </a:ln>
        </p:spPr>
      </p:sp>
      <p:sp>
        <p:nvSpPr>
          <p:cNvPr id="25" name="Shape 23"/>
          <p:cNvSpPr/>
          <p:nvPr/>
        </p:nvSpPr>
        <p:spPr>
          <a:xfrm>
            <a:off x="7536028" y="4434840"/>
            <a:ext cx="868680" cy="868680"/>
          </a:xfrm>
          <a:prstGeom prst="ellipse">
            <a:avLst/>
          </a:prstGeom>
          <a:solidFill>
            <a:srgbClr val="E8A33D"/>
          </a:solidFill>
          <a:ln w="19050">
            <a:solidFill>
              <a:srgbClr val="F5C161"/>
            </a:solidFill>
            <a:prstDash val="solid"/>
          </a:ln>
        </p:spPr>
      </p:sp>
      <p:sp>
        <p:nvSpPr>
          <p:cNvPr id="26" name="Text 24"/>
          <p:cNvSpPr/>
          <p:nvPr/>
        </p:nvSpPr>
        <p:spPr>
          <a:xfrm>
            <a:off x="7536028" y="4434840"/>
            <a:ext cx="868680" cy="868680"/>
          </a:xfrm>
          <a:prstGeom prst="rect">
            <a:avLst/>
          </a:prstGeom>
          <a:noFill/>
          <a:ln/>
        </p:spPr>
        <p:txBody>
          <a:bodyPr wrap="square" lIns="0" tIns="0" rIns="0" bIns="0" rtlCol="0" anchor="ctr"/>
          <a:lstStyle/>
          <a:p>
            <a:pPr algn="ctr" indent="0" marL="0">
              <a:buNone/>
            </a:pPr>
            <a:r>
              <a:rPr lang="en-US" sz="2200" b="1" dirty="0">
                <a:solidFill>
                  <a:srgbClr val="0F1115"/>
                </a:solidFill>
                <a:latin typeface="Calibri" pitchFamily="34" charset="0"/>
                <a:ea typeface="Calibri" pitchFamily="34" charset="-122"/>
                <a:cs typeface="Calibri" pitchFamily="34" charset="-120"/>
              </a:rPr>
              <a:t>05</a:t>
            </a:r>
            <a:endParaRPr lang="en-US" sz="2200" dirty="0"/>
          </a:p>
        </p:txBody>
      </p:sp>
      <p:sp>
        <p:nvSpPr>
          <p:cNvPr id="27" name="Text 25"/>
          <p:cNvSpPr/>
          <p:nvPr/>
        </p:nvSpPr>
        <p:spPr>
          <a:xfrm>
            <a:off x="6210148" y="5440680"/>
            <a:ext cx="3520440" cy="411480"/>
          </a:xfrm>
          <a:prstGeom prst="rect">
            <a:avLst/>
          </a:prstGeom>
          <a:noFill/>
          <a:ln/>
        </p:spPr>
        <p:txBody>
          <a:bodyPr wrap="square" lIns="0" tIns="0" rIns="0" bIns="0" rtlCol="0" anchor="ctr"/>
          <a:lstStyle/>
          <a:p>
            <a:pPr algn="ctr" indent="0" marL="0">
              <a:buNone/>
            </a:pPr>
            <a:r>
              <a:rPr lang="en-US" sz="1800" b="1" dirty="0">
                <a:solidFill>
                  <a:srgbClr val="F5C161"/>
                </a:solidFill>
                <a:latin typeface="Calibri" pitchFamily="34" charset="0"/>
                <a:ea typeface="Calibri" pitchFamily="34" charset="-122"/>
                <a:cs typeface="Calibri" pitchFamily="34" charset="-120"/>
              </a:rPr>
              <a:t>Conclusion</a:t>
            </a:r>
            <a:endParaRPr lang="en-US" sz="1800" dirty="0"/>
          </a:p>
        </p:txBody>
      </p:sp>
      <p:sp>
        <p:nvSpPr>
          <p:cNvPr id="28" name="Text 26"/>
          <p:cNvSpPr/>
          <p:nvPr/>
        </p:nvSpPr>
        <p:spPr>
          <a:xfrm>
            <a:off x="6438748" y="5852160"/>
            <a:ext cx="3063240" cy="411480"/>
          </a:xfrm>
          <a:prstGeom prst="rect">
            <a:avLst/>
          </a:prstGeom>
          <a:noFill/>
          <a:ln/>
        </p:spPr>
        <p:txBody>
          <a:bodyPr wrap="square" lIns="0" tIns="0" rIns="0" bIns="0" rtlCol="0" anchor="t"/>
          <a:lstStyle/>
          <a:p>
            <a:pPr algn="ctr" indent="0" marL="0">
              <a:buNone/>
            </a:pPr>
            <a:r>
              <a:rPr lang="en-US" sz="1250" dirty="0">
                <a:solidFill>
                  <a:srgbClr val="B0B5BD"/>
                </a:solidFill>
                <a:latin typeface="Calibri" pitchFamily="34" charset="0"/>
                <a:ea typeface="Calibri" pitchFamily="34" charset="-122"/>
                <a:cs typeface="Calibri" pitchFamily="34" charset="-120"/>
              </a:rPr>
              <a:t>Summary &amp; future work</a:t>
            </a:r>
            <a:endParaRPr lang="en-US" sz="1250" dirty="0"/>
          </a:p>
        </p:txBody>
      </p:sp>
      <p:sp>
        <p:nvSpPr>
          <p:cNvPr id="29" name="Shape 27"/>
          <p:cNvSpPr/>
          <p:nvPr/>
        </p:nvSpPr>
        <p:spPr>
          <a:xfrm>
            <a:off x="457200" y="6519672"/>
            <a:ext cx="11277295" cy="0"/>
          </a:xfrm>
          <a:prstGeom prst="line">
            <a:avLst/>
          </a:prstGeom>
          <a:noFill/>
          <a:ln w="9525">
            <a:solidFill>
              <a:srgbClr val="2D3138"/>
            </a:solidFill>
            <a:prstDash val="solid"/>
          </a:ln>
        </p:spPr>
      </p:sp>
      <p:sp>
        <p:nvSpPr>
          <p:cNvPr id="30" name="Text 28"/>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31" name="Text 29"/>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2 / 33</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11"/>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w="12700">
            <a:solidFill>
              <a:srgbClr val="E8A33D"/>
            </a:solidFill>
            <a:prstDash val="solid"/>
          </a:ln>
        </p:spPr>
      </p:sp>
      <p:sp>
        <p:nvSpPr>
          <p:cNvPr id="3" name="Text 1"/>
          <p:cNvSpPr/>
          <p:nvPr/>
        </p:nvSpPr>
        <p:spPr>
          <a:xfrm>
            <a:off x="731520" y="1371600"/>
            <a:ext cx="5486400" cy="3200400"/>
          </a:xfrm>
          <a:prstGeom prst="rect">
            <a:avLst/>
          </a:prstGeom>
          <a:noFill/>
          <a:ln/>
        </p:spPr>
        <p:txBody>
          <a:bodyPr wrap="square" lIns="0" tIns="0" rIns="0" bIns="0" rtlCol="0" anchor="ctr"/>
          <a:lstStyle/>
          <a:p>
            <a:pPr algn="l" indent="0" marL="0">
              <a:buNone/>
            </a:pPr>
            <a:r>
              <a:rPr lang="en-US" sz="22000" b="1" spc="-800" kern="0" dirty="0">
                <a:solidFill>
                  <a:srgbClr val="E8A33D"/>
                </a:solidFill>
                <a:latin typeface="Calibri" pitchFamily="34" charset="0"/>
                <a:ea typeface="Calibri" pitchFamily="34" charset="-122"/>
                <a:cs typeface="Calibri" pitchFamily="34" charset="-120"/>
              </a:rPr>
              <a:t>01</a:t>
            </a:r>
            <a:endParaRPr lang="en-US" sz="22000" dirty="0"/>
          </a:p>
        </p:txBody>
      </p:sp>
      <p:sp>
        <p:nvSpPr>
          <p:cNvPr id="4" name="Text 2"/>
          <p:cNvSpPr/>
          <p:nvPr/>
        </p:nvSpPr>
        <p:spPr>
          <a:xfrm>
            <a:off x="777240" y="4297680"/>
            <a:ext cx="2743200" cy="365760"/>
          </a:xfrm>
          <a:prstGeom prst="rect">
            <a:avLst/>
          </a:prstGeom>
          <a:noFill/>
          <a:ln/>
        </p:spPr>
        <p:txBody>
          <a:bodyPr wrap="square" lIns="0" tIns="0" rIns="0" bIns="0" rtlCol="0" anchor="ctr"/>
          <a:lstStyle/>
          <a:p>
            <a:pPr algn="l" indent="0" marL="0">
              <a:buNone/>
            </a:pPr>
            <a:r>
              <a:rPr lang="en-US" sz="1400" b="1" spc="800" kern="0" dirty="0">
                <a:solidFill>
                  <a:srgbClr val="6B7280"/>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777240" y="4617720"/>
            <a:ext cx="10972800" cy="822960"/>
          </a:xfrm>
          <a:prstGeom prst="rect">
            <a:avLst/>
          </a:prstGeom>
          <a:noFill/>
          <a:ln/>
        </p:spPr>
        <p:txBody>
          <a:bodyPr wrap="square" lIns="0" tIns="0" rIns="0" bIns="0" rtlCol="0" anchor="ctr"/>
          <a:lstStyle/>
          <a:p>
            <a:pPr algn="l" indent="0" marL="0">
              <a:buNone/>
            </a:pPr>
            <a:r>
              <a:rPr lang="en-US" sz="4400" b="1" dirty="0">
                <a:solidFill>
                  <a:srgbClr val="F4F4F5"/>
                </a:solidFill>
                <a:latin typeface="Calibri" pitchFamily="34" charset="0"/>
                <a:ea typeface="Calibri" pitchFamily="34" charset="-122"/>
                <a:cs typeface="Calibri" pitchFamily="34" charset="-120"/>
              </a:rPr>
              <a:t>Background</a:t>
            </a:r>
            <a:endParaRPr lang="en-US" sz="4400" dirty="0"/>
          </a:p>
        </p:txBody>
      </p:sp>
      <p:pic>
        <p:nvPicPr>
          <p:cNvPr id="6" name="Image 0" descr="preencoded.png">    </p:cNvPr>
          <p:cNvPicPr>
            <a:picLocks noChangeAspect="1"/>
          </p:cNvPicPr>
          <p:nvPr/>
        </p:nvPicPr>
        <p:blipFill>
          <a:blip r:embed="rId1">
            <a:alphaModFix amt="70000"/>
          </a:blip>
          <a:stretch>
            <a:fillRect/>
          </a:stretch>
        </p:blipFill>
        <p:spPr>
          <a:xfrm>
            <a:off x="9082735" y="914400"/>
            <a:ext cx="2377440" cy="2377440"/>
          </a:xfrm>
          <a:prstGeom prst="rect">
            <a:avLst/>
          </a:prstGeom>
        </p:spPr>
      </p:pic>
      <p:sp>
        <p:nvSpPr>
          <p:cNvPr id="7" name="Shape 4"/>
          <p:cNvSpPr/>
          <p:nvPr/>
        </p:nvSpPr>
        <p:spPr>
          <a:xfrm>
            <a:off x="777240" y="5852160"/>
            <a:ext cx="5943600" cy="0"/>
          </a:xfrm>
          <a:prstGeom prst="line">
            <a:avLst/>
          </a:prstGeom>
          <a:noFill/>
          <a:ln w="19050">
            <a:solidFill>
              <a:srgbClr val="E8A33D"/>
            </a:solidFill>
            <a:prstDash val="solid"/>
          </a:ln>
        </p:spPr>
      </p:sp>
      <p:sp>
        <p:nvSpPr>
          <p:cNvPr id="8" name="Text 5"/>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9" name="Text 6"/>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3 / 33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The Grading Bottleneck</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Shape 2"/>
          <p:cNvSpPr/>
          <p:nvPr/>
        </p:nvSpPr>
        <p:spPr>
          <a:xfrm>
            <a:off x="548640" y="1325880"/>
            <a:ext cx="4572000" cy="4572000"/>
          </a:xfrm>
          <a:prstGeom prst="roundRect">
            <a:avLst>
              <a:gd name="adj" fmla="val 3200"/>
            </a:avLst>
          </a:prstGeom>
          <a:solidFill>
            <a:srgbClr val="1A1D24"/>
          </a:solidFill>
          <a:ln w="9525">
            <a:solidFill>
              <a:srgbClr val="2D3138"/>
            </a:solidFill>
            <a:prstDash val="solid"/>
          </a:ln>
        </p:spPr>
      </p:sp>
      <p:sp>
        <p:nvSpPr>
          <p:cNvPr id="5" name="Text 3"/>
          <p:cNvSpPr/>
          <p:nvPr/>
        </p:nvSpPr>
        <p:spPr>
          <a:xfrm>
            <a:off x="548640" y="1600200"/>
            <a:ext cx="4572000" cy="384048"/>
          </a:xfrm>
          <a:prstGeom prst="rect">
            <a:avLst/>
          </a:prstGeom>
          <a:noFill/>
          <a:ln/>
        </p:spPr>
        <p:txBody>
          <a:bodyPr wrap="square" lIns="0" tIns="0" rIns="0" bIns="0" rtlCol="0" anchor="ctr"/>
          <a:lstStyle/>
          <a:p>
            <a:pPr algn="ctr" indent="0" marL="0">
              <a:buNone/>
            </a:pPr>
            <a:r>
              <a:rPr lang="en-US" sz="1500" b="1" dirty="0">
                <a:solidFill>
                  <a:srgbClr val="F5C161"/>
                </a:solidFill>
                <a:latin typeface="Calibri" pitchFamily="34" charset="0"/>
                <a:ea typeface="Calibri" pitchFamily="34" charset="-122"/>
                <a:cs typeface="Calibri" pitchFamily="34" charset="-120"/>
              </a:rPr>
              <a:t>Per-cohort grading effort</a:t>
            </a:r>
            <a:endParaRPr lang="en-US" sz="1500" dirty="0"/>
          </a:p>
        </p:txBody>
      </p:sp>
      <p:sp>
        <p:nvSpPr>
          <p:cNvPr id="6" name="Shape 4"/>
          <p:cNvSpPr/>
          <p:nvPr/>
        </p:nvSpPr>
        <p:spPr>
          <a:xfrm>
            <a:off x="1920240" y="2039112"/>
            <a:ext cx="1828800" cy="0"/>
          </a:xfrm>
          <a:prstGeom prst="line">
            <a:avLst/>
          </a:prstGeom>
          <a:noFill/>
          <a:ln w="12700">
            <a:solidFill>
              <a:srgbClr val="2D3138"/>
            </a:solidFill>
            <a:prstDash val="solid"/>
          </a:ln>
        </p:spPr>
      </p:sp>
      <p:sp>
        <p:nvSpPr>
          <p:cNvPr id="7" name="Shape 5"/>
          <p:cNvSpPr/>
          <p:nvPr/>
        </p:nvSpPr>
        <p:spPr>
          <a:xfrm rot="600000">
            <a:off x="1691640" y="2880360"/>
            <a:ext cx="2286000" cy="914400"/>
          </a:xfrm>
          <a:prstGeom prst="roundRect">
            <a:avLst>
              <a:gd name="adj" fmla="val 6000"/>
            </a:avLst>
          </a:prstGeom>
          <a:solidFill>
            <a:srgbClr val="20242C"/>
          </a:solidFill>
          <a:ln w="6350">
            <a:solidFill>
              <a:srgbClr val="2D3138"/>
            </a:solidFill>
            <a:prstDash val="solid"/>
          </a:ln>
        </p:spPr>
      </p:sp>
      <p:sp>
        <p:nvSpPr>
          <p:cNvPr id="8" name="Shape 6"/>
          <p:cNvSpPr/>
          <p:nvPr/>
        </p:nvSpPr>
        <p:spPr>
          <a:xfrm rot="600000">
            <a:off x="1874520" y="3108960"/>
            <a:ext cx="502920" cy="365760"/>
          </a:xfrm>
          <a:prstGeom prst="rect">
            <a:avLst/>
          </a:prstGeom>
          <a:solidFill>
            <a:srgbClr val="3A4150"/>
          </a:solidFill>
          <a:ln w="12700">
            <a:solidFill>
              <a:srgbClr val="3A4150"/>
            </a:solidFill>
            <a:prstDash val="solid"/>
          </a:ln>
        </p:spPr>
      </p:sp>
      <p:sp>
        <p:nvSpPr>
          <p:cNvPr id="9" name="Shape 7"/>
          <p:cNvSpPr/>
          <p:nvPr/>
        </p:nvSpPr>
        <p:spPr>
          <a:xfrm rot="600000">
            <a:off x="3429000" y="3200400"/>
            <a:ext cx="502920" cy="274320"/>
          </a:xfrm>
          <a:prstGeom prst="rect">
            <a:avLst/>
          </a:prstGeom>
          <a:solidFill>
            <a:srgbClr val="3A4150"/>
          </a:solidFill>
          <a:ln w="12700">
            <a:solidFill>
              <a:srgbClr val="3A4150"/>
            </a:solidFill>
            <a:prstDash val="solid"/>
          </a:ln>
        </p:spPr>
      </p:sp>
      <p:sp>
        <p:nvSpPr>
          <p:cNvPr id="10" name="Shape 8"/>
          <p:cNvSpPr/>
          <p:nvPr/>
        </p:nvSpPr>
        <p:spPr>
          <a:xfrm rot="360000">
            <a:off x="1627632" y="2816352"/>
            <a:ext cx="2286000" cy="914400"/>
          </a:xfrm>
          <a:prstGeom prst="roundRect">
            <a:avLst>
              <a:gd name="adj" fmla="val 6000"/>
            </a:avLst>
          </a:prstGeom>
          <a:solidFill>
            <a:srgbClr val="2A2F39"/>
          </a:solidFill>
          <a:ln w="6350">
            <a:solidFill>
              <a:srgbClr val="2D3138"/>
            </a:solidFill>
            <a:prstDash val="solid"/>
          </a:ln>
        </p:spPr>
      </p:sp>
      <p:sp>
        <p:nvSpPr>
          <p:cNvPr id="11" name="Shape 9"/>
          <p:cNvSpPr/>
          <p:nvPr/>
        </p:nvSpPr>
        <p:spPr>
          <a:xfrm rot="360000">
            <a:off x="1810512" y="3044952"/>
            <a:ext cx="502920" cy="365760"/>
          </a:xfrm>
          <a:prstGeom prst="rect">
            <a:avLst/>
          </a:prstGeom>
          <a:solidFill>
            <a:srgbClr val="3A4150"/>
          </a:solidFill>
          <a:ln w="12700">
            <a:solidFill>
              <a:srgbClr val="3A4150"/>
            </a:solidFill>
            <a:prstDash val="solid"/>
          </a:ln>
        </p:spPr>
      </p:sp>
      <p:sp>
        <p:nvSpPr>
          <p:cNvPr id="12" name="Shape 10"/>
          <p:cNvSpPr/>
          <p:nvPr/>
        </p:nvSpPr>
        <p:spPr>
          <a:xfrm rot="360000">
            <a:off x="3364992" y="3136392"/>
            <a:ext cx="502920" cy="274320"/>
          </a:xfrm>
          <a:prstGeom prst="rect">
            <a:avLst/>
          </a:prstGeom>
          <a:solidFill>
            <a:srgbClr val="3A4150"/>
          </a:solidFill>
          <a:ln w="12700">
            <a:solidFill>
              <a:srgbClr val="3A4150"/>
            </a:solidFill>
            <a:prstDash val="solid"/>
          </a:ln>
        </p:spPr>
      </p:sp>
      <p:sp>
        <p:nvSpPr>
          <p:cNvPr id="13" name="Shape 11"/>
          <p:cNvSpPr/>
          <p:nvPr/>
        </p:nvSpPr>
        <p:spPr>
          <a:xfrm rot="120000">
            <a:off x="1563624" y="2752344"/>
            <a:ext cx="2286000" cy="914400"/>
          </a:xfrm>
          <a:prstGeom prst="roundRect">
            <a:avLst>
              <a:gd name="adj" fmla="val 6000"/>
            </a:avLst>
          </a:prstGeom>
          <a:solidFill>
            <a:srgbClr val="20242C"/>
          </a:solidFill>
          <a:ln w="6350">
            <a:solidFill>
              <a:srgbClr val="2D3138"/>
            </a:solidFill>
            <a:prstDash val="solid"/>
          </a:ln>
        </p:spPr>
      </p:sp>
      <p:sp>
        <p:nvSpPr>
          <p:cNvPr id="14" name="Shape 12"/>
          <p:cNvSpPr/>
          <p:nvPr/>
        </p:nvSpPr>
        <p:spPr>
          <a:xfrm rot="120000">
            <a:off x="1746504" y="2980944"/>
            <a:ext cx="502920" cy="365760"/>
          </a:xfrm>
          <a:prstGeom prst="rect">
            <a:avLst/>
          </a:prstGeom>
          <a:solidFill>
            <a:srgbClr val="3A4150"/>
          </a:solidFill>
          <a:ln w="12700">
            <a:solidFill>
              <a:srgbClr val="3A4150"/>
            </a:solidFill>
            <a:prstDash val="solid"/>
          </a:ln>
        </p:spPr>
      </p:sp>
      <p:sp>
        <p:nvSpPr>
          <p:cNvPr id="15" name="Shape 13"/>
          <p:cNvSpPr/>
          <p:nvPr/>
        </p:nvSpPr>
        <p:spPr>
          <a:xfrm rot="120000">
            <a:off x="3300984" y="3072384"/>
            <a:ext cx="502920" cy="274320"/>
          </a:xfrm>
          <a:prstGeom prst="rect">
            <a:avLst/>
          </a:prstGeom>
          <a:solidFill>
            <a:srgbClr val="3A4150"/>
          </a:solidFill>
          <a:ln w="12700">
            <a:solidFill>
              <a:srgbClr val="3A4150"/>
            </a:solidFill>
            <a:prstDash val="solid"/>
          </a:ln>
        </p:spPr>
      </p:sp>
      <p:sp>
        <p:nvSpPr>
          <p:cNvPr id="16" name="Shape 14"/>
          <p:cNvSpPr/>
          <p:nvPr/>
        </p:nvSpPr>
        <p:spPr>
          <a:xfrm rot="-120000">
            <a:off x="1499616" y="2688336"/>
            <a:ext cx="2286000" cy="914400"/>
          </a:xfrm>
          <a:prstGeom prst="roundRect">
            <a:avLst>
              <a:gd name="adj" fmla="val 6000"/>
            </a:avLst>
          </a:prstGeom>
          <a:solidFill>
            <a:srgbClr val="2A2F39"/>
          </a:solidFill>
          <a:ln w="6350">
            <a:solidFill>
              <a:srgbClr val="2D3138"/>
            </a:solidFill>
            <a:prstDash val="solid"/>
          </a:ln>
        </p:spPr>
      </p:sp>
      <p:sp>
        <p:nvSpPr>
          <p:cNvPr id="17" name="Shape 15"/>
          <p:cNvSpPr/>
          <p:nvPr/>
        </p:nvSpPr>
        <p:spPr>
          <a:xfrm rot="-120000">
            <a:off x="1682496" y="2916936"/>
            <a:ext cx="502920" cy="365760"/>
          </a:xfrm>
          <a:prstGeom prst="rect">
            <a:avLst/>
          </a:prstGeom>
          <a:solidFill>
            <a:srgbClr val="3A4150"/>
          </a:solidFill>
          <a:ln w="12700">
            <a:solidFill>
              <a:srgbClr val="3A4150"/>
            </a:solidFill>
            <a:prstDash val="solid"/>
          </a:ln>
        </p:spPr>
      </p:sp>
      <p:sp>
        <p:nvSpPr>
          <p:cNvPr id="18" name="Shape 16"/>
          <p:cNvSpPr/>
          <p:nvPr/>
        </p:nvSpPr>
        <p:spPr>
          <a:xfrm rot="-120000">
            <a:off x="3236976" y="3008376"/>
            <a:ext cx="502920" cy="274320"/>
          </a:xfrm>
          <a:prstGeom prst="rect">
            <a:avLst/>
          </a:prstGeom>
          <a:solidFill>
            <a:srgbClr val="3A4150"/>
          </a:solidFill>
          <a:ln w="12700">
            <a:solidFill>
              <a:srgbClr val="3A4150"/>
            </a:solidFill>
            <a:prstDash val="solid"/>
          </a:ln>
        </p:spPr>
      </p:sp>
      <p:sp>
        <p:nvSpPr>
          <p:cNvPr id="19" name="Shape 17"/>
          <p:cNvSpPr/>
          <p:nvPr/>
        </p:nvSpPr>
        <p:spPr>
          <a:xfrm rot="-360000">
            <a:off x="1435608" y="2624328"/>
            <a:ext cx="2286000" cy="914400"/>
          </a:xfrm>
          <a:prstGeom prst="roundRect">
            <a:avLst>
              <a:gd name="adj" fmla="val 6000"/>
            </a:avLst>
          </a:prstGeom>
          <a:solidFill>
            <a:srgbClr val="20242C"/>
          </a:solidFill>
          <a:ln w="6350">
            <a:solidFill>
              <a:srgbClr val="2D3138"/>
            </a:solidFill>
            <a:prstDash val="solid"/>
          </a:ln>
        </p:spPr>
      </p:sp>
      <p:sp>
        <p:nvSpPr>
          <p:cNvPr id="20" name="Shape 18"/>
          <p:cNvSpPr/>
          <p:nvPr/>
        </p:nvSpPr>
        <p:spPr>
          <a:xfrm rot="-360000">
            <a:off x="1618488" y="2852928"/>
            <a:ext cx="502920" cy="365760"/>
          </a:xfrm>
          <a:prstGeom prst="rect">
            <a:avLst/>
          </a:prstGeom>
          <a:solidFill>
            <a:srgbClr val="3A4150"/>
          </a:solidFill>
          <a:ln w="12700">
            <a:solidFill>
              <a:srgbClr val="3A4150"/>
            </a:solidFill>
            <a:prstDash val="solid"/>
          </a:ln>
        </p:spPr>
      </p:sp>
      <p:sp>
        <p:nvSpPr>
          <p:cNvPr id="21" name="Shape 19"/>
          <p:cNvSpPr/>
          <p:nvPr/>
        </p:nvSpPr>
        <p:spPr>
          <a:xfrm rot="-360000">
            <a:off x="3172968" y="2944368"/>
            <a:ext cx="502920" cy="274320"/>
          </a:xfrm>
          <a:prstGeom prst="rect">
            <a:avLst/>
          </a:prstGeom>
          <a:solidFill>
            <a:srgbClr val="3A4150"/>
          </a:solidFill>
          <a:ln w="12700">
            <a:solidFill>
              <a:srgbClr val="3A4150"/>
            </a:solidFill>
            <a:prstDash val="solid"/>
          </a:ln>
        </p:spPr>
      </p:sp>
      <p:sp>
        <p:nvSpPr>
          <p:cNvPr id="22" name="Shape 20"/>
          <p:cNvSpPr/>
          <p:nvPr/>
        </p:nvSpPr>
        <p:spPr>
          <a:xfrm rot="-600000">
            <a:off x="1371600" y="2560320"/>
            <a:ext cx="2286000" cy="914400"/>
          </a:xfrm>
          <a:prstGeom prst="roundRect">
            <a:avLst>
              <a:gd name="adj" fmla="val 6000"/>
            </a:avLst>
          </a:prstGeom>
          <a:solidFill>
            <a:srgbClr val="2A2F39"/>
          </a:solidFill>
          <a:ln w="6350">
            <a:solidFill>
              <a:srgbClr val="2D3138"/>
            </a:solidFill>
            <a:prstDash val="solid"/>
          </a:ln>
        </p:spPr>
      </p:sp>
      <p:sp>
        <p:nvSpPr>
          <p:cNvPr id="23" name="Shape 21"/>
          <p:cNvSpPr/>
          <p:nvPr/>
        </p:nvSpPr>
        <p:spPr>
          <a:xfrm rot="-600000">
            <a:off x="1554480" y="2788920"/>
            <a:ext cx="502920" cy="365760"/>
          </a:xfrm>
          <a:prstGeom prst="rect">
            <a:avLst/>
          </a:prstGeom>
          <a:solidFill>
            <a:srgbClr val="3A4150"/>
          </a:solidFill>
          <a:ln w="12700">
            <a:solidFill>
              <a:srgbClr val="3A4150"/>
            </a:solidFill>
            <a:prstDash val="solid"/>
          </a:ln>
        </p:spPr>
      </p:sp>
      <p:sp>
        <p:nvSpPr>
          <p:cNvPr id="24" name="Shape 22"/>
          <p:cNvSpPr/>
          <p:nvPr/>
        </p:nvSpPr>
        <p:spPr>
          <a:xfrm rot="-600000">
            <a:off x="3108960" y="2880360"/>
            <a:ext cx="502920" cy="274320"/>
          </a:xfrm>
          <a:prstGeom prst="rect">
            <a:avLst/>
          </a:prstGeom>
          <a:solidFill>
            <a:srgbClr val="3A4150"/>
          </a:solidFill>
          <a:ln w="12700">
            <a:solidFill>
              <a:srgbClr val="3A4150"/>
            </a:solidFill>
            <a:prstDash val="solid"/>
          </a:ln>
        </p:spPr>
      </p:sp>
      <p:sp>
        <p:nvSpPr>
          <p:cNvPr id="25" name="Shape 23"/>
          <p:cNvSpPr/>
          <p:nvPr/>
        </p:nvSpPr>
        <p:spPr>
          <a:xfrm>
            <a:off x="1417320" y="4206240"/>
            <a:ext cx="2834640" cy="1463040"/>
          </a:xfrm>
          <a:prstGeom prst="roundRect">
            <a:avLst>
              <a:gd name="adj" fmla="val 3125"/>
            </a:avLst>
          </a:prstGeom>
          <a:solidFill>
            <a:srgbClr val="FFFFFF"/>
          </a:solidFill>
          <a:ln w="6350">
            <a:solidFill>
              <a:srgbClr val="2D3138"/>
            </a:solidFill>
            <a:prstDash val="solid"/>
          </a:ln>
        </p:spPr>
      </p:sp>
      <p:sp>
        <p:nvSpPr>
          <p:cNvPr id="26" name="Shape 24"/>
          <p:cNvSpPr/>
          <p:nvPr/>
        </p:nvSpPr>
        <p:spPr>
          <a:xfrm>
            <a:off x="1600200" y="4370832"/>
            <a:ext cx="2468880" cy="54864"/>
          </a:xfrm>
          <a:prstGeom prst="rect">
            <a:avLst/>
          </a:prstGeom>
          <a:solidFill>
            <a:srgbClr val="111418"/>
          </a:solidFill>
          <a:ln w="12700">
            <a:solidFill>
              <a:srgbClr val="111418"/>
            </a:solidFill>
            <a:prstDash val="solid"/>
          </a:ln>
        </p:spPr>
      </p:sp>
      <p:sp>
        <p:nvSpPr>
          <p:cNvPr id="27" name="Shape 25"/>
          <p:cNvSpPr/>
          <p:nvPr/>
        </p:nvSpPr>
        <p:spPr>
          <a:xfrm>
            <a:off x="1600200" y="4553712"/>
            <a:ext cx="1280160" cy="45720"/>
          </a:xfrm>
          <a:prstGeom prst="rect">
            <a:avLst/>
          </a:prstGeom>
          <a:solidFill>
            <a:srgbClr val="B0B5BD"/>
          </a:solidFill>
          <a:ln w="12700">
            <a:solidFill>
              <a:srgbClr val="B0B5BD"/>
            </a:solidFill>
            <a:prstDash val="solid"/>
          </a:ln>
        </p:spPr>
      </p:sp>
      <p:sp>
        <p:nvSpPr>
          <p:cNvPr id="28" name="Shape 26"/>
          <p:cNvSpPr/>
          <p:nvPr/>
        </p:nvSpPr>
        <p:spPr>
          <a:xfrm>
            <a:off x="1600200" y="4754880"/>
            <a:ext cx="1645920" cy="45720"/>
          </a:xfrm>
          <a:prstGeom prst="rect">
            <a:avLst/>
          </a:prstGeom>
          <a:solidFill>
            <a:srgbClr val="B0B5BD"/>
          </a:solidFill>
          <a:ln w="12700">
            <a:solidFill>
              <a:srgbClr val="B0B5BD"/>
            </a:solidFill>
            <a:prstDash val="solid"/>
          </a:ln>
        </p:spPr>
      </p:sp>
      <p:sp>
        <p:nvSpPr>
          <p:cNvPr id="29" name="Shape 27"/>
          <p:cNvSpPr/>
          <p:nvPr/>
        </p:nvSpPr>
        <p:spPr>
          <a:xfrm>
            <a:off x="1600200" y="4956048"/>
            <a:ext cx="2194560" cy="45720"/>
          </a:xfrm>
          <a:prstGeom prst="rect">
            <a:avLst/>
          </a:prstGeom>
          <a:solidFill>
            <a:srgbClr val="E8A33D"/>
          </a:solidFill>
          <a:ln w="12700">
            <a:solidFill>
              <a:srgbClr val="E8A33D"/>
            </a:solidFill>
            <a:prstDash val="solid"/>
          </a:ln>
        </p:spPr>
      </p:sp>
      <p:sp>
        <p:nvSpPr>
          <p:cNvPr id="30" name="Shape 28"/>
          <p:cNvSpPr/>
          <p:nvPr/>
        </p:nvSpPr>
        <p:spPr>
          <a:xfrm>
            <a:off x="1600200" y="5157216"/>
            <a:ext cx="1280160" cy="45720"/>
          </a:xfrm>
          <a:prstGeom prst="rect">
            <a:avLst/>
          </a:prstGeom>
          <a:solidFill>
            <a:srgbClr val="B0B5BD"/>
          </a:solidFill>
          <a:ln w="12700">
            <a:solidFill>
              <a:srgbClr val="B0B5BD"/>
            </a:solidFill>
            <a:prstDash val="solid"/>
          </a:ln>
        </p:spPr>
      </p:sp>
      <p:sp>
        <p:nvSpPr>
          <p:cNvPr id="31" name="Shape 29"/>
          <p:cNvSpPr/>
          <p:nvPr/>
        </p:nvSpPr>
        <p:spPr>
          <a:xfrm>
            <a:off x="1600200" y="5358384"/>
            <a:ext cx="1645920" cy="45720"/>
          </a:xfrm>
          <a:prstGeom prst="rect">
            <a:avLst/>
          </a:prstGeom>
          <a:solidFill>
            <a:srgbClr val="B0B5BD"/>
          </a:solidFill>
          <a:ln w="12700">
            <a:solidFill>
              <a:srgbClr val="B0B5BD"/>
            </a:solidFill>
            <a:prstDash val="solid"/>
          </a:ln>
        </p:spPr>
      </p:sp>
      <p:sp>
        <p:nvSpPr>
          <p:cNvPr id="32" name="Shape 30"/>
          <p:cNvSpPr/>
          <p:nvPr/>
        </p:nvSpPr>
        <p:spPr>
          <a:xfrm>
            <a:off x="3794760" y="4782312"/>
            <a:ext cx="292608" cy="292608"/>
          </a:xfrm>
          <a:prstGeom prst="ellipse">
            <a:avLst/>
          </a:prstGeom>
          <a:solidFill>
            <a:srgbClr val="E8A33D"/>
          </a:solidFill>
          <a:ln w="12700">
            <a:solidFill>
              <a:srgbClr val="F5C161"/>
            </a:solidFill>
            <a:prstDash val="solid"/>
          </a:ln>
        </p:spPr>
      </p:sp>
      <p:sp>
        <p:nvSpPr>
          <p:cNvPr id="33" name="Text 31"/>
          <p:cNvSpPr/>
          <p:nvPr/>
        </p:nvSpPr>
        <p:spPr>
          <a:xfrm>
            <a:off x="3794760" y="4782312"/>
            <a:ext cx="292608" cy="292608"/>
          </a:xfrm>
          <a:prstGeom prst="rect">
            <a:avLst/>
          </a:prstGeom>
          <a:noFill/>
          <a:ln/>
        </p:spPr>
        <p:txBody>
          <a:bodyPr wrap="square" lIns="0" tIns="0" rIns="0" bIns="0" rtlCol="0" anchor="ctr"/>
          <a:lstStyle/>
          <a:p>
            <a:pPr algn="ctr" indent="0" marL="0">
              <a:buNone/>
            </a:pPr>
            <a:r>
              <a:rPr lang="en-US" sz="1200" b="1" dirty="0">
                <a:solidFill>
                  <a:srgbClr val="0F1115"/>
                </a:solidFill>
                <a:latin typeface="Calibri" pitchFamily="34" charset="0"/>
                <a:ea typeface="Calibri" pitchFamily="34" charset="-122"/>
                <a:cs typeface="Calibri" pitchFamily="34" charset="-120"/>
              </a:rPr>
              <a:t>?</a:t>
            </a:r>
            <a:endParaRPr lang="en-US" sz="1200" dirty="0"/>
          </a:p>
        </p:txBody>
      </p:sp>
      <p:sp>
        <p:nvSpPr>
          <p:cNvPr id="34" name="Text 32"/>
          <p:cNvSpPr/>
          <p:nvPr/>
        </p:nvSpPr>
        <p:spPr>
          <a:xfrm>
            <a:off x="548640" y="5394960"/>
            <a:ext cx="4572000" cy="384048"/>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1 grader · 1,000 diagrams · 5 criteria each</a:t>
            </a:r>
            <a:endParaRPr lang="en-US" sz="1200" dirty="0"/>
          </a:p>
        </p:txBody>
      </p:sp>
      <p:sp>
        <p:nvSpPr>
          <p:cNvPr id="35" name="Shape 33"/>
          <p:cNvSpPr/>
          <p:nvPr/>
        </p:nvSpPr>
        <p:spPr>
          <a:xfrm>
            <a:off x="5486400" y="1325880"/>
            <a:ext cx="6126480" cy="1033272"/>
          </a:xfrm>
          <a:prstGeom prst="roundRect">
            <a:avLst>
              <a:gd name="adj" fmla="val 10619"/>
            </a:avLst>
          </a:prstGeom>
          <a:solidFill>
            <a:srgbClr val="1A1D24"/>
          </a:solidFill>
          <a:ln w="9525">
            <a:solidFill>
              <a:srgbClr val="2D3138"/>
            </a:solidFill>
            <a:prstDash val="solid"/>
          </a:ln>
        </p:spPr>
      </p:sp>
      <p:sp>
        <p:nvSpPr>
          <p:cNvPr id="36" name="Text 34"/>
          <p:cNvSpPr/>
          <p:nvPr/>
        </p:nvSpPr>
        <p:spPr>
          <a:xfrm>
            <a:off x="5715000" y="1399032"/>
            <a:ext cx="2205533" cy="886968"/>
          </a:xfrm>
          <a:prstGeom prst="rect">
            <a:avLst/>
          </a:prstGeom>
          <a:noFill/>
          <a:ln/>
        </p:spPr>
        <p:txBody>
          <a:bodyPr wrap="square" lIns="0" tIns="0" rIns="0" bIns="0" rtlCol="0" anchor="ctr"/>
          <a:lstStyle/>
          <a:p>
            <a:pPr algn="l" indent="0" marL="0">
              <a:buNone/>
            </a:pPr>
            <a:r>
              <a:rPr lang="en-US" sz="3000" b="1" dirty="0">
                <a:solidFill>
                  <a:srgbClr val="E8A33D"/>
                </a:solidFill>
                <a:latin typeface="Calibri" pitchFamily="34" charset="0"/>
                <a:ea typeface="Calibri" pitchFamily="34" charset="-122"/>
                <a:cs typeface="Calibri" pitchFamily="34" charset="-120"/>
              </a:rPr>
              <a:t>~15 min</a:t>
            </a:r>
            <a:endParaRPr lang="en-US" sz="3000" dirty="0"/>
          </a:p>
        </p:txBody>
      </p:sp>
      <p:sp>
        <p:nvSpPr>
          <p:cNvPr id="37" name="Shape 35"/>
          <p:cNvSpPr/>
          <p:nvPr/>
        </p:nvSpPr>
        <p:spPr>
          <a:xfrm>
            <a:off x="7984541" y="1527048"/>
            <a:ext cx="22860" cy="630936"/>
          </a:xfrm>
          <a:prstGeom prst="rect">
            <a:avLst/>
          </a:prstGeom>
          <a:solidFill>
            <a:srgbClr val="2D3138"/>
          </a:solidFill>
          <a:ln w="12700">
            <a:solidFill>
              <a:srgbClr val="2D3138"/>
            </a:solidFill>
            <a:prstDash val="solid"/>
          </a:ln>
        </p:spPr>
      </p:sp>
      <p:sp>
        <p:nvSpPr>
          <p:cNvPr id="38" name="Text 36"/>
          <p:cNvSpPr/>
          <p:nvPr/>
        </p:nvSpPr>
        <p:spPr>
          <a:xfrm>
            <a:off x="8103413" y="1399032"/>
            <a:ext cx="3326587" cy="886968"/>
          </a:xfrm>
          <a:prstGeom prst="rect">
            <a:avLst/>
          </a:prstGeom>
          <a:noFill/>
          <a:ln/>
        </p:spPr>
        <p:txBody>
          <a:bodyPr wrap="square" lIns="0" tIns="0" rIns="0" bIns="0" rtlCol="0" anchor="ctr"/>
          <a:lstStyle/>
          <a:p>
            <a:pPr algn="l" indent="0" marL="0">
              <a:buNone/>
            </a:pPr>
            <a:r>
              <a:rPr lang="en-US" sz="1400" dirty="0">
                <a:solidFill>
                  <a:srgbClr val="F4F4F5"/>
                </a:solidFill>
                <a:latin typeface="Calibri" pitchFamily="34" charset="0"/>
                <a:ea typeface="Calibri" pitchFamily="34" charset="-122"/>
                <a:cs typeface="Calibri" pitchFamily="34" charset="-120"/>
              </a:rPr>
              <a:t>to grade a single class diagram</a:t>
            </a:r>
            <a:endParaRPr lang="en-US" sz="1400" dirty="0"/>
          </a:p>
        </p:txBody>
      </p:sp>
      <p:sp>
        <p:nvSpPr>
          <p:cNvPr id="39" name="Shape 37"/>
          <p:cNvSpPr/>
          <p:nvPr/>
        </p:nvSpPr>
        <p:spPr>
          <a:xfrm>
            <a:off x="5486400" y="2478024"/>
            <a:ext cx="6126480" cy="1033272"/>
          </a:xfrm>
          <a:prstGeom prst="roundRect">
            <a:avLst>
              <a:gd name="adj" fmla="val 10619"/>
            </a:avLst>
          </a:prstGeom>
          <a:solidFill>
            <a:srgbClr val="1A1D24"/>
          </a:solidFill>
          <a:ln w="9525">
            <a:solidFill>
              <a:srgbClr val="2D3138"/>
            </a:solidFill>
            <a:prstDash val="solid"/>
          </a:ln>
        </p:spPr>
      </p:sp>
      <p:sp>
        <p:nvSpPr>
          <p:cNvPr id="40" name="Text 38"/>
          <p:cNvSpPr/>
          <p:nvPr/>
        </p:nvSpPr>
        <p:spPr>
          <a:xfrm>
            <a:off x="5715000" y="2551176"/>
            <a:ext cx="2205533" cy="886968"/>
          </a:xfrm>
          <a:prstGeom prst="rect">
            <a:avLst/>
          </a:prstGeom>
          <a:noFill/>
          <a:ln/>
        </p:spPr>
        <p:txBody>
          <a:bodyPr wrap="square" lIns="0" tIns="0" rIns="0" bIns="0" rtlCol="0" anchor="ctr"/>
          <a:lstStyle/>
          <a:p>
            <a:pPr algn="l" indent="0" marL="0">
              <a:buNone/>
            </a:pPr>
            <a:r>
              <a:rPr lang="en-US" sz="3000" b="1" dirty="0">
                <a:solidFill>
                  <a:srgbClr val="E8A33D"/>
                </a:solidFill>
                <a:latin typeface="Calibri" pitchFamily="34" charset="0"/>
                <a:ea typeface="Calibri" pitchFamily="34" charset="-122"/>
                <a:cs typeface="Calibri" pitchFamily="34" charset="-120"/>
              </a:rPr>
              <a:t>1,000</a:t>
            </a:r>
            <a:endParaRPr lang="en-US" sz="3000" dirty="0"/>
          </a:p>
        </p:txBody>
      </p:sp>
      <p:sp>
        <p:nvSpPr>
          <p:cNvPr id="41" name="Shape 39"/>
          <p:cNvSpPr/>
          <p:nvPr/>
        </p:nvSpPr>
        <p:spPr>
          <a:xfrm>
            <a:off x="7984541" y="2679192"/>
            <a:ext cx="22860" cy="630936"/>
          </a:xfrm>
          <a:prstGeom prst="rect">
            <a:avLst/>
          </a:prstGeom>
          <a:solidFill>
            <a:srgbClr val="2D3138"/>
          </a:solidFill>
          <a:ln w="12700">
            <a:solidFill>
              <a:srgbClr val="2D3138"/>
            </a:solidFill>
            <a:prstDash val="solid"/>
          </a:ln>
        </p:spPr>
      </p:sp>
      <p:sp>
        <p:nvSpPr>
          <p:cNvPr id="42" name="Text 40"/>
          <p:cNvSpPr/>
          <p:nvPr/>
        </p:nvSpPr>
        <p:spPr>
          <a:xfrm>
            <a:off x="8103413" y="2551176"/>
            <a:ext cx="3326587" cy="886968"/>
          </a:xfrm>
          <a:prstGeom prst="rect">
            <a:avLst/>
          </a:prstGeom>
          <a:noFill/>
          <a:ln/>
        </p:spPr>
        <p:txBody>
          <a:bodyPr wrap="square" lIns="0" tIns="0" rIns="0" bIns="0" rtlCol="0" anchor="ctr"/>
          <a:lstStyle/>
          <a:p>
            <a:pPr algn="l" indent="0" marL="0">
              <a:buNone/>
            </a:pPr>
            <a:r>
              <a:rPr lang="en-US" sz="1400" dirty="0">
                <a:solidFill>
                  <a:srgbClr val="F4F4F5"/>
                </a:solidFill>
                <a:latin typeface="Calibri" pitchFamily="34" charset="0"/>
                <a:ea typeface="Calibri" pitchFamily="34" charset="-122"/>
                <a:cs typeface="Calibri" pitchFamily="34" charset="-120"/>
              </a:rPr>
              <a:t>diagrams · 200 students × 5 each</a:t>
            </a:r>
            <a:endParaRPr lang="en-US" sz="1400" dirty="0"/>
          </a:p>
        </p:txBody>
      </p:sp>
      <p:sp>
        <p:nvSpPr>
          <p:cNvPr id="43" name="Shape 41"/>
          <p:cNvSpPr/>
          <p:nvPr/>
        </p:nvSpPr>
        <p:spPr>
          <a:xfrm>
            <a:off x="5486400" y="3630168"/>
            <a:ext cx="6126480" cy="1033272"/>
          </a:xfrm>
          <a:prstGeom prst="roundRect">
            <a:avLst>
              <a:gd name="adj" fmla="val 10619"/>
            </a:avLst>
          </a:prstGeom>
          <a:solidFill>
            <a:srgbClr val="1A1D24"/>
          </a:solidFill>
          <a:ln w="9525">
            <a:solidFill>
              <a:srgbClr val="2D3138"/>
            </a:solidFill>
            <a:prstDash val="solid"/>
          </a:ln>
        </p:spPr>
      </p:sp>
      <p:sp>
        <p:nvSpPr>
          <p:cNvPr id="44" name="Text 42"/>
          <p:cNvSpPr/>
          <p:nvPr/>
        </p:nvSpPr>
        <p:spPr>
          <a:xfrm>
            <a:off x="5715000" y="3703320"/>
            <a:ext cx="2205533" cy="886968"/>
          </a:xfrm>
          <a:prstGeom prst="rect">
            <a:avLst/>
          </a:prstGeom>
          <a:noFill/>
          <a:ln/>
        </p:spPr>
        <p:txBody>
          <a:bodyPr wrap="square" lIns="0" tIns="0" rIns="0" bIns="0" rtlCol="0" anchor="ctr"/>
          <a:lstStyle/>
          <a:p>
            <a:pPr algn="l" indent="0" marL="0">
              <a:buNone/>
            </a:pPr>
            <a:r>
              <a:rPr lang="en-US" sz="3000" b="1" dirty="0">
                <a:solidFill>
                  <a:srgbClr val="E8A33D"/>
                </a:solidFill>
                <a:latin typeface="Calibri" pitchFamily="34" charset="0"/>
                <a:ea typeface="Calibri" pitchFamily="34" charset="-122"/>
                <a:cs typeface="Calibri" pitchFamily="34" charset="-120"/>
              </a:rPr>
              <a:t>≈83 hrs</a:t>
            </a:r>
            <a:endParaRPr lang="en-US" sz="3000" dirty="0"/>
          </a:p>
        </p:txBody>
      </p:sp>
      <p:sp>
        <p:nvSpPr>
          <p:cNvPr id="45" name="Shape 43"/>
          <p:cNvSpPr/>
          <p:nvPr/>
        </p:nvSpPr>
        <p:spPr>
          <a:xfrm>
            <a:off x="7984541" y="3831336"/>
            <a:ext cx="22860" cy="630936"/>
          </a:xfrm>
          <a:prstGeom prst="rect">
            <a:avLst/>
          </a:prstGeom>
          <a:solidFill>
            <a:srgbClr val="2D3138"/>
          </a:solidFill>
          <a:ln w="12700">
            <a:solidFill>
              <a:srgbClr val="2D3138"/>
            </a:solidFill>
            <a:prstDash val="solid"/>
          </a:ln>
        </p:spPr>
      </p:sp>
      <p:sp>
        <p:nvSpPr>
          <p:cNvPr id="46" name="Text 44"/>
          <p:cNvSpPr/>
          <p:nvPr/>
        </p:nvSpPr>
        <p:spPr>
          <a:xfrm>
            <a:off x="8103413" y="3703320"/>
            <a:ext cx="3326587" cy="886968"/>
          </a:xfrm>
          <a:prstGeom prst="rect">
            <a:avLst/>
          </a:prstGeom>
          <a:noFill/>
          <a:ln/>
        </p:spPr>
        <p:txBody>
          <a:bodyPr wrap="square" lIns="0" tIns="0" rIns="0" bIns="0" rtlCol="0" anchor="ctr"/>
          <a:lstStyle/>
          <a:p>
            <a:pPr algn="l" indent="0" marL="0">
              <a:buNone/>
            </a:pPr>
            <a:r>
              <a:rPr lang="en-US" sz="1400" dirty="0">
                <a:solidFill>
                  <a:srgbClr val="F4F4F5"/>
                </a:solidFill>
                <a:latin typeface="Calibri" pitchFamily="34" charset="0"/>
                <a:ea typeface="Calibri" pitchFamily="34" charset="-122"/>
                <a:cs typeface="Calibri" pitchFamily="34" charset="-120"/>
              </a:rPr>
              <a:t>of TA effort per cohort</a:t>
            </a:r>
            <a:endParaRPr lang="en-US" sz="1400" dirty="0"/>
          </a:p>
        </p:txBody>
      </p:sp>
      <p:sp>
        <p:nvSpPr>
          <p:cNvPr id="47" name="Shape 45"/>
          <p:cNvSpPr/>
          <p:nvPr/>
        </p:nvSpPr>
        <p:spPr>
          <a:xfrm>
            <a:off x="5486400" y="4782312"/>
            <a:ext cx="6126480" cy="1033272"/>
          </a:xfrm>
          <a:prstGeom prst="roundRect">
            <a:avLst>
              <a:gd name="adj" fmla="val 10619"/>
            </a:avLst>
          </a:prstGeom>
          <a:solidFill>
            <a:srgbClr val="1A1D24"/>
          </a:solidFill>
          <a:ln w="9525">
            <a:solidFill>
              <a:srgbClr val="2D3138"/>
            </a:solidFill>
            <a:prstDash val="solid"/>
          </a:ln>
        </p:spPr>
      </p:sp>
      <p:sp>
        <p:nvSpPr>
          <p:cNvPr id="48" name="Text 46"/>
          <p:cNvSpPr/>
          <p:nvPr/>
        </p:nvSpPr>
        <p:spPr>
          <a:xfrm>
            <a:off x="5715000" y="4855464"/>
            <a:ext cx="2205533" cy="886968"/>
          </a:xfrm>
          <a:prstGeom prst="rect">
            <a:avLst/>
          </a:prstGeom>
          <a:noFill/>
          <a:ln/>
        </p:spPr>
        <p:txBody>
          <a:bodyPr wrap="square" lIns="0" tIns="0" rIns="0" bIns="0" rtlCol="0" anchor="ctr"/>
          <a:lstStyle/>
          <a:p>
            <a:pPr algn="l" indent="0" marL="0">
              <a:buNone/>
            </a:pPr>
            <a:r>
              <a:rPr lang="en-US" sz="3000" b="1" dirty="0">
                <a:solidFill>
                  <a:srgbClr val="F5C161"/>
                </a:solidFill>
                <a:latin typeface="Calibri" pitchFamily="34" charset="0"/>
                <a:ea typeface="Calibri" pitchFamily="34" charset="-122"/>
                <a:cs typeface="Calibri" pitchFamily="34" charset="-120"/>
              </a:rPr>
              <a:t>Inconsistency</a:t>
            </a:r>
            <a:endParaRPr lang="en-US" sz="3000" dirty="0"/>
          </a:p>
        </p:txBody>
      </p:sp>
      <p:sp>
        <p:nvSpPr>
          <p:cNvPr id="49" name="Shape 47"/>
          <p:cNvSpPr/>
          <p:nvPr/>
        </p:nvSpPr>
        <p:spPr>
          <a:xfrm>
            <a:off x="7984541" y="4983480"/>
            <a:ext cx="22860" cy="630936"/>
          </a:xfrm>
          <a:prstGeom prst="rect">
            <a:avLst/>
          </a:prstGeom>
          <a:solidFill>
            <a:srgbClr val="2D3138"/>
          </a:solidFill>
          <a:ln w="12700">
            <a:solidFill>
              <a:srgbClr val="2D3138"/>
            </a:solidFill>
            <a:prstDash val="solid"/>
          </a:ln>
        </p:spPr>
      </p:sp>
      <p:sp>
        <p:nvSpPr>
          <p:cNvPr id="50" name="Text 48"/>
          <p:cNvSpPr/>
          <p:nvPr/>
        </p:nvSpPr>
        <p:spPr>
          <a:xfrm>
            <a:off x="8103413" y="4855464"/>
            <a:ext cx="3326587" cy="886968"/>
          </a:xfrm>
          <a:prstGeom prst="rect">
            <a:avLst/>
          </a:prstGeom>
          <a:noFill/>
          <a:ln/>
        </p:spPr>
        <p:txBody>
          <a:bodyPr wrap="square" lIns="0" tIns="0" rIns="0" bIns="0" rtlCol="0" anchor="ctr"/>
          <a:lstStyle/>
          <a:p>
            <a:pPr algn="l" indent="0" marL="0">
              <a:buNone/>
            </a:pPr>
            <a:r>
              <a:rPr lang="en-US" sz="1400" dirty="0">
                <a:solidFill>
                  <a:srgbClr val="F4F4F5"/>
                </a:solidFill>
                <a:latin typeface="Calibri" pitchFamily="34" charset="0"/>
                <a:ea typeface="Calibri" pitchFamily="34" charset="-122"/>
                <a:cs typeface="Calibri" pitchFamily="34" charset="-120"/>
              </a:rPr>
              <a:t>different graders interpret rubrics differently — a recognised threat to assessment validity</a:t>
            </a:r>
            <a:endParaRPr lang="en-US" sz="1400" dirty="0"/>
          </a:p>
        </p:txBody>
      </p:sp>
      <p:sp>
        <p:nvSpPr>
          <p:cNvPr id="51" name="Shape 49"/>
          <p:cNvSpPr/>
          <p:nvPr/>
        </p:nvSpPr>
        <p:spPr>
          <a:xfrm>
            <a:off x="457200" y="6519672"/>
            <a:ext cx="11277295" cy="0"/>
          </a:xfrm>
          <a:prstGeom prst="line">
            <a:avLst/>
          </a:prstGeom>
          <a:noFill/>
          <a:ln w="9525">
            <a:solidFill>
              <a:srgbClr val="2D3138"/>
            </a:solidFill>
            <a:prstDash val="solid"/>
          </a:ln>
        </p:spPr>
      </p:sp>
      <p:sp>
        <p:nvSpPr>
          <p:cNvPr id="52" name="Text 50"/>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53" name="Text 51"/>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4 / 33</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Prior Work &amp; The Research Gap</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Shape 2"/>
          <p:cNvSpPr/>
          <p:nvPr/>
        </p:nvSpPr>
        <p:spPr>
          <a:xfrm>
            <a:off x="548640" y="1325880"/>
            <a:ext cx="5285232" cy="502920"/>
          </a:xfrm>
          <a:prstGeom prst="roundRect">
            <a:avLst>
              <a:gd name="adj" fmla="val 14545"/>
            </a:avLst>
          </a:prstGeom>
          <a:solidFill>
            <a:srgbClr val="2D3138"/>
          </a:solidFill>
          <a:ln w="12700">
            <a:solidFill>
              <a:srgbClr val="2D3138"/>
            </a:solidFill>
            <a:prstDash val="solid"/>
          </a:ln>
        </p:spPr>
      </p:sp>
      <p:sp>
        <p:nvSpPr>
          <p:cNvPr id="5" name="Text 3"/>
          <p:cNvSpPr/>
          <p:nvPr/>
        </p:nvSpPr>
        <p:spPr>
          <a:xfrm>
            <a:off x="548640" y="1325880"/>
            <a:ext cx="5285232" cy="502920"/>
          </a:xfrm>
          <a:prstGeom prst="rect">
            <a:avLst/>
          </a:prstGeom>
          <a:noFill/>
          <a:ln/>
        </p:spPr>
        <p:txBody>
          <a:bodyPr wrap="square" lIns="0" tIns="0" rIns="0" bIns="0" rtlCol="0" anchor="ctr"/>
          <a:lstStyle/>
          <a:p>
            <a:pPr algn="ctr" indent="0" marL="0">
              <a:buNone/>
            </a:pPr>
            <a:r>
              <a:rPr lang="en-US" sz="1600" b="1" dirty="0">
                <a:solidFill>
                  <a:srgbClr val="F4F4F5"/>
                </a:solidFill>
                <a:latin typeface="Calibri" pitchFamily="34" charset="0"/>
                <a:ea typeface="Calibri" pitchFamily="34" charset="-122"/>
                <a:cs typeface="Calibri" pitchFamily="34" charset="-120"/>
              </a:rPr>
              <a:t>Traditional methods</a:t>
            </a:r>
            <a:endParaRPr lang="en-US" sz="1600" dirty="0"/>
          </a:p>
        </p:txBody>
      </p:sp>
      <p:sp>
        <p:nvSpPr>
          <p:cNvPr id="6" name="Shape 4"/>
          <p:cNvSpPr/>
          <p:nvPr/>
        </p:nvSpPr>
        <p:spPr>
          <a:xfrm>
            <a:off x="6355080" y="1325880"/>
            <a:ext cx="5285232" cy="502920"/>
          </a:xfrm>
          <a:prstGeom prst="roundRect">
            <a:avLst>
              <a:gd name="adj" fmla="val 14545"/>
            </a:avLst>
          </a:prstGeom>
          <a:solidFill>
            <a:srgbClr val="B57820"/>
          </a:solidFill>
          <a:ln w="12700">
            <a:solidFill>
              <a:srgbClr val="B57820"/>
            </a:solidFill>
            <a:prstDash val="solid"/>
          </a:ln>
        </p:spPr>
      </p:sp>
      <p:sp>
        <p:nvSpPr>
          <p:cNvPr id="7" name="Text 5"/>
          <p:cNvSpPr/>
          <p:nvPr/>
        </p:nvSpPr>
        <p:spPr>
          <a:xfrm>
            <a:off x="6355080" y="1325880"/>
            <a:ext cx="5285232" cy="502920"/>
          </a:xfrm>
          <a:prstGeom prst="rect">
            <a:avLst/>
          </a:prstGeom>
          <a:noFill/>
          <a:ln/>
        </p:spPr>
        <p:txBody>
          <a:bodyPr wrap="square" lIns="0" tIns="0" rIns="0" bIns="0" rtlCol="0" anchor="ctr"/>
          <a:lstStyle/>
          <a:p>
            <a:pPr algn="ctr" indent="0" marL="0">
              <a:buNone/>
            </a:pPr>
            <a:r>
              <a:rPr lang="en-US" sz="1600" b="1" dirty="0">
                <a:solidFill>
                  <a:srgbClr val="F4F4F5"/>
                </a:solidFill>
                <a:latin typeface="Calibri" pitchFamily="34" charset="0"/>
                <a:ea typeface="Calibri" pitchFamily="34" charset="-122"/>
                <a:cs typeface="Calibri" pitchFamily="34" charset="-120"/>
              </a:rPr>
              <a:t>LLM-based methods</a:t>
            </a:r>
            <a:endParaRPr lang="en-US" sz="1600" dirty="0"/>
          </a:p>
        </p:txBody>
      </p:sp>
      <p:sp>
        <p:nvSpPr>
          <p:cNvPr id="8" name="Shape 6"/>
          <p:cNvSpPr/>
          <p:nvPr/>
        </p:nvSpPr>
        <p:spPr>
          <a:xfrm>
            <a:off x="548640" y="1920240"/>
            <a:ext cx="5285232" cy="3063240"/>
          </a:xfrm>
          <a:prstGeom prst="roundRect">
            <a:avLst>
              <a:gd name="adj" fmla="val 2388"/>
            </a:avLst>
          </a:prstGeom>
          <a:solidFill>
            <a:srgbClr val="1A1D24"/>
          </a:solidFill>
          <a:ln w="6350">
            <a:solidFill>
              <a:srgbClr val="2D3138"/>
            </a:solidFill>
            <a:prstDash val="solid"/>
          </a:ln>
        </p:spPr>
      </p:sp>
      <p:sp>
        <p:nvSpPr>
          <p:cNvPr id="9" name="Text 7"/>
          <p:cNvSpPr/>
          <p:nvPr/>
        </p:nvSpPr>
        <p:spPr>
          <a:xfrm>
            <a:off x="777240" y="2057400"/>
            <a:ext cx="4828032" cy="2880360"/>
          </a:xfrm>
          <a:prstGeom prst="rect">
            <a:avLst/>
          </a:prstGeom>
          <a:noFill/>
          <a:ln/>
        </p:spPr>
        <p:txBody>
          <a:bodyPr wrap="square" lIns="0" tIns="0" rIns="0" bIns="0" rtlCol="0" anchor="t"/>
          <a:lstStyle/>
          <a:p>
            <a:pPr algn="l" marL="342900" indent="-342900">
              <a:spcAft>
                <a:spcPts val="500"/>
              </a:spcAft>
              <a:buSzPct val="100000"/>
              <a:buChar char="●"/>
            </a:pPr>
            <a:r>
              <a:rPr lang="en-US" sz="1350" dirty="0">
                <a:solidFill>
                  <a:srgbClr val="F4F4F5"/>
                </a:solidFill>
                <a:latin typeface="Calibri" pitchFamily="34" charset="0"/>
                <a:ea typeface="Calibri" pitchFamily="34" charset="-122"/>
                <a:cs typeface="Calibri" pitchFamily="34" charset="-120"/>
              </a:rPr>
              <a:t>UMLGrader — heuristic, IBM Rational Rose only</a:t>
            </a:r>
            <a:endParaRPr lang="en-US" sz="1350" dirty="0"/>
          </a:p>
          <a:p>
            <a:pPr algn="l" marL="342900" indent="-342900">
              <a:spcAft>
                <a:spcPts val="500"/>
              </a:spcAft>
              <a:buSzPct val="100000"/>
              <a:buChar char="●"/>
            </a:pPr>
            <a:r>
              <a:rPr lang="en-US" sz="1350" dirty="0">
                <a:solidFill>
                  <a:srgbClr val="F4F4F5"/>
                </a:solidFill>
                <a:latin typeface="Calibri" pitchFamily="34" charset="0"/>
                <a:ea typeface="Calibri" pitchFamily="34" charset="-122"/>
                <a:cs typeface="Calibri" pitchFamily="34" charset="-120"/>
              </a:rPr>
              <a:t>Bian et al. — Levenshtein + WordNet, class-only</a:t>
            </a:r>
            <a:endParaRPr lang="en-US" sz="1350" dirty="0"/>
          </a:p>
          <a:p>
            <a:pPr algn="l" marL="342900" indent="-342900">
              <a:spcAft>
                <a:spcPts val="500"/>
              </a:spcAft>
              <a:buSzPct val="100000"/>
              <a:buChar char="●"/>
            </a:pPr>
            <a:r>
              <a:rPr lang="en-US" sz="1350" dirty="0">
                <a:solidFill>
                  <a:srgbClr val="F4F4F5"/>
                </a:solidFill>
                <a:latin typeface="Calibri" pitchFamily="34" charset="0"/>
                <a:ea typeface="Calibri" pitchFamily="34" charset="-122"/>
                <a:cs typeface="Calibri" pitchFamily="34" charset="-120"/>
              </a:rPr>
              <a:t>Modi / Jebli — XMI parsing, Modelio-locked</a:t>
            </a:r>
            <a:endParaRPr lang="en-US" sz="1350" dirty="0"/>
          </a:p>
          <a:p>
            <a:pPr algn="l" indent="0" marL="0">
              <a:spcAft>
                <a:spcPts val="500"/>
              </a:spcAft>
              <a:buNone/>
            </a:pPr>
            <a:r>
              <a:rPr lang="en-US" sz="800" dirty="0">
                <a:solidFill>
                  <a:srgbClr val="F4F4F5"/>
                </a:solidFill>
                <a:latin typeface="Calibri" pitchFamily="34" charset="0"/>
                <a:ea typeface="Calibri" pitchFamily="34" charset="-122"/>
                <a:cs typeface="Calibri" pitchFamily="34" charset="-120"/>
              </a:rPr>
              <a:t> </a:t>
            </a:r>
            <a:endParaRPr lang="en-US" sz="1350" dirty="0"/>
          </a:p>
          <a:p>
            <a:pPr algn="l" indent="0" marL="0">
              <a:spcAft>
                <a:spcPts val="500"/>
              </a:spcAft>
              <a:buNone/>
            </a:pPr>
            <a:r>
              <a:rPr lang="en-US" sz="1350" b="1" dirty="0">
                <a:solidFill>
                  <a:srgbClr val="D86B6B"/>
                </a:solidFill>
                <a:latin typeface="Calibri" pitchFamily="34" charset="0"/>
                <a:ea typeface="Calibri" pitchFamily="34" charset="-122"/>
                <a:cs typeface="Calibri" pitchFamily="34" charset="-120"/>
              </a:rPr>
              <a:t>✗ Tied to specific tools, class-only,</a:t>
            </a:r>
            <a:endParaRPr lang="en-US" sz="1350" dirty="0"/>
          </a:p>
          <a:p>
            <a:pPr algn="l" indent="0" marL="0">
              <a:spcAft>
                <a:spcPts val="500"/>
              </a:spcAft>
              <a:buNone/>
            </a:pPr>
            <a:r>
              <a:rPr lang="en-US" sz="1350" b="1" dirty="0">
                <a:solidFill>
                  <a:srgbClr val="D86B6B"/>
                </a:solidFill>
                <a:latin typeface="Calibri" pitchFamily="34" charset="0"/>
                <a:ea typeface="Calibri" pitchFamily="34" charset="-122"/>
                <a:cs typeface="Calibri" pitchFamily="34" charset="-120"/>
              </a:rPr>
              <a:t>    no semantic richness</a:t>
            </a:r>
            <a:endParaRPr lang="en-US" sz="1350" dirty="0"/>
          </a:p>
        </p:txBody>
      </p:sp>
      <p:sp>
        <p:nvSpPr>
          <p:cNvPr id="10" name="Shape 8"/>
          <p:cNvSpPr/>
          <p:nvPr/>
        </p:nvSpPr>
        <p:spPr>
          <a:xfrm>
            <a:off x="6355080" y="1920240"/>
            <a:ext cx="5285232" cy="3063240"/>
          </a:xfrm>
          <a:prstGeom prst="roundRect">
            <a:avLst>
              <a:gd name="adj" fmla="val 2388"/>
            </a:avLst>
          </a:prstGeom>
          <a:solidFill>
            <a:srgbClr val="1A1D24"/>
          </a:solidFill>
          <a:ln w="6350">
            <a:solidFill>
              <a:srgbClr val="E8A33D"/>
            </a:solidFill>
            <a:prstDash val="solid"/>
          </a:ln>
        </p:spPr>
      </p:sp>
      <p:sp>
        <p:nvSpPr>
          <p:cNvPr id="11" name="Text 9"/>
          <p:cNvSpPr/>
          <p:nvPr/>
        </p:nvSpPr>
        <p:spPr>
          <a:xfrm>
            <a:off x="6583680" y="2057400"/>
            <a:ext cx="4828032" cy="2880360"/>
          </a:xfrm>
          <a:prstGeom prst="rect">
            <a:avLst/>
          </a:prstGeom>
          <a:noFill/>
          <a:ln/>
        </p:spPr>
        <p:txBody>
          <a:bodyPr wrap="square" lIns="0" tIns="0" rIns="0" bIns="0" rtlCol="0" anchor="t"/>
          <a:lstStyle/>
          <a:p>
            <a:pPr algn="l" marL="342900" indent="-342900">
              <a:spcAft>
                <a:spcPts val="500"/>
              </a:spcAft>
              <a:buSzPct val="100000"/>
              <a:buChar char="●"/>
            </a:pPr>
            <a:r>
              <a:rPr lang="en-US" sz="1350" dirty="0">
                <a:solidFill>
                  <a:srgbClr val="F4F4F5"/>
                </a:solidFill>
                <a:latin typeface="Calibri" pitchFamily="34" charset="0"/>
                <a:ea typeface="Calibri" pitchFamily="34" charset="-122"/>
                <a:cs typeface="Calibri" pitchFamily="34" charset="-120"/>
              </a:rPr>
              <a:t>Wang et al. — GPT-4o on 40 students, 1.18-pt gap, weak on class/sequence</a:t>
            </a:r>
            <a:endParaRPr lang="en-US" sz="1350" dirty="0"/>
          </a:p>
          <a:p>
            <a:pPr algn="l" marL="342900" indent="-342900">
              <a:spcAft>
                <a:spcPts val="500"/>
              </a:spcAft>
              <a:buSzPct val="100000"/>
              <a:buChar char="●"/>
            </a:pPr>
            <a:r>
              <a:rPr lang="en-US" sz="1350" dirty="0">
                <a:solidFill>
                  <a:srgbClr val="F4F4F5"/>
                </a:solidFill>
                <a:latin typeface="Calibri" pitchFamily="34" charset="0"/>
                <a:ea typeface="Calibri" pitchFamily="34" charset="-122"/>
                <a:cs typeface="Calibri" pitchFamily="34" charset="-120"/>
              </a:rPr>
              <a:t>Bouali et al. — GPT-o1-mini + Sonnet + Llama, ICC = 0.76</a:t>
            </a:r>
            <a:endParaRPr lang="en-US" sz="1350" dirty="0"/>
          </a:p>
          <a:p>
            <a:pPr algn="l" marL="342900" indent="-342900">
              <a:spcAft>
                <a:spcPts val="500"/>
              </a:spcAft>
              <a:buSzPct val="100000"/>
              <a:buChar char="●"/>
            </a:pPr>
            <a:r>
              <a:rPr lang="en-US" sz="1350" dirty="0">
                <a:solidFill>
                  <a:srgbClr val="F4F4F5"/>
                </a:solidFill>
                <a:latin typeface="Calibri" pitchFamily="34" charset="0"/>
                <a:ea typeface="Calibri" pitchFamily="34" charset="-122"/>
                <a:cs typeface="Calibri" pitchFamily="34" charset="-120"/>
              </a:rPr>
              <a:t>DUET — GPT-4o + Mistral-7B, formative only</a:t>
            </a:r>
            <a:endParaRPr lang="en-US" sz="1350" dirty="0"/>
          </a:p>
          <a:p>
            <a:pPr algn="l" indent="0" marL="0">
              <a:spcAft>
                <a:spcPts val="500"/>
              </a:spcAft>
              <a:buNone/>
            </a:pPr>
            <a:r>
              <a:rPr lang="en-US" sz="800" dirty="0">
                <a:solidFill>
                  <a:srgbClr val="F4F4F5"/>
                </a:solidFill>
                <a:latin typeface="Calibri" pitchFamily="34" charset="0"/>
                <a:ea typeface="Calibri" pitchFamily="34" charset="-122"/>
                <a:cs typeface="Calibri" pitchFamily="34" charset="-120"/>
              </a:rPr>
              <a:t> </a:t>
            </a:r>
            <a:endParaRPr lang="en-US" sz="1350" dirty="0"/>
          </a:p>
          <a:p>
            <a:pPr algn="l" indent="0" marL="0">
              <a:spcAft>
                <a:spcPts val="500"/>
              </a:spcAft>
              <a:buNone/>
            </a:pPr>
            <a:r>
              <a:rPr lang="en-US" sz="1350" b="1" dirty="0">
                <a:solidFill>
                  <a:srgbClr val="F5C161"/>
                </a:solidFill>
                <a:latin typeface="Calibri" pitchFamily="34" charset="0"/>
                <a:ea typeface="Calibri" pitchFamily="34" charset="-122"/>
                <a:cs typeface="Calibri" pitchFamily="34" charset="-120"/>
              </a:rPr>
              <a:t>⚠ Earlier-generation models, weaker reasoning,</a:t>
            </a:r>
            <a:endParaRPr lang="en-US" sz="1350" dirty="0"/>
          </a:p>
          <a:p>
            <a:pPr algn="l" indent="0" marL="0">
              <a:spcAft>
                <a:spcPts val="500"/>
              </a:spcAft>
              <a:buNone/>
            </a:pPr>
            <a:r>
              <a:rPr lang="en-US" sz="1350" b="1" dirty="0">
                <a:solidFill>
                  <a:srgbClr val="F5C161"/>
                </a:solidFill>
                <a:latin typeface="Calibri" pitchFamily="34" charset="0"/>
                <a:ea typeface="Calibri" pitchFamily="34" charset="-122"/>
                <a:cs typeface="Calibri" pitchFamily="34" charset="-120"/>
              </a:rPr>
              <a:t>    format-compliance issues</a:t>
            </a:r>
            <a:endParaRPr lang="en-US" sz="1350" dirty="0"/>
          </a:p>
        </p:txBody>
      </p:sp>
      <p:sp>
        <p:nvSpPr>
          <p:cNvPr id="12" name="Shape 10"/>
          <p:cNvSpPr/>
          <p:nvPr/>
        </p:nvSpPr>
        <p:spPr>
          <a:xfrm>
            <a:off x="548640" y="5212080"/>
            <a:ext cx="11094415" cy="914400"/>
          </a:xfrm>
          <a:prstGeom prst="roundRect">
            <a:avLst>
              <a:gd name="adj" fmla="val 10000"/>
            </a:avLst>
          </a:prstGeom>
          <a:solidFill>
            <a:srgbClr val="B57820"/>
          </a:solidFill>
          <a:ln w="12700">
            <a:solidFill>
              <a:srgbClr val="E8A33D"/>
            </a:solidFill>
            <a:prstDash val="solid"/>
          </a:ln>
        </p:spPr>
      </p:sp>
      <p:sp>
        <p:nvSpPr>
          <p:cNvPr id="13" name="Shape 11"/>
          <p:cNvSpPr/>
          <p:nvPr/>
        </p:nvSpPr>
        <p:spPr>
          <a:xfrm>
            <a:off x="548640" y="5212080"/>
            <a:ext cx="109728" cy="914400"/>
          </a:xfrm>
          <a:prstGeom prst="rect">
            <a:avLst/>
          </a:prstGeom>
          <a:solidFill>
            <a:srgbClr val="E8A33D"/>
          </a:solidFill>
          <a:ln w="12700">
            <a:solidFill>
              <a:srgbClr val="E8A33D"/>
            </a:solidFill>
            <a:prstDash val="solid"/>
          </a:ln>
        </p:spPr>
      </p:sp>
      <p:sp>
        <p:nvSpPr>
          <p:cNvPr id="14" name="Text 12"/>
          <p:cNvSpPr/>
          <p:nvPr/>
        </p:nvSpPr>
        <p:spPr>
          <a:xfrm>
            <a:off x="914400" y="5257800"/>
            <a:ext cx="10545775" cy="82296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The gap:  </a:t>
            </a:r>
            <a:pPr algn="l" indent="0" marL="0">
              <a:buNone/>
            </a:pPr>
            <a:r>
              <a:rPr lang="en-US" sz="1500" dirty="0">
                <a:solidFill>
                  <a:srgbClr val="F4F4F5"/>
                </a:solidFill>
                <a:latin typeface="Calibri" pitchFamily="34" charset="0"/>
                <a:ea typeface="Calibri" pitchFamily="34" charset="-122"/>
                <a:cs typeface="Calibri" pitchFamily="34" charset="-120"/>
              </a:rPr>
              <a:t>No study has revisited LLM-based UML grading using SOTA models with API-level structured-output enforcement — and no production-grade assessment platform embeds such a pipeline.</a:t>
            </a:r>
            <a:endParaRPr lang="en-US" sz="1600" dirty="0"/>
          </a:p>
        </p:txBody>
      </p:sp>
      <p:sp>
        <p:nvSpPr>
          <p:cNvPr id="15" name="Shape 13"/>
          <p:cNvSpPr/>
          <p:nvPr/>
        </p:nvSpPr>
        <p:spPr>
          <a:xfrm>
            <a:off x="457200" y="6519672"/>
            <a:ext cx="11277295" cy="0"/>
          </a:xfrm>
          <a:prstGeom prst="line">
            <a:avLst/>
          </a:prstGeom>
          <a:noFill/>
          <a:ln w="9525">
            <a:solidFill>
              <a:srgbClr val="2D3138"/>
            </a:solidFill>
            <a:prstDash val="solid"/>
          </a:ln>
        </p:spPr>
      </p:sp>
      <p:sp>
        <p:nvSpPr>
          <p:cNvPr id="16" name="Text 14"/>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17" name="Text 15"/>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5 / 33</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Project Objectives</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Shape 2"/>
          <p:cNvSpPr/>
          <p:nvPr/>
        </p:nvSpPr>
        <p:spPr>
          <a:xfrm>
            <a:off x="586588" y="1417320"/>
            <a:ext cx="3520440" cy="1828800"/>
          </a:xfrm>
          <a:prstGeom prst="roundRect">
            <a:avLst>
              <a:gd name="adj" fmla="val 6000"/>
            </a:avLst>
          </a:prstGeom>
          <a:solidFill>
            <a:srgbClr val="1A1D24"/>
          </a:solidFill>
          <a:ln w="9525">
            <a:solidFill>
              <a:srgbClr val="2D3138"/>
            </a:solidFill>
            <a:prstDash val="solid"/>
          </a:ln>
        </p:spPr>
      </p:sp>
      <p:sp>
        <p:nvSpPr>
          <p:cNvPr id="5" name="Shape 3"/>
          <p:cNvSpPr/>
          <p:nvPr/>
        </p:nvSpPr>
        <p:spPr>
          <a:xfrm>
            <a:off x="787756" y="1581912"/>
            <a:ext cx="384048" cy="384048"/>
          </a:xfrm>
          <a:prstGeom prst="ellipse">
            <a:avLst/>
          </a:prstGeom>
          <a:solidFill>
            <a:srgbClr val="E8A33D"/>
          </a:solidFill>
          <a:ln w="15875">
            <a:solidFill>
              <a:srgbClr val="F5C161"/>
            </a:solidFill>
            <a:prstDash val="solid"/>
          </a:ln>
        </p:spPr>
      </p:sp>
      <p:sp>
        <p:nvSpPr>
          <p:cNvPr id="6" name="Text 4"/>
          <p:cNvSpPr/>
          <p:nvPr/>
        </p:nvSpPr>
        <p:spPr>
          <a:xfrm>
            <a:off x="787756" y="158191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1263244" y="1545336"/>
            <a:ext cx="274320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[O1] Full-stack platform</a:t>
            </a:r>
            <a:endParaRPr lang="en-US" sz="1600" dirty="0"/>
          </a:p>
        </p:txBody>
      </p:sp>
      <p:sp>
        <p:nvSpPr>
          <p:cNvPr id="8" name="Text 6"/>
          <p:cNvSpPr/>
          <p:nvPr/>
        </p:nvSpPr>
        <p:spPr>
          <a:xfrm>
            <a:off x="842620" y="2039112"/>
            <a:ext cx="3063240" cy="111556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End-to-end assessment lifecycle from course setup to grade publication.</a:t>
            </a:r>
            <a:endParaRPr lang="en-US" sz="1300" dirty="0"/>
          </a:p>
        </p:txBody>
      </p:sp>
      <p:sp>
        <p:nvSpPr>
          <p:cNvPr id="9" name="Shape 7"/>
          <p:cNvSpPr/>
          <p:nvPr/>
        </p:nvSpPr>
        <p:spPr>
          <a:xfrm>
            <a:off x="4335628" y="1417320"/>
            <a:ext cx="3520440" cy="1828800"/>
          </a:xfrm>
          <a:prstGeom prst="roundRect">
            <a:avLst>
              <a:gd name="adj" fmla="val 6000"/>
            </a:avLst>
          </a:prstGeom>
          <a:solidFill>
            <a:srgbClr val="1A1D24"/>
          </a:solidFill>
          <a:ln w="9525">
            <a:solidFill>
              <a:srgbClr val="2D3138"/>
            </a:solidFill>
            <a:prstDash val="solid"/>
          </a:ln>
        </p:spPr>
      </p:sp>
      <p:sp>
        <p:nvSpPr>
          <p:cNvPr id="10" name="Shape 8"/>
          <p:cNvSpPr/>
          <p:nvPr/>
        </p:nvSpPr>
        <p:spPr>
          <a:xfrm>
            <a:off x="4536796" y="1581912"/>
            <a:ext cx="384048" cy="384048"/>
          </a:xfrm>
          <a:prstGeom prst="ellipse">
            <a:avLst/>
          </a:prstGeom>
          <a:solidFill>
            <a:srgbClr val="E8A33D"/>
          </a:solidFill>
          <a:ln w="15875">
            <a:solidFill>
              <a:srgbClr val="F5C161"/>
            </a:solidFill>
            <a:prstDash val="solid"/>
          </a:ln>
        </p:spPr>
      </p:sp>
      <p:sp>
        <p:nvSpPr>
          <p:cNvPr id="11" name="Text 9"/>
          <p:cNvSpPr/>
          <p:nvPr/>
        </p:nvSpPr>
        <p:spPr>
          <a:xfrm>
            <a:off x="4536796" y="158191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02</a:t>
            </a:r>
            <a:endParaRPr lang="en-US" sz="1300" dirty="0"/>
          </a:p>
        </p:txBody>
      </p:sp>
      <p:sp>
        <p:nvSpPr>
          <p:cNvPr id="12" name="Text 10"/>
          <p:cNvSpPr/>
          <p:nvPr/>
        </p:nvSpPr>
        <p:spPr>
          <a:xfrm>
            <a:off x="5012284" y="1545336"/>
            <a:ext cx="274320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[O2] LLM grading pipeline</a:t>
            </a:r>
            <a:endParaRPr lang="en-US" sz="1600" dirty="0"/>
          </a:p>
        </p:txBody>
      </p:sp>
      <p:sp>
        <p:nvSpPr>
          <p:cNvPr id="13" name="Text 11"/>
          <p:cNvSpPr/>
          <p:nvPr/>
        </p:nvSpPr>
        <p:spPr>
          <a:xfrm>
            <a:off x="4591660" y="2039112"/>
            <a:ext cx="3063240" cy="111556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Structured-output enforcement, schema validation, score clamping.</a:t>
            </a:r>
            <a:endParaRPr lang="en-US" sz="1300" dirty="0"/>
          </a:p>
        </p:txBody>
      </p:sp>
      <p:sp>
        <p:nvSpPr>
          <p:cNvPr id="14" name="Shape 12"/>
          <p:cNvSpPr/>
          <p:nvPr/>
        </p:nvSpPr>
        <p:spPr>
          <a:xfrm>
            <a:off x="8084668" y="1417320"/>
            <a:ext cx="3520440" cy="1828800"/>
          </a:xfrm>
          <a:prstGeom prst="roundRect">
            <a:avLst>
              <a:gd name="adj" fmla="val 6000"/>
            </a:avLst>
          </a:prstGeom>
          <a:solidFill>
            <a:srgbClr val="1A1D24"/>
          </a:solidFill>
          <a:ln w="9525">
            <a:solidFill>
              <a:srgbClr val="2D3138"/>
            </a:solidFill>
            <a:prstDash val="solid"/>
          </a:ln>
        </p:spPr>
      </p:sp>
      <p:sp>
        <p:nvSpPr>
          <p:cNvPr id="15" name="Shape 13"/>
          <p:cNvSpPr/>
          <p:nvPr/>
        </p:nvSpPr>
        <p:spPr>
          <a:xfrm>
            <a:off x="8285836" y="1581912"/>
            <a:ext cx="384048" cy="384048"/>
          </a:xfrm>
          <a:prstGeom prst="ellipse">
            <a:avLst/>
          </a:prstGeom>
          <a:solidFill>
            <a:srgbClr val="E8A33D"/>
          </a:solidFill>
          <a:ln w="15875">
            <a:solidFill>
              <a:srgbClr val="F5C161"/>
            </a:solidFill>
            <a:prstDash val="solid"/>
          </a:ln>
        </p:spPr>
      </p:sp>
      <p:sp>
        <p:nvSpPr>
          <p:cNvPr id="16" name="Text 14"/>
          <p:cNvSpPr/>
          <p:nvPr/>
        </p:nvSpPr>
        <p:spPr>
          <a:xfrm>
            <a:off x="8285836" y="158191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03</a:t>
            </a:r>
            <a:endParaRPr lang="en-US" sz="1300" dirty="0"/>
          </a:p>
        </p:txBody>
      </p:sp>
      <p:sp>
        <p:nvSpPr>
          <p:cNvPr id="17" name="Text 15"/>
          <p:cNvSpPr/>
          <p:nvPr/>
        </p:nvSpPr>
        <p:spPr>
          <a:xfrm>
            <a:off x="8761324" y="1545336"/>
            <a:ext cx="274320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[O3] Reduce TA effort</a:t>
            </a:r>
            <a:endParaRPr lang="en-US" sz="1600" dirty="0"/>
          </a:p>
        </p:txBody>
      </p:sp>
      <p:sp>
        <p:nvSpPr>
          <p:cNvPr id="18" name="Text 16"/>
          <p:cNvSpPr/>
          <p:nvPr/>
        </p:nvSpPr>
        <p:spPr>
          <a:xfrm>
            <a:off x="8340700" y="2039112"/>
            <a:ext cx="3063240" cy="111556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Streamlined two-panel review UI with accept/reject workflow.</a:t>
            </a:r>
            <a:endParaRPr lang="en-US" sz="1300" dirty="0"/>
          </a:p>
        </p:txBody>
      </p:sp>
      <p:sp>
        <p:nvSpPr>
          <p:cNvPr id="19" name="Shape 17"/>
          <p:cNvSpPr/>
          <p:nvPr/>
        </p:nvSpPr>
        <p:spPr>
          <a:xfrm>
            <a:off x="2461108" y="3474720"/>
            <a:ext cx="3520440" cy="1828800"/>
          </a:xfrm>
          <a:prstGeom prst="roundRect">
            <a:avLst>
              <a:gd name="adj" fmla="val 6000"/>
            </a:avLst>
          </a:prstGeom>
          <a:solidFill>
            <a:srgbClr val="1A1D24"/>
          </a:solidFill>
          <a:ln w="9525">
            <a:solidFill>
              <a:srgbClr val="2D3138"/>
            </a:solidFill>
            <a:prstDash val="solid"/>
          </a:ln>
        </p:spPr>
      </p:sp>
      <p:sp>
        <p:nvSpPr>
          <p:cNvPr id="20" name="Shape 18"/>
          <p:cNvSpPr/>
          <p:nvPr/>
        </p:nvSpPr>
        <p:spPr>
          <a:xfrm>
            <a:off x="2662276" y="3639312"/>
            <a:ext cx="384048" cy="384048"/>
          </a:xfrm>
          <a:prstGeom prst="ellipse">
            <a:avLst/>
          </a:prstGeom>
          <a:solidFill>
            <a:srgbClr val="E8A33D"/>
          </a:solidFill>
          <a:ln w="15875">
            <a:solidFill>
              <a:srgbClr val="F5C161"/>
            </a:solidFill>
            <a:prstDash val="solid"/>
          </a:ln>
        </p:spPr>
      </p:sp>
      <p:sp>
        <p:nvSpPr>
          <p:cNvPr id="21" name="Text 19"/>
          <p:cNvSpPr/>
          <p:nvPr/>
        </p:nvSpPr>
        <p:spPr>
          <a:xfrm>
            <a:off x="2662276" y="363931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04</a:t>
            </a:r>
            <a:endParaRPr lang="en-US" sz="1300" dirty="0"/>
          </a:p>
        </p:txBody>
      </p:sp>
      <p:sp>
        <p:nvSpPr>
          <p:cNvPr id="22" name="Text 20"/>
          <p:cNvSpPr/>
          <p:nvPr/>
        </p:nvSpPr>
        <p:spPr>
          <a:xfrm>
            <a:off x="3137764" y="3602736"/>
            <a:ext cx="274320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[O4] Empirical evaluation</a:t>
            </a:r>
            <a:endParaRPr lang="en-US" sz="1600" dirty="0"/>
          </a:p>
        </p:txBody>
      </p:sp>
      <p:sp>
        <p:nvSpPr>
          <p:cNvPr id="23" name="Text 21"/>
          <p:cNvSpPr/>
          <p:nvPr/>
        </p:nvSpPr>
        <p:spPr>
          <a:xfrm>
            <a:off x="2717140" y="4096512"/>
            <a:ext cx="3063240" cy="111556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Compare SOTA LLMs across accuracy, cost, consistency.</a:t>
            </a:r>
            <a:endParaRPr lang="en-US" sz="1300" dirty="0"/>
          </a:p>
        </p:txBody>
      </p:sp>
      <p:sp>
        <p:nvSpPr>
          <p:cNvPr id="24" name="Shape 22"/>
          <p:cNvSpPr/>
          <p:nvPr/>
        </p:nvSpPr>
        <p:spPr>
          <a:xfrm>
            <a:off x="6210148" y="3474720"/>
            <a:ext cx="3520440" cy="1828800"/>
          </a:xfrm>
          <a:prstGeom prst="roundRect">
            <a:avLst>
              <a:gd name="adj" fmla="val 6000"/>
            </a:avLst>
          </a:prstGeom>
          <a:solidFill>
            <a:srgbClr val="1A1D24"/>
          </a:solidFill>
          <a:ln w="9525">
            <a:solidFill>
              <a:srgbClr val="2D3138"/>
            </a:solidFill>
            <a:prstDash val="solid"/>
          </a:ln>
        </p:spPr>
      </p:sp>
      <p:sp>
        <p:nvSpPr>
          <p:cNvPr id="25" name="Shape 23"/>
          <p:cNvSpPr/>
          <p:nvPr/>
        </p:nvSpPr>
        <p:spPr>
          <a:xfrm>
            <a:off x="6411316" y="3639312"/>
            <a:ext cx="384048" cy="384048"/>
          </a:xfrm>
          <a:prstGeom prst="ellipse">
            <a:avLst/>
          </a:prstGeom>
          <a:solidFill>
            <a:srgbClr val="E8A33D"/>
          </a:solidFill>
          <a:ln w="15875">
            <a:solidFill>
              <a:srgbClr val="F5C161"/>
            </a:solidFill>
            <a:prstDash val="solid"/>
          </a:ln>
        </p:spPr>
      </p:sp>
      <p:sp>
        <p:nvSpPr>
          <p:cNvPr id="26" name="Text 24"/>
          <p:cNvSpPr/>
          <p:nvPr/>
        </p:nvSpPr>
        <p:spPr>
          <a:xfrm>
            <a:off x="6411316" y="363931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05</a:t>
            </a:r>
            <a:endParaRPr lang="en-US" sz="1300" dirty="0"/>
          </a:p>
        </p:txBody>
      </p:sp>
      <p:sp>
        <p:nvSpPr>
          <p:cNvPr id="27" name="Text 25"/>
          <p:cNvSpPr/>
          <p:nvPr/>
        </p:nvSpPr>
        <p:spPr>
          <a:xfrm>
            <a:off x="6886804" y="3602736"/>
            <a:ext cx="274320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[O5] Containerised deployment</a:t>
            </a:r>
            <a:endParaRPr lang="en-US" sz="1600" dirty="0"/>
          </a:p>
        </p:txBody>
      </p:sp>
      <p:sp>
        <p:nvSpPr>
          <p:cNvPr id="28" name="Text 26"/>
          <p:cNvSpPr/>
          <p:nvPr/>
        </p:nvSpPr>
        <p:spPr>
          <a:xfrm>
            <a:off x="6466180" y="4096512"/>
            <a:ext cx="3063240" cy="111556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Docker + Kubernetes for on-premise NTU infrastructure.</a:t>
            </a:r>
            <a:endParaRPr lang="en-US" sz="1300" dirty="0"/>
          </a:p>
        </p:txBody>
      </p:sp>
      <p:sp>
        <p:nvSpPr>
          <p:cNvPr id="29" name="Shape 27"/>
          <p:cNvSpPr/>
          <p:nvPr/>
        </p:nvSpPr>
        <p:spPr>
          <a:xfrm>
            <a:off x="457200" y="6519672"/>
            <a:ext cx="11277295" cy="0"/>
          </a:xfrm>
          <a:prstGeom prst="line">
            <a:avLst/>
          </a:prstGeom>
          <a:noFill/>
          <a:ln w="9525">
            <a:solidFill>
              <a:srgbClr val="2D3138"/>
            </a:solidFill>
            <a:prstDash val="solid"/>
          </a:ln>
        </p:spPr>
      </p:sp>
      <p:sp>
        <p:nvSpPr>
          <p:cNvPr id="30" name="Text 28"/>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31" name="Text 29"/>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6 / 33</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My Contributions</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Shape 2"/>
          <p:cNvSpPr/>
          <p:nvPr/>
        </p:nvSpPr>
        <p:spPr>
          <a:xfrm>
            <a:off x="586588" y="1280160"/>
            <a:ext cx="3520440" cy="2194560"/>
          </a:xfrm>
          <a:prstGeom prst="roundRect">
            <a:avLst>
              <a:gd name="adj" fmla="val 5000"/>
            </a:avLst>
          </a:prstGeom>
          <a:solidFill>
            <a:srgbClr val="1A1D24"/>
          </a:solidFill>
          <a:ln w="9525">
            <a:solidFill>
              <a:srgbClr val="2D3138"/>
            </a:solidFill>
            <a:prstDash val="solid"/>
          </a:ln>
        </p:spPr>
      </p:sp>
      <p:sp>
        <p:nvSpPr>
          <p:cNvPr id="5" name="Shape 3"/>
          <p:cNvSpPr/>
          <p:nvPr/>
        </p:nvSpPr>
        <p:spPr>
          <a:xfrm>
            <a:off x="787756" y="1444752"/>
            <a:ext cx="384048" cy="384048"/>
          </a:xfrm>
          <a:prstGeom prst="ellipse">
            <a:avLst/>
          </a:prstGeom>
          <a:solidFill>
            <a:srgbClr val="E8A33D"/>
          </a:solidFill>
          <a:ln w="15875">
            <a:solidFill>
              <a:srgbClr val="F5C161"/>
            </a:solidFill>
            <a:prstDash val="solid"/>
          </a:ln>
        </p:spPr>
      </p:sp>
      <p:sp>
        <p:nvSpPr>
          <p:cNvPr id="6" name="Text 4"/>
          <p:cNvSpPr/>
          <p:nvPr/>
        </p:nvSpPr>
        <p:spPr>
          <a:xfrm>
            <a:off x="787756" y="144475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1263244" y="1408176"/>
            <a:ext cx="274320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Full-stack platform</a:t>
            </a:r>
            <a:endParaRPr lang="en-US" sz="1600" dirty="0"/>
          </a:p>
        </p:txBody>
      </p:sp>
      <p:sp>
        <p:nvSpPr>
          <p:cNvPr id="8" name="Text 6"/>
          <p:cNvSpPr/>
          <p:nvPr/>
        </p:nvSpPr>
        <p:spPr>
          <a:xfrm>
            <a:off x="842620" y="1901952"/>
            <a:ext cx="3063240" cy="148132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React 19 SPA + Hono backend + Drizzle/PostgreSQL + Graphile Worker. 16 tables across 5 functional groups; 83 endpoints across 11 route modules.</a:t>
            </a:r>
            <a:endParaRPr lang="en-US" sz="1300" dirty="0"/>
          </a:p>
        </p:txBody>
      </p:sp>
      <p:sp>
        <p:nvSpPr>
          <p:cNvPr id="9" name="Shape 7"/>
          <p:cNvSpPr/>
          <p:nvPr/>
        </p:nvSpPr>
        <p:spPr>
          <a:xfrm>
            <a:off x="4335628" y="1280160"/>
            <a:ext cx="3520440" cy="2194560"/>
          </a:xfrm>
          <a:prstGeom prst="roundRect">
            <a:avLst>
              <a:gd name="adj" fmla="val 5000"/>
            </a:avLst>
          </a:prstGeom>
          <a:solidFill>
            <a:srgbClr val="1A1D24"/>
          </a:solidFill>
          <a:ln w="9525">
            <a:solidFill>
              <a:srgbClr val="2D3138"/>
            </a:solidFill>
            <a:prstDash val="solid"/>
          </a:ln>
        </p:spPr>
      </p:sp>
      <p:sp>
        <p:nvSpPr>
          <p:cNvPr id="10" name="Shape 8"/>
          <p:cNvSpPr/>
          <p:nvPr/>
        </p:nvSpPr>
        <p:spPr>
          <a:xfrm>
            <a:off x="4536796" y="1444752"/>
            <a:ext cx="384048" cy="384048"/>
          </a:xfrm>
          <a:prstGeom prst="ellipse">
            <a:avLst/>
          </a:prstGeom>
          <a:solidFill>
            <a:srgbClr val="E8A33D"/>
          </a:solidFill>
          <a:ln w="15875">
            <a:solidFill>
              <a:srgbClr val="F5C161"/>
            </a:solidFill>
            <a:prstDash val="solid"/>
          </a:ln>
        </p:spPr>
      </p:sp>
      <p:sp>
        <p:nvSpPr>
          <p:cNvPr id="11" name="Text 9"/>
          <p:cNvSpPr/>
          <p:nvPr/>
        </p:nvSpPr>
        <p:spPr>
          <a:xfrm>
            <a:off x="4536796" y="144475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02</a:t>
            </a:r>
            <a:endParaRPr lang="en-US" sz="1300" dirty="0"/>
          </a:p>
        </p:txBody>
      </p:sp>
      <p:sp>
        <p:nvSpPr>
          <p:cNvPr id="12" name="Text 10"/>
          <p:cNvSpPr/>
          <p:nvPr/>
        </p:nvSpPr>
        <p:spPr>
          <a:xfrm>
            <a:off x="5012284" y="1408176"/>
            <a:ext cx="274320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AI grading pipeline</a:t>
            </a:r>
            <a:endParaRPr lang="en-US" sz="1600" dirty="0"/>
          </a:p>
        </p:txBody>
      </p:sp>
      <p:sp>
        <p:nvSpPr>
          <p:cNvPr id="13" name="Text 11"/>
          <p:cNvSpPr/>
          <p:nvPr/>
        </p:nvSpPr>
        <p:spPr>
          <a:xfrm>
            <a:off x="4591660" y="1901952"/>
            <a:ext cx="3063240" cy="148132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Provider-agnostic factory (OpenAI / Anthropic / Google), dual-modality prompting, Zod-validated structured output with score clamping, human-in-the-loop accept/reject.</a:t>
            </a:r>
            <a:endParaRPr lang="en-US" sz="1300" dirty="0"/>
          </a:p>
        </p:txBody>
      </p:sp>
      <p:sp>
        <p:nvSpPr>
          <p:cNvPr id="14" name="Shape 12"/>
          <p:cNvSpPr/>
          <p:nvPr/>
        </p:nvSpPr>
        <p:spPr>
          <a:xfrm>
            <a:off x="8084668" y="1280160"/>
            <a:ext cx="3520440" cy="2194560"/>
          </a:xfrm>
          <a:prstGeom prst="roundRect">
            <a:avLst>
              <a:gd name="adj" fmla="val 5000"/>
            </a:avLst>
          </a:prstGeom>
          <a:solidFill>
            <a:srgbClr val="1A1D24"/>
          </a:solidFill>
          <a:ln w="9525">
            <a:solidFill>
              <a:srgbClr val="2D3138"/>
            </a:solidFill>
            <a:prstDash val="solid"/>
          </a:ln>
        </p:spPr>
      </p:sp>
      <p:sp>
        <p:nvSpPr>
          <p:cNvPr id="15" name="Shape 13"/>
          <p:cNvSpPr/>
          <p:nvPr/>
        </p:nvSpPr>
        <p:spPr>
          <a:xfrm>
            <a:off x="8285836" y="1444752"/>
            <a:ext cx="384048" cy="384048"/>
          </a:xfrm>
          <a:prstGeom prst="ellipse">
            <a:avLst/>
          </a:prstGeom>
          <a:solidFill>
            <a:srgbClr val="E8A33D"/>
          </a:solidFill>
          <a:ln w="15875">
            <a:solidFill>
              <a:srgbClr val="F5C161"/>
            </a:solidFill>
            <a:prstDash val="solid"/>
          </a:ln>
        </p:spPr>
      </p:sp>
      <p:sp>
        <p:nvSpPr>
          <p:cNvPr id="16" name="Text 14"/>
          <p:cNvSpPr/>
          <p:nvPr/>
        </p:nvSpPr>
        <p:spPr>
          <a:xfrm>
            <a:off x="8285836" y="144475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03</a:t>
            </a:r>
            <a:endParaRPr lang="en-US" sz="1300" dirty="0"/>
          </a:p>
        </p:txBody>
      </p:sp>
      <p:sp>
        <p:nvSpPr>
          <p:cNvPr id="17" name="Text 15"/>
          <p:cNvSpPr/>
          <p:nvPr/>
        </p:nvSpPr>
        <p:spPr>
          <a:xfrm>
            <a:off x="8761324" y="1408176"/>
            <a:ext cx="274320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Custom UML editor &amp; viewer</a:t>
            </a:r>
            <a:endParaRPr lang="en-US" sz="1600" dirty="0"/>
          </a:p>
        </p:txBody>
      </p:sp>
      <p:sp>
        <p:nvSpPr>
          <p:cNvPr id="18" name="Text 16"/>
          <p:cNvSpPr/>
          <p:nvPr/>
        </p:nvSpPr>
        <p:spPr>
          <a:xfrm>
            <a:off x="8340700" y="1901952"/>
            <a:ext cx="3063240" cy="148132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React Flow with custom UML node/edge types. Structured JSON ↔ PlantUML DSL ↔ rendered PNG; no off-the-shelf option fit dual-modality.</a:t>
            </a:r>
            <a:endParaRPr lang="en-US" sz="1300" dirty="0"/>
          </a:p>
        </p:txBody>
      </p:sp>
      <p:sp>
        <p:nvSpPr>
          <p:cNvPr id="19" name="Shape 17"/>
          <p:cNvSpPr/>
          <p:nvPr/>
        </p:nvSpPr>
        <p:spPr>
          <a:xfrm>
            <a:off x="2461108" y="3703320"/>
            <a:ext cx="3520440" cy="2194560"/>
          </a:xfrm>
          <a:prstGeom prst="roundRect">
            <a:avLst>
              <a:gd name="adj" fmla="val 5000"/>
            </a:avLst>
          </a:prstGeom>
          <a:solidFill>
            <a:srgbClr val="1A1D24"/>
          </a:solidFill>
          <a:ln w="9525">
            <a:solidFill>
              <a:srgbClr val="2D3138"/>
            </a:solidFill>
            <a:prstDash val="solid"/>
          </a:ln>
        </p:spPr>
      </p:sp>
      <p:sp>
        <p:nvSpPr>
          <p:cNvPr id="20" name="Shape 18"/>
          <p:cNvSpPr/>
          <p:nvPr/>
        </p:nvSpPr>
        <p:spPr>
          <a:xfrm>
            <a:off x="2662276" y="3867912"/>
            <a:ext cx="384048" cy="384048"/>
          </a:xfrm>
          <a:prstGeom prst="ellipse">
            <a:avLst/>
          </a:prstGeom>
          <a:solidFill>
            <a:srgbClr val="E8A33D"/>
          </a:solidFill>
          <a:ln w="15875">
            <a:solidFill>
              <a:srgbClr val="F5C161"/>
            </a:solidFill>
            <a:prstDash val="solid"/>
          </a:ln>
        </p:spPr>
      </p:sp>
      <p:sp>
        <p:nvSpPr>
          <p:cNvPr id="21" name="Text 19"/>
          <p:cNvSpPr/>
          <p:nvPr/>
        </p:nvSpPr>
        <p:spPr>
          <a:xfrm>
            <a:off x="2662276" y="386791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04</a:t>
            </a:r>
            <a:endParaRPr lang="en-US" sz="1300" dirty="0"/>
          </a:p>
        </p:txBody>
      </p:sp>
      <p:sp>
        <p:nvSpPr>
          <p:cNvPr id="22" name="Text 20"/>
          <p:cNvSpPr/>
          <p:nvPr/>
        </p:nvSpPr>
        <p:spPr>
          <a:xfrm>
            <a:off x="3137764" y="3831336"/>
            <a:ext cx="274320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Empirical LLM evaluation</a:t>
            </a:r>
            <a:endParaRPr lang="en-US" sz="1600" dirty="0"/>
          </a:p>
        </p:txBody>
      </p:sp>
      <p:sp>
        <p:nvSpPr>
          <p:cNvPr id="23" name="Text 21"/>
          <p:cNvSpPr/>
          <p:nvPr/>
        </p:nvSpPr>
        <p:spPr>
          <a:xfrm>
            <a:off x="2717140" y="4325112"/>
            <a:ext cx="3063240" cy="148132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6 models × 32 submissions × 5 runs = 960 API calls. Weighted aggregate across accuracy, consistency, cost, feedback, speed, rubric adherence.</a:t>
            </a:r>
            <a:endParaRPr lang="en-US" sz="1300" dirty="0"/>
          </a:p>
        </p:txBody>
      </p:sp>
      <p:sp>
        <p:nvSpPr>
          <p:cNvPr id="24" name="Shape 22"/>
          <p:cNvSpPr/>
          <p:nvPr/>
        </p:nvSpPr>
        <p:spPr>
          <a:xfrm>
            <a:off x="6210148" y="3703320"/>
            <a:ext cx="3520440" cy="2194560"/>
          </a:xfrm>
          <a:prstGeom prst="roundRect">
            <a:avLst>
              <a:gd name="adj" fmla="val 5000"/>
            </a:avLst>
          </a:prstGeom>
          <a:solidFill>
            <a:srgbClr val="1A1D24"/>
          </a:solidFill>
          <a:ln w="9525">
            <a:solidFill>
              <a:srgbClr val="2D3138"/>
            </a:solidFill>
            <a:prstDash val="solid"/>
          </a:ln>
        </p:spPr>
      </p:sp>
      <p:sp>
        <p:nvSpPr>
          <p:cNvPr id="25" name="Shape 23"/>
          <p:cNvSpPr/>
          <p:nvPr/>
        </p:nvSpPr>
        <p:spPr>
          <a:xfrm>
            <a:off x="6411316" y="3867912"/>
            <a:ext cx="384048" cy="384048"/>
          </a:xfrm>
          <a:prstGeom prst="ellipse">
            <a:avLst/>
          </a:prstGeom>
          <a:solidFill>
            <a:srgbClr val="E8A33D"/>
          </a:solidFill>
          <a:ln w="15875">
            <a:solidFill>
              <a:srgbClr val="F5C161"/>
            </a:solidFill>
            <a:prstDash val="solid"/>
          </a:ln>
        </p:spPr>
      </p:sp>
      <p:sp>
        <p:nvSpPr>
          <p:cNvPr id="26" name="Text 24"/>
          <p:cNvSpPr/>
          <p:nvPr/>
        </p:nvSpPr>
        <p:spPr>
          <a:xfrm>
            <a:off x="6411316" y="386791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05</a:t>
            </a:r>
            <a:endParaRPr lang="en-US" sz="1300" dirty="0"/>
          </a:p>
        </p:txBody>
      </p:sp>
      <p:sp>
        <p:nvSpPr>
          <p:cNvPr id="27" name="Text 25"/>
          <p:cNvSpPr/>
          <p:nvPr/>
        </p:nvSpPr>
        <p:spPr>
          <a:xfrm>
            <a:off x="6886804" y="3831336"/>
            <a:ext cx="274320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Containerised deployment</a:t>
            </a:r>
            <a:endParaRPr lang="en-US" sz="1600" dirty="0"/>
          </a:p>
        </p:txBody>
      </p:sp>
      <p:sp>
        <p:nvSpPr>
          <p:cNvPr id="28" name="Text 26"/>
          <p:cNvSpPr/>
          <p:nvPr/>
        </p:nvSpPr>
        <p:spPr>
          <a:xfrm>
            <a:off x="6466180" y="4325112"/>
            <a:ext cx="3063240" cy="148132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Multi-stage Docker on Node 20 Alpine + Kubernetes manifests with HPA on web tier, single-replica worker.</a:t>
            </a:r>
            <a:endParaRPr lang="en-US" sz="1300" dirty="0"/>
          </a:p>
        </p:txBody>
      </p:sp>
      <p:sp>
        <p:nvSpPr>
          <p:cNvPr id="29" name="Shape 27"/>
          <p:cNvSpPr/>
          <p:nvPr/>
        </p:nvSpPr>
        <p:spPr>
          <a:xfrm>
            <a:off x="457200" y="6519672"/>
            <a:ext cx="11277295" cy="0"/>
          </a:xfrm>
          <a:prstGeom prst="line">
            <a:avLst/>
          </a:prstGeom>
          <a:noFill/>
          <a:ln w="9525">
            <a:solidFill>
              <a:srgbClr val="2D3138"/>
            </a:solidFill>
            <a:prstDash val="solid"/>
          </a:ln>
        </p:spPr>
      </p:sp>
      <p:sp>
        <p:nvSpPr>
          <p:cNvPr id="30" name="Text 28"/>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31" name="Text 29"/>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7 / 33</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D11"/>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w="12700">
            <a:solidFill>
              <a:srgbClr val="E8A33D"/>
            </a:solidFill>
            <a:prstDash val="solid"/>
          </a:ln>
        </p:spPr>
      </p:sp>
      <p:sp>
        <p:nvSpPr>
          <p:cNvPr id="3" name="Text 1"/>
          <p:cNvSpPr/>
          <p:nvPr/>
        </p:nvSpPr>
        <p:spPr>
          <a:xfrm>
            <a:off x="731520" y="1371600"/>
            <a:ext cx="5486400" cy="3200400"/>
          </a:xfrm>
          <a:prstGeom prst="rect">
            <a:avLst/>
          </a:prstGeom>
          <a:noFill/>
          <a:ln/>
        </p:spPr>
        <p:txBody>
          <a:bodyPr wrap="square" lIns="0" tIns="0" rIns="0" bIns="0" rtlCol="0" anchor="ctr"/>
          <a:lstStyle/>
          <a:p>
            <a:pPr algn="l" indent="0" marL="0">
              <a:buNone/>
            </a:pPr>
            <a:r>
              <a:rPr lang="en-US" sz="22000" b="1" spc="-800" kern="0" dirty="0">
                <a:solidFill>
                  <a:srgbClr val="E8A33D"/>
                </a:solidFill>
                <a:latin typeface="Calibri" pitchFamily="34" charset="0"/>
                <a:ea typeface="Calibri" pitchFamily="34" charset="-122"/>
                <a:cs typeface="Calibri" pitchFamily="34" charset="-120"/>
              </a:rPr>
              <a:t>02</a:t>
            </a:r>
            <a:endParaRPr lang="en-US" sz="22000" dirty="0"/>
          </a:p>
        </p:txBody>
      </p:sp>
      <p:sp>
        <p:nvSpPr>
          <p:cNvPr id="4" name="Text 2"/>
          <p:cNvSpPr/>
          <p:nvPr/>
        </p:nvSpPr>
        <p:spPr>
          <a:xfrm>
            <a:off x="777240" y="4297680"/>
            <a:ext cx="2743200" cy="365760"/>
          </a:xfrm>
          <a:prstGeom prst="rect">
            <a:avLst/>
          </a:prstGeom>
          <a:noFill/>
          <a:ln/>
        </p:spPr>
        <p:txBody>
          <a:bodyPr wrap="square" lIns="0" tIns="0" rIns="0" bIns="0" rtlCol="0" anchor="ctr"/>
          <a:lstStyle/>
          <a:p>
            <a:pPr algn="l" indent="0" marL="0">
              <a:buNone/>
            </a:pPr>
            <a:r>
              <a:rPr lang="en-US" sz="1400" b="1" spc="800" kern="0" dirty="0">
                <a:solidFill>
                  <a:srgbClr val="6B7280"/>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777240" y="4617720"/>
            <a:ext cx="10972800" cy="822960"/>
          </a:xfrm>
          <a:prstGeom prst="rect">
            <a:avLst/>
          </a:prstGeom>
          <a:noFill/>
          <a:ln/>
        </p:spPr>
        <p:txBody>
          <a:bodyPr wrap="square" lIns="0" tIns="0" rIns="0" bIns="0" rtlCol="0" anchor="ctr"/>
          <a:lstStyle/>
          <a:p>
            <a:pPr algn="l" indent="0" marL="0">
              <a:buNone/>
            </a:pPr>
            <a:r>
              <a:rPr lang="en-US" sz="4400" b="1" dirty="0">
                <a:solidFill>
                  <a:srgbClr val="F4F4F5"/>
                </a:solidFill>
                <a:latin typeface="Calibri" pitchFamily="34" charset="0"/>
                <a:ea typeface="Calibri" pitchFamily="34" charset="-122"/>
                <a:cs typeface="Calibri" pitchFamily="34" charset="-120"/>
              </a:rPr>
              <a:t>Demo</a:t>
            </a:r>
            <a:endParaRPr lang="en-US" sz="4400" dirty="0"/>
          </a:p>
        </p:txBody>
      </p:sp>
      <p:pic>
        <p:nvPicPr>
          <p:cNvPr id="6" name="Image 0" descr="preencoded.png">    </p:cNvPr>
          <p:cNvPicPr>
            <a:picLocks noChangeAspect="1"/>
          </p:cNvPicPr>
          <p:nvPr/>
        </p:nvPicPr>
        <p:blipFill>
          <a:blip r:embed="rId1">
            <a:alphaModFix amt="70000"/>
          </a:blip>
          <a:stretch>
            <a:fillRect/>
          </a:stretch>
        </p:blipFill>
        <p:spPr>
          <a:xfrm>
            <a:off x="9082735" y="914400"/>
            <a:ext cx="2377440" cy="2377440"/>
          </a:xfrm>
          <a:prstGeom prst="rect">
            <a:avLst/>
          </a:prstGeom>
        </p:spPr>
      </p:pic>
      <p:sp>
        <p:nvSpPr>
          <p:cNvPr id="7" name="Shape 4"/>
          <p:cNvSpPr/>
          <p:nvPr/>
        </p:nvSpPr>
        <p:spPr>
          <a:xfrm>
            <a:off x="777240" y="5852160"/>
            <a:ext cx="5943600" cy="0"/>
          </a:xfrm>
          <a:prstGeom prst="line">
            <a:avLst/>
          </a:prstGeom>
          <a:noFill/>
          <a:ln w="19050">
            <a:solidFill>
              <a:srgbClr val="E8A33D"/>
            </a:solidFill>
            <a:prstDash val="solid"/>
          </a:ln>
        </p:spPr>
      </p:sp>
      <p:sp>
        <p:nvSpPr>
          <p:cNvPr id="8" name="Text 5"/>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9" name="Text 6"/>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8 / 33</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Demo</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Shape 2"/>
          <p:cNvSpPr/>
          <p:nvPr/>
        </p:nvSpPr>
        <p:spPr>
          <a:xfrm>
            <a:off x="3200400" y="1325880"/>
            <a:ext cx="5852160" cy="3657600"/>
          </a:xfrm>
          <a:prstGeom prst="roundRect">
            <a:avLst>
              <a:gd name="adj" fmla="val 3000"/>
            </a:avLst>
          </a:prstGeom>
          <a:solidFill>
            <a:srgbClr val="000000"/>
          </a:solidFill>
          <a:ln w="12700">
            <a:solidFill>
              <a:srgbClr val="E8A33D"/>
            </a:solidFill>
            <a:prstDash val="solid"/>
          </a:ln>
        </p:spPr>
      </p:sp>
      <p:sp>
        <p:nvSpPr>
          <p:cNvPr id="5" name="Shape 3"/>
          <p:cNvSpPr/>
          <p:nvPr/>
        </p:nvSpPr>
        <p:spPr>
          <a:xfrm>
            <a:off x="5623560" y="2423160"/>
            <a:ext cx="1005840" cy="1005840"/>
          </a:xfrm>
          <a:prstGeom prst="ellipse">
            <a:avLst/>
          </a:prstGeom>
          <a:solidFill>
            <a:srgbClr val="E8A33D"/>
          </a:solidFill>
          <a:ln w="19050">
            <a:solidFill>
              <a:srgbClr val="F5C161"/>
            </a:solidFill>
            <a:prstDash val="solid"/>
          </a:ln>
        </p:spPr>
      </p:sp>
      <p:pic>
        <p:nvPicPr>
          <p:cNvPr id="6" name="Image 0" descr="preencoded.png">    </p:cNvPr>
          <p:cNvPicPr>
            <a:picLocks noChangeAspect="1"/>
          </p:cNvPicPr>
          <p:nvPr/>
        </p:nvPicPr>
        <p:blipFill>
          <a:blip r:embed="rId1"/>
          <a:stretch>
            <a:fillRect/>
          </a:stretch>
        </p:blipFill>
        <p:spPr>
          <a:xfrm>
            <a:off x="5879592" y="2679192"/>
            <a:ext cx="493776" cy="493776"/>
          </a:xfrm>
          <a:prstGeom prst="rect">
            <a:avLst/>
          </a:prstGeom>
        </p:spPr>
      </p:pic>
      <p:sp>
        <p:nvSpPr>
          <p:cNvPr id="7" name="Text 4"/>
          <p:cNvSpPr/>
          <p:nvPr/>
        </p:nvSpPr>
        <p:spPr>
          <a:xfrm>
            <a:off x="3200400" y="4297680"/>
            <a:ext cx="5852160" cy="384048"/>
          </a:xfrm>
          <a:prstGeom prst="rect">
            <a:avLst/>
          </a:prstGeom>
          <a:noFill/>
          <a:ln/>
        </p:spPr>
        <p:txBody>
          <a:bodyPr wrap="square" lIns="0" tIns="0" rIns="0" bIns="0" rtlCol="0" anchor="ctr"/>
          <a:lstStyle/>
          <a:p>
            <a:pPr algn="ctr" indent="0" marL="0">
              <a:buNone/>
            </a:pPr>
            <a:r>
              <a:rPr lang="en-US" sz="1500" i="1" dirty="0">
                <a:solidFill>
                  <a:srgbClr val="B0B5BD"/>
                </a:solidFill>
                <a:latin typeface="Calibri" pitchFamily="34" charset="0"/>
                <a:ea typeface="Calibri" pitchFamily="34" charset="-122"/>
                <a:cs typeface="Calibri" pitchFamily="34" charset="-120"/>
              </a:rPr>
              <a:t>Demo video plays here  ·  ~3 min</a:t>
            </a:r>
            <a:endParaRPr lang="en-US" sz="1500" dirty="0"/>
          </a:p>
        </p:txBody>
      </p:sp>
      <p:sp>
        <p:nvSpPr>
          <p:cNvPr id="8" name="Text 5"/>
          <p:cNvSpPr/>
          <p:nvPr/>
        </p:nvSpPr>
        <p:spPr>
          <a:xfrm>
            <a:off x="3200400" y="4654296"/>
            <a:ext cx="5852160" cy="292608"/>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openscreen-edited · annotations + highlights</a:t>
            </a:r>
            <a:endParaRPr lang="en-US" sz="1200" dirty="0"/>
          </a:p>
        </p:txBody>
      </p:sp>
      <p:sp>
        <p:nvSpPr>
          <p:cNvPr id="9" name="Shape 6"/>
          <p:cNvSpPr/>
          <p:nvPr/>
        </p:nvSpPr>
        <p:spPr>
          <a:xfrm>
            <a:off x="2953512" y="1673352"/>
            <a:ext cx="164592" cy="164592"/>
          </a:xfrm>
          <a:prstGeom prst="ellipse">
            <a:avLst/>
          </a:prstGeom>
          <a:solidFill>
            <a:srgbClr val="E8A33D"/>
          </a:solidFill>
          <a:ln w="12700">
            <a:solidFill>
              <a:srgbClr val="E8A33D"/>
            </a:solidFill>
            <a:prstDash val="solid"/>
          </a:ln>
        </p:spPr>
      </p:sp>
      <p:sp>
        <p:nvSpPr>
          <p:cNvPr id="10" name="Text 7"/>
          <p:cNvSpPr/>
          <p:nvPr/>
        </p:nvSpPr>
        <p:spPr>
          <a:xfrm>
            <a:off x="365760" y="1508760"/>
            <a:ext cx="2468880" cy="502920"/>
          </a:xfrm>
          <a:prstGeom prst="rect">
            <a:avLst/>
          </a:prstGeom>
          <a:noFill/>
          <a:ln/>
        </p:spPr>
        <p:txBody>
          <a:bodyPr wrap="square" lIns="0" tIns="0" rIns="0" bIns="0" rtlCol="0" anchor="ctr"/>
          <a:lstStyle/>
          <a:p>
            <a:pPr algn="r" indent="0" marL="0">
              <a:buNone/>
            </a:pPr>
            <a:r>
              <a:rPr lang="en-US" sz="1350" dirty="0">
                <a:solidFill>
                  <a:srgbClr val="F4F4F5"/>
                </a:solidFill>
                <a:latin typeface="Calibri" pitchFamily="34" charset="0"/>
                <a:ea typeface="Calibri" pitchFamily="34" charset="-122"/>
                <a:cs typeface="Calibri" pitchFamily="34" charset="-120"/>
              </a:rPr>
              <a:t>Course management &amp; CSV roster</a:t>
            </a:r>
            <a:endParaRPr lang="en-US" sz="1350" dirty="0"/>
          </a:p>
        </p:txBody>
      </p:sp>
      <p:sp>
        <p:nvSpPr>
          <p:cNvPr id="11" name="Shape 8"/>
          <p:cNvSpPr/>
          <p:nvPr/>
        </p:nvSpPr>
        <p:spPr>
          <a:xfrm>
            <a:off x="2953512" y="2331720"/>
            <a:ext cx="164592" cy="164592"/>
          </a:xfrm>
          <a:prstGeom prst="ellipse">
            <a:avLst/>
          </a:prstGeom>
          <a:solidFill>
            <a:srgbClr val="E8A33D"/>
          </a:solidFill>
          <a:ln w="12700">
            <a:solidFill>
              <a:srgbClr val="E8A33D"/>
            </a:solidFill>
            <a:prstDash val="solid"/>
          </a:ln>
        </p:spPr>
      </p:sp>
      <p:sp>
        <p:nvSpPr>
          <p:cNvPr id="12" name="Text 9"/>
          <p:cNvSpPr/>
          <p:nvPr/>
        </p:nvSpPr>
        <p:spPr>
          <a:xfrm>
            <a:off x="365760" y="2167128"/>
            <a:ext cx="2468880" cy="502920"/>
          </a:xfrm>
          <a:prstGeom prst="rect">
            <a:avLst/>
          </a:prstGeom>
          <a:noFill/>
          <a:ln/>
        </p:spPr>
        <p:txBody>
          <a:bodyPr wrap="square" lIns="0" tIns="0" rIns="0" bIns="0" rtlCol="0" anchor="ctr"/>
          <a:lstStyle/>
          <a:p>
            <a:pPr algn="r" indent="0" marL="0">
              <a:buNone/>
            </a:pPr>
            <a:r>
              <a:rPr lang="en-US" sz="1350" dirty="0">
                <a:solidFill>
                  <a:srgbClr val="F4F4F5"/>
                </a:solidFill>
                <a:latin typeface="Calibri" pitchFamily="34" charset="0"/>
                <a:ea typeface="Calibri" pitchFamily="34" charset="-122"/>
                <a:cs typeface="Calibri" pitchFamily="34" charset="-120"/>
              </a:rPr>
              <a:t>Question pool with filtering</a:t>
            </a:r>
            <a:endParaRPr lang="en-US" sz="1350" dirty="0"/>
          </a:p>
        </p:txBody>
      </p:sp>
      <p:sp>
        <p:nvSpPr>
          <p:cNvPr id="13" name="Shape 10"/>
          <p:cNvSpPr/>
          <p:nvPr/>
        </p:nvSpPr>
        <p:spPr>
          <a:xfrm>
            <a:off x="2953512" y="2990088"/>
            <a:ext cx="164592" cy="164592"/>
          </a:xfrm>
          <a:prstGeom prst="ellipse">
            <a:avLst/>
          </a:prstGeom>
          <a:solidFill>
            <a:srgbClr val="E8A33D"/>
          </a:solidFill>
          <a:ln w="12700">
            <a:solidFill>
              <a:srgbClr val="E8A33D"/>
            </a:solidFill>
            <a:prstDash val="solid"/>
          </a:ln>
        </p:spPr>
      </p:sp>
      <p:sp>
        <p:nvSpPr>
          <p:cNvPr id="14" name="Text 11"/>
          <p:cNvSpPr/>
          <p:nvPr/>
        </p:nvSpPr>
        <p:spPr>
          <a:xfrm>
            <a:off x="365760" y="2825496"/>
            <a:ext cx="2468880" cy="502920"/>
          </a:xfrm>
          <a:prstGeom prst="rect">
            <a:avLst/>
          </a:prstGeom>
          <a:noFill/>
          <a:ln/>
        </p:spPr>
        <p:txBody>
          <a:bodyPr wrap="square" lIns="0" tIns="0" rIns="0" bIns="0" rtlCol="0" anchor="ctr"/>
          <a:lstStyle/>
          <a:p>
            <a:pPr algn="r" indent="0" marL="0">
              <a:buNone/>
            </a:pPr>
            <a:r>
              <a:rPr lang="en-US" sz="1350" dirty="0">
                <a:solidFill>
                  <a:srgbClr val="F4F4F5"/>
                </a:solidFill>
                <a:latin typeface="Calibri" pitchFamily="34" charset="0"/>
                <a:ea typeface="Calibri" pitchFamily="34" charset="-122"/>
                <a:cs typeface="Calibri" pitchFamily="34" charset="-120"/>
              </a:rPr>
              <a:t>Assignment builder · timing + focus</a:t>
            </a:r>
            <a:endParaRPr lang="en-US" sz="1350" dirty="0"/>
          </a:p>
        </p:txBody>
      </p:sp>
      <p:sp>
        <p:nvSpPr>
          <p:cNvPr id="15" name="Shape 12"/>
          <p:cNvSpPr/>
          <p:nvPr/>
        </p:nvSpPr>
        <p:spPr>
          <a:xfrm>
            <a:off x="2953512" y="3648456"/>
            <a:ext cx="164592" cy="164592"/>
          </a:xfrm>
          <a:prstGeom prst="ellipse">
            <a:avLst/>
          </a:prstGeom>
          <a:solidFill>
            <a:srgbClr val="E8A33D"/>
          </a:solidFill>
          <a:ln w="12700">
            <a:solidFill>
              <a:srgbClr val="E8A33D"/>
            </a:solidFill>
            <a:prstDash val="solid"/>
          </a:ln>
        </p:spPr>
      </p:sp>
      <p:sp>
        <p:nvSpPr>
          <p:cNvPr id="16" name="Text 13"/>
          <p:cNvSpPr/>
          <p:nvPr/>
        </p:nvSpPr>
        <p:spPr>
          <a:xfrm>
            <a:off x="365760" y="3483864"/>
            <a:ext cx="2468880" cy="502920"/>
          </a:xfrm>
          <a:prstGeom prst="rect">
            <a:avLst/>
          </a:prstGeom>
          <a:noFill/>
          <a:ln/>
        </p:spPr>
        <p:txBody>
          <a:bodyPr wrap="square" lIns="0" tIns="0" rIns="0" bIns="0" rtlCol="0" anchor="ctr"/>
          <a:lstStyle/>
          <a:p>
            <a:pPr algn="r" indent="0" marL="0">
              <a:buNone/>
            </a:pPr>
            <a:r>
              <a:rPr lang="en-US" sz="1350" dirty="0">
                <a:solidFill>
                  <a:srgbClr val="F4F4F5"/>
                </a:solidFill>
                <a:latin typeface="Calibri" pitchFamily="34" charset="0"/>
                <a:ea typeface="Calibri" pitchFamily="34" charset="-122"/>
                <a:cs typeface="Calibri" pitchFamily="34" charset="-120"/>
              </a:rPr>
              <a:t>Two-panel grading interface</a:t>
            </a:r>
            <a:endParaRPr lang="en-US" sz="1350" dirty="0"/>
          </a:p>
        </p:txBody>
      </p:sp>
      <p:sp>
        <p:nvSpPr>
          <p:cNvPr id="17" name="Shape 14"/>
          <p:cNvSpPr/>
          <p:nvPr/>
        </p:nvSpPr>
        <p:spPr>
          <a:xfrm>
            <a:off x="2953512" y="4306824"/>
            <a:ext cx="164592" cy="164592"/>
          </a:xfrm>
          <a:prstGeom prst="ellipse">
            <a:avLst/>
          </a:prstGeom>
          <a:solidFill>
            <a:srgbClr val="E8A33D"/>
          </a:solidFill>
          <a:ln w="12700">
            <a:solidFill>
              <a:srgbClr val="E8A33D"/>
            </a:solidFill>
            <a:prstDash val="solid"/>
          </a:ln>
        </p:spPr>
      </p:sp>
      <p:sp>
        <p:nvSpPr>
          <p:cNvPr id="18" name="Text 15"/>
          <p:cNvSpPr/>
          <p:nvPr/>
        </p:nvSpPr>
        <p:spPr>
          <a:xfrm>
            <a:off x="365760" y="4142232"/>
            <a:ext cx="2468880" cy="502920"/>
          </a:xfrm>
          <a:prstGeom prst="rect">
            <a:avLst/>
          </a:prstGeom>
          <a:noFill/>
          <a:ln/>
        </p:spPr>
        <p:txBody>
          <a:bodyPr wrap="square" lIns="0" tIns="0" rIns="0" bIns="0" rtlCol="0" anchor="ctr"/>
          <a:lstStyle/>
          <a:p>
            <a:pPr algn="r" indent="0" marL="0">
              <a:buNone/>
            </a:pPr>
            <a:r>
              <a:rPr lang="en-US" sz="1350" dirty="0">
                <a:solidFill>
                  <a:srgbClr val="F4F4F5"/>
                </a:solidFill>
                <a:latin typeface="Calibri" pitchFamily="34" charset="0"/>
                <a:ea typeface="Calibri" pitchFamily="34" charset="-122"/>
                <a:cs typeface="Calibri" pitchFamily="34" charset="-120"/>
              </a:rPr>
              <a:t>Grade override with audit trail</a:t>
            </a:r>
            <a:endParaRPr lang="en-US" sz="1350" dirty="0"/>
          </a:p>
        </p:txBody>
      </p:sp>
      <p:sp>
        <p:nvSpPr>
          <p:cNvPr id="19" name="Shape 16"/>
          <p:cNvSpPr/>
          <p:nvPr/>
        </p:nvSpPr>
        <p:spPr>
          <a:xfrm>
            <a:off x="9134856" y="1673352"/>
            <a:ext cx="164592" cy="164592"/>
          </a:xfrm>
          <a:prstGeom prst="ellipse">
            <a:avLst/>
          </a:prstGeom>
          <a:solidFill>
            <a:srgbClr val="E8A33D"/>
          </a:solidFill>
          <a:ln w="12700">
            <a:solidFill>
              <a:srgbClr val="E8A33D"/>
            </a:solidFill>
            <a:prstDash val="solid"/>
          </a:ln>
        </p:spPr>
      </p:sp>
      <p:sp>
        <p:nvSpPr>
          <p:cNvPr id="20" name="Text 17"/>
          <p:cNvSpPr/>
          <p:nvPr/>
        </p:nvSpPr>
        <p:spPr>
          <a:xfrm>
            <a:off x="9418320" y="1508760"/>
            <a:ext cx="2468880" cy="502920"/>
          </a:xfrm>
          <a:prstGeom prst="rect">
            <a:avLst/>
          </a:prstGeom>
          <a:noFill/>
          <a:ln/>
        </p:spPr>
        <p:txBody>
          <a:bodyPr wrap="square" lIns="0" tIns="0" rIns="0" bIns="0" rtlCol="0" anchor="ctr"/>
          <a:lstStyle/>
          <a:p>
            <a:pPr algn="l" indent="0" marL="0">
              <a:buNone/>
            </a:pPr>
            <a:r>
              <a:rPr lang="en-US" sz="1350" dirty="0">
                <a:solidFill>
                  <a:srgbClr val="F4F4F5"/>
                </a:solidFill>
                <a:latin typeface="Calibri" pitchFamily="34" charset="0"/>
                <a:ea typeface="Calibri" pitchFamily="34" charset="-122"/>
                <a:cs typeface="Calibri" pitchFamily="34" charset="-120"/>
              </a:rPr>
              <a:t>Student attempt · auto-save 30s</a:t>
            </a:r>
            <a:endParaRPr lang="en-US" sz="1350" dirty="0"/>
          </a:p>
        </p:txBody>
      </p:sp>
      <p:sp>
        <p:nvSpPr>
          <p:cNvPr id="21" name="Shape 18"/>
          <p:cNvSpPr/>
          <p:nvPr/>
        </p:nvSpPr>
        <p:spPr>
          <a:xfrm>
            <a:off x="9134856" y="2331720"/>
            <a:ext cx="164592" cy="164592"/>
          </a:xfrm>
          <a:prstGeom prst="ellipse">
            <a:avLst/>
          </a:prstGeom>
          <a:solidFill>
            <a:srgbClr val="E8A33D"/>
          </a:solidFill>
          <a:ln w="12700">
            <a:solidFill>
              <a:srgbClr val="E8A33D"/>
            </a:solidFill>
            <a:prstDash val="solid"/>
          </a:ln>
        </p:spPr>
      </p:sp>
      <p:sp>
        <p:nvSpPr>
          <p:cNvPr id="22" name="Text 19"/>
          <p:cNvSpPr/>
          <p:nvPr/>
        </p:nvSpPr>
        <p:spPr>
          <a:xfrm>
            <a:off x="9418320" y="2167128"/>
            <a:ext cx="2468880" cy="502920"/>
          </a:xfrm>
          <a:prstGeom prst="rect">
            <a:avLst/>
          </a:prstGeom>
          <a:noFill/>
          <a:ln/>
        </p:spPr>
        <p:txBody>
          <a:bodyPr wrap="square" lIns="0" tIns="0" rIns="0" bIns="0" rtlCol="0" anchor="ctr"/>
          <a:lstStyle/>
          <a:p>
            <a:pPr algn="l" indent="0" marL="0">
              <a:buNone/>
            </a:pPr>
            <a:r>
              <a:rPr lang="en-US" sz="1350" dirty="0">
                <a:solidFill>
                  <a:srgbClr val="F4F4F5"/>
                </a:solidFill>
                <a:latin typeface="Calibri" pitchFamily="34" charset="0"/>
                <a:ea typeface="Calibri" pitchFamily="34" charset="-122"/>
                <a:cs typeface="Calibri" pitchFamily="34" charset="-120"/>
              </a:rPr>
              <a:t>Focus monitoring · auto-submit</a:t>
            </a:r>
            <a:endParaRPr lang="en-US" sz="1350" dirty="0"/>
          </a:p>
        </p:txBody>
      </p:sp>
      <p:sp>
        <p:nvSpPr>
          <p:cNvPr id="23" name="Shape 20"/>
          <p:cNvSpPr/>
          <p:nvPr/>
        </p:nvSpPr>
        <p:spPr>
          <a:xfrm>
            <a:off x="9134856" y="2990088"/>
            <a:ext cx="164592" cy="164592"/>
          </a:xfrm>
          <a:prstGeom prst="ellipse">
            <a:avLst/>
          </a:prstGeom>
          <a:solidFill>
            <a:srgbClr val="E8A33D"/>
          </a:solidFill>
          <a:ln w="12700">
            <a:solidFill>
              <a:srgbClr val="E8A33D"/>
            </a:solidFill>
            <a:prstDash val="solid"/>
          </a:ln>
        </p:spPr>
      </p:sp>
      <p:sp>
        <p:nvSpPr>
          <p:cNvPr id="24" name="Text 21"/>
          <p:cNvSpPr/>
          <p:nvPr/>
        </p:nvSpPr>
        <p:spPr>
          <a:xfrm>
            <a:off x="9418320" y="2825496"/>
            <a:ext cx="2468880" cy="502920"/>
          </a:xfrm>
          <a:prstGeom prst="rect">
            <a:avLst/>
          </a:prstGeom>
          <a:noFill/>
          <a:ln/>
        </p:spPr>
        <p:txBody>
          <a:bodyPr wrap="square" lIns="0" tIns="0" rIns="0" bIns="0" rtlCol="0" anchor="ctr"/>
          <a:lstStyle/>
          <a:p>
            <a:pPr algn="l" indent="0" marL="0">
              <a:buNone/>
            </a:pPr>
            <a:r>
              <a:rPr lang="en-US" sz="1350" dirty="0">
                <a:solidFill>
                  <a:srgbClr val="F4F4F5"/>
                </a:solidFill>
                <a:latin typeface="Calibri" pitchFamily="34" charset="0"/>
                <a:ea typeface="Calibri" pitchFamily="34" charset="-122"/>
                <a:cs typeface="Calibri" pitchFamily="34" charset="-120"/>
              </a:rPr>
              <a:t>AI grading: written + UML</a:t>
            </a:r>
            <a:endParaRPr lang="en-US" sz="1350" dirty="0"/>
          </a:p>
        </p:txBody>
      </p:sp>
      <p:sp>
        <p:nvSpPr>
          <p:cNvPr id="25" name="Shape 22"/>
          <p:cNvSpPr/>
          <p:nvPr/>
        </p:nvSpPr>
        <p:spPr>
          <a:xfrm>
            <a:off x="9134856" y="3648456"/>
            <a:ext cx="164592" cy="164592"/>
          </a:xfrm>
          <a:prstGeom prst="ellipse">
            <a:avLst/>
          </a:prstGeom>
          <a:solidFill>
            <a:srgbClr val="E8A33D"/>
          </a:solidFill>
          <a:ln w="12700">
            <a:solidFill>
              <a:srgbClr val="E8A33D"/>
            </a:solidFill>
            <a:prstDash val="solid"/>
          </a:ln>
        </p:spPr>
      </p:sp>
      <p:sp>
        <p:nvSpPr>
          <p:cNvPr id="26" name="Text 23"/>
          <p:cNvSpPr/>
          <p:nvPr/>
        </p:nvSpPr>
        <p:spPr>
          <a:xfrm>
            <a:off x="9418320" y="3483864"/>
            <a:ext cx="2468880" cy="502920"/>
          </a:xfrm>
          <a:prstGeom prst="rect">
            <a:avLst/>
          </a:prstGeom>
          <a:noFill/>
          <a:ln/>
        </p:spPr>
        <p:txBody>
          <a:bodyPr wrap="square" lIns="0" tIns="0" rIns="0" bIns="0" rtlCol="0" anchor="ctr"/>
          <a:lstStyle/>
          <a:p>
            <a:pPr algn="l" indent="0" marL="0">
              <a:buNone/>
            </a:pPr>
            <a:r>
              <a:rPr lang="en-US" sz="1350" dirty="0">
                <a:solidFill>
                  <a:srgbClr val="F4F4F5"/>
                </a:solidFill>
                <a:latin typeface="Calibri" pitchFamily="34" charset="0"/>
                <a:ea typeface="Calibri" pitchFamily="34" charset="-122"/>
                <a:cs typeface="Calibri" pitchFamily="34" charset="-120"/>
              </a:rPr>
              <a:t>Accept / reject AI suggestions</a:t>
            </a:r>
            <a:endParaRPr lang="en-US" sz="1350" dirty="0"/>
          </a:p>
        </p:txBody>
      </p:sp>
      <p:sp>
        <p:nvSpPr>
          <p:cNvPr id="27" name="Shape 24"/>
          <p:cNvSpPr/>
          <p:nvPr/>
        </p:nvSpPr>
        <p:spPr>
          <a:xfrm>
            <a:off x="9134856" y="4306824"/>
            <a:ext cx="164592" cy="164592"/>
          </a:xfrm>
          <a:prstGeom prst="ellipse">
            <a:avLst/>
          </a:prstGeom>
          <a:solidFill>
            <a:srgbClr val="E8A33D"/>
          </a:solidFill>
          <a:ln w="12700">
            <a:solidFill>
              <a:srgbClr val="E8A33D"/>
            </a:solidFill>
            <a:prstDash val="solid"/>
          </a:ln>
        </p:spPr>
      </p:sp>
      <p:sp>
        <p:nvSpPr>
          <p:cNvPr id="28" name="Text 25"/>
          <p:cNvSpPr/>
          <p:nvPr/>
        </p:nvSpPr>
        <p:spPr>
          <a:xfrm>
            <a:off x="9418320" y="4142232"/>
            <a:ext cx="2468880" cy="502920"/>
          </a:xfrm>
          <a:prstGeom prst="rect">
            <a:avLst/>
          </a:prstGeom>
          <a:noFill/>
          <a:ln/>
        </p:spPr>
        <p:txBody>
          <a:bodyPr wrap="square" lIns="0" tIns="0" rIns="0" bIns="0" rtlCol="0" anchor="ctr"/>
          <a:lstStyle/>
          <a:p>
            <a:pPr algn="l" indent="0" marL="0">
              <a:buNone/>
            </a:pPr>
            <a:r>
              <a:rPr lang="en-US" sz="1350" dirty="0">
                <a:solidFill>
                  <a:srgbClr val="F4F4F5"/>
                </a:solidFill>
                <a:latin typeface="Calibri" pitchFamily="34" charset="0"/>
                <a:ea typeface="Calibri" pitchFamily="34" charset="-122"/>
                <a:cs typeface="Calibri" pitchFamily="34" charset="-120"/>
              </a:rPr>
              <a:t>Cost &amp; token tracking dashboard</a:t>
            </a:r>
            <a:endParaRPr lang="en-US" sz="1350" dirty="0"/>
          </a:p>
        </p:txBody>
      </p:sp>
      <p:sp>
        <p:nvSpPr>
          <p:cNvPr id="29" name="Text 26"/>
          <p:cNvSpPr/>
          <p:nvPr/>
        </p:nvSpPr>
        <p:spPr>
          <a:xfrm>
            <a:off x="548640" y="5486400"/>
            <a:ext cx="11094415" cy="457200"/>
          </a:xfrm>
          <a:prstGeom prst="rect">
            <a:avLst/>
          </a:prstGeom>
          <a:noFill/>
          <a:ln/>
        </p:spPr>
        <p:txBody>
          <a:bodyPr wrap="square" lIns="0" tIns="0" rIns="0" bIns="0" rtlCol="0" anchor="ctr"/>
          <a:lstStyle/>
          <a:p>
            <a:pPr algn="ctr" indent="0" marL="0">
              <a:buNone/>
            </a:pPr>
            <a:r>
              <a:rPr lang="en-US" sz="1450" b="1" dirty="0">
                <a:solidFill>
                  <a:srgbClr val="F5C161"/>
                </a:solidFill>
                <a:latin typeface="Calibri" pitchFamily="34" charset="0"/>
                <a:ea typeface="Calibri" pitchFamily="34" charset="-122"/>
                <a:cs typeface="Calibri" pitchFamily="34" charset="-120"/>
              </a:rPr>
              <a:t>Staff workflow </a:t>
            </a:r>
            <a:pPr algn="ctr" indent="0" marL="0">
              <a:buNone/>
            </a:pPr>
            <a:r>
              <a:rPr lang="en-US" sz="1450" dirty="0">
                <a:solidFill>
                  <a:srgbClr val="B0B5BD"/>
                </a:solidFill>
                <a:latin typeface="Calibri" pitchFamily="34" charset="0"/>
                <a:ea typeface="Calibri" pitchFamily="34" charset="-122"/>
                <a:cs typeface="Calibri" pitchFamily="34" charset="-120"/>
              </a:rPr>
              <a:t>(60s)  →  </a:t>
            </a:r>
            <a:pPr algn="ctr" indent="0" marL="0">
              <a:buNone/>
            </a:pPr>
            <a:r>
              <a:rPr lang="en-US" sz="1450" b="1" dirty="0">
                <a:solidFill>
                  <a:srgbClr val="F5C161"/>
                </a:solidFill>
                <a:latin typeface="Calibri" pitchFamily="34" charset="0"/>
                <a:ea typeface="Calibri" pitchFamily="34" charset="-122"/>
                <a:cs typeface="Calibri" pitchFamily="34" charset="-120"/>
              </a:rPr>
              <a:t>Student workflow </a:t>
            </a:r>
            <a:pPr algn="ctr" indent="0" marL="0">
              <a:buNone/>
            </a:pPr>
            <a:r>
              <a:rPr lang="en-US" sz="1450" dirty="0">
                <a:solidFill>
                  <a:srgbClr val="B0B5BD"/>
                </a:solidFill>
                <a:latin typeface="Calibri" pitchFamily="34" charset="0"/>
                <a:ea typeface="Calibri" pitchFamily="34" charset="-122"/>
                <a:cs typeface="Calibri" pitchFamily="34" charset="-120"/>
              </a:rPr>
              <a:t>(60s)  →  </a:t>
            </a:r>
            <a:pPr algn="ctr" indent="0" marL="0">
              <a:buNone/>
            </a:pPr>
            <a:r>
              <a:rPr lang="en-US" sz="1450" b="1" dirty="0">
                <a:solidFill>
                  <a:srgbClr val="F5C161"/>
                </a:solidFill>
                <a:latin typeface="Calibri" pitchFamily="34" charset="0"/>
                <a:ea typeface="Calibri" pitchFamily="34" charset="-122"/>
                <a:cs typeface="Calibri" pitchFamily="34" charset="-120"/>
              </a:rPr>
              <a:t>Grading loop </a:t>
            </a:r>
            <a:pPr algn="ctr" indent="0" marL="0">
              <a:buNone/>
            </a:pPr>
            <a:r>
              <a:rPr lang="en-US" sz="1450" dirty="0">
                <a:solidFill>
                  <a:srgbClr val="B0B5BD"/>
                </a:solidFill>
                <a:latin typeface="Calibri" pitchFamily="34" charset="0"/>
                <a:ea typeface="Calibri" pitchFamily="34" charset="-122"/>
                <a:cs typeface="Calibri" pitchFamily="34" charset="-120"/>
              </a:rPr>
              <a:t>(60s)</a:t>
            </a:r>
            <a:endParaRPr lang="en-US" sz="1450" dirty="0"/>
          </a:p>
        </p:txBody>
      </p:sp>
      <p:sp>
        <p:nvSpPr>
          <p:cNvPr id="30" name="Shape 27"/>
          <p:cNvSpPr/>
          <p:nvPr/>
        </p:nvSpPr>
        <p:spPr>
          <a:xfrm>
            <a:off x="457200" y="6519672"/>
            <a:ext cx="11277295" cy="0"/>
          </a:xfrm>
          <a:prstGeom prst="line">
            <a:avLst/>
          </a:prstGeom>
          <a:noFill/>
          <a:ln w="9525">
            <a:solidFill>
              <a:srgbClr val="2D3138"/>
            </a:solidFill>
            <a:prstDash val="solid"/>
          </a:ln>
        </p:spPr>
      </p:sp>
      <p:sp>
        <p:nvSpPr>
          <p:cNvPr id="31" name="Text 28"/>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32" name="Text 29"/>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9 / 33</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D11"/>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w="12700">
            <a:solidFill>
              <a:srgbClr val="E8A33D"/>
            </a:solidFill>
            <a:prstDash val="solid"/>
          </a:ln>
        </p:spPr>
      </p:sp>
      <p:sp>
        <p:nvSpPr>
          <p:cNvPr id="3" name="Text 1"/>
          <p:cNvSpPr/>
          <p:nvPr/>
        </p:nvSpPr>
        <p:spPr>
          <a:xfrm>
            <a:off x="731520" y="1371600"/>
            <a:ext cx="5486400" cy="3200400"/>
          </a:xfrm>
          <a:prstGeom prst="rect">
            <a:avLst/>
          </a:prstGeom>
          <a:noFill/>
          <a:ln/>
        </p:spPr>
        <p:txBody>
          <a:bodyPr wrap="square" lIns="0" tIns="0" rIns="0" bIns="0" rtlCol="0" anchor="ctr"/>
          <a:lstStyle/>
          <a:p>
            <a:pPr algn="l" indent="0" marL="0">
              <a:buNone/>
            </a:pPr>
            <a:r>
              <a:rPr lang="en-US" sz="22000" b="1" spc="-800" kern="0" dirty="0">
                <a:solidFill>
                  <a:srgbClr val="E8A33D"/>
                </a:solidFill>
                <a:latin typeface="Calibri" pitchFamily="34" charset="0"/>
                <a:ea typeface="Calibri" pitchFamily="34" charset="-122"/>
                <a:cs typeface="Calibri" pitchFamily="34" charset="-120"/>
              </a:rPr>
              <a:t>03</a:t>
            </a:r>
            <a:endParaRPr lang="en-US" sz="22000" dirty="0"/>
          </a:p>
        </p:txBody>
      </p:sp>
      <p:sp>
        <p:nvSpPr>
          <p:cNvPr id="4" name="Text 2"/>
          <p:cNvSpPr/>
          <p:nvPr/>
        </p:nvSpPr>
        <p:spPr>
          <a:xfrm>
            <a:off x="777240" y="4297680"/>
            <a:ext cx="2743200" cy="365760"/>
          </a:xfrm>
          <a:prstGeom prst="rect">
            <a:avLst/>
          </a:prstGeom>
          <a:noFill/>
          <a:ln/>
        </p:spPr>
        <p:txBody>
          <a:bodyPr wrap="square" lIns="0" tIns="0" rIns="0" bIns="0" rtlCol="0" anchor="ctr"/>
          <a:lstStyle/>
          <a:p>
            <a:pPr algn="l" indent="0" marL="0">
              <a:buNone/>
            </a:pPr>
            <a:r>
              <a:rPr lang="en-US" sz="1400" b="1" spc="800" kern="0" dirty="0">
                <a:solidFill>
                  <a:srgbClr val="6B7280"/>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777240" y="4617720"/>
            <a:ext cx="10972800" cy="822960"/>
          </a:xfrm>
          <a:prstGeom prst="rect">
            <a:avLst/>
          </a:prstGeom>
          <a:noFill/>
          <a:ln/>
        </p:spPr>
        <p:txBody>
          <a:bodyPr wrap="square" lIns="0" tIns="0" rIns="0" bIns="0" rtlCol="0" anchor="ctr"/>
          <a:lstStyle/>
          <a:p>
            <a:pPr algn="l" indent="0" marL="0">
              <a:buNone/>
            </a:pPr>
            <a:r>
              <a:rPr lang="en-US" sz="4400" b="1" dirty="0">
                <a:solidFill>
                  <a:srgbClr val="F4F4F5"/>
                </a:solidFill>
                <a:latin typeface="Calibri" pitchFamily="34" charset="0"/>
                <a:ea typeface="Calibri" pitchFamily="34" charset="-122"/>
                <a:cs typeface="Calibri" pitchFamily="34" charset="-120"/>
              </a:rPr>
              <a:t>Implementation</a:t>
            </a:r>
            <a:endParaRPr lang="en-US" sz="4400" dirty="0"/>
          </a:p>
        </p:txBody>
      </p:sp>
      <p:pic>
        <p:nvPicPr>
          <p:cNvPr id="6" name="Image 0" descr="preencoded.png">    </p:cNvPr>
          <p:cNvPicPr>
            <a:picLocks noChangeAspect="1"/>
          </p:cNvPicPr>
          <p:nvPr/>
        </p:nvPicPr>
        <p:blipFill>
          <a:blip r:embed="rId1">
            <a:alphaModFix amt="70000"/>
          </a:blip>
          <a:stretch>
            <a:fillRect/>
          </a:stretch>
        </p:blipFill>
        <p:spPr>
          <a:xfrm>
            <a:off x="9082735" y="914400"/>
            <a:ext cx="2377440" cy="2377440"/>
          </a:xfrm>
          <a:prstGeom prst="rect">
            <a:avLst/>
          </a:prstGeom>
        </p:spPr>
      </p:pic>
      <p:sp>
        <p:nvSpPr>
          <p:cNvPr id="7" name="Shape 4"/>
          <p:cNvSpPr/>
          <p:nvPr/>
        </p:nvSpPr>
        <p:spPr>
          <a:xfrm>
            <a:off x="777240" y="5852160"/>
            <a:ext cx="5943600" cy="0"/>
          </a:xfrm>
          <a:prstGeom prst="line">
            <a:avLst/>
          </a:prstGeom>
          <a:noFill/>
          <a:ln w="19050">
            <a:solidFill>
              <a:srgbClr val="E8A33D"/>
            </a:solidFill>
            <a:prstDash val="solid"/>
          </a:ln>
        </p:spPr>
      </p:sp>
      <p:sp>
        <p:nvSpPr>
          <p:cNvPr id="8" name="Text 5"/>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9" name="Text 6"/>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10 / 33</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System Architecture</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Shape 2"/>
          <p:cNvSpPr/>
          <p:nvPr/>
        </p:nvSpPr>
        <p:spPr>
          <a:xfrm>
            <a:off x="548640" y="1417320"/>
            <a:ext cx="6766560" cy="1508760"/>
          </a:xfrm>
          <a:prstGeom prst="roundRect">
            <a:avLst>
              <a:gd name="adj" fmla="val 7273"/>
            </a:avLst>
          </a:prstGeom>
          <a:solidFill>
            <a:srgbClr val="1A1D24"/>
          </a:solidFill>
          <a:ln w="9525">
            <a:solidFill>
              <a:srgbClr val="2D3138"/>
            </a:solidFill>
            <a:prstDash val="solid"/>
          </a:ln>
        </p:spPr>
      </p:sp>
      <p:sp>
        <p:nvSpPr>
          <p:cNvPr id="5" name="Shape 3"/>
          <p:cNvSpPr/>
          <p:nvPr/>
        </p:nvSpPr>
        <p:spPr>
          <a:xfrm>
            <a:off x="749808" y="1581912"/>
            <a:ext cx="384048" cy="384048"/>
          </a:xfrm>
          <a:prstGeom prst="ellipse">
            <a:avLst/>
          </a:prstGeom>
          <a:solidFill>
            <a:srgbClr val="E8A33D"/>
          </a:solidFill>
          <a:ln w="15875">
            <a:solidFill>
              <a:srgbClr val="F5C161"/>
            </a:solidFill>
            <a:prstDash val="solid"/>
          </a:ln>
        </p:spPr>
      </p:sp>
      <p:sp>
        <p:nvSpPr>
          <p:cNvPr id="6" name="Text 4"/>
          <p:cNvSpPr/>
          <p:nvPr/>
        </p:nvSpPr>
        <p:spPr>
          <a:xfrm>
            <a:off x="749808" y="158191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1225296" y="1545336"/>
            <a:ext cx="598932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Monolithic, not microservices</a:t>
            </a:r>
            <a:endParaRPr lang="en-US" sz="1600" dirty="0"/>
          </a:p>
        </p:txBody>
      </p:sp>
      <p:sp>
        <p:nvSpPr>
          <p:cNvPr id="8" name="Text 6"/>
          <p:cNvSpPr/>
          <p:nvPr/>
        </p:nvSpPr>
        <p:spPr>
          <a:xfrm>
            <a:off x="804672" y="2039112"/>
            <a:ext cx="6309360" cy="79552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Single codebase, modular route files; one Docker image, one deployment unit.</a:t>
            </a:r>
            <a:endParaRPr lang="en-US" sz="1300" dirty="0"/>
          </a:p>
        </p:txBody>
      </p:sp>
      <p:sp>
        <p:nvSpPr>
          <p:cNvPr id="9" name="Shape 7"/>
          <p:cNvSpPr/>
          <p:nvPr/>
        </p:nvSpPr>
        <p:spPr>
          <a:xfrm>
            <a:off x="548640" y="3090672"/>
            <a:ext cx="6766560" cy="1508760"/>
          </a:xfrm>
          <a:prstGeom prst="roundRect">
            <a:avLst>
              <a:gd name="adj" fmla="val 7273"/>
            </a:avLst>
          </a:prstGeom>
          <a:solidFill>
            <a:srgbClr val="1A1D24"/>
          </a:solidFill>
          <a:ln w="9525">
            <a:solidFill>
              <a:srgbClr val="2D3138"/>
            </a:solidFill>
            <a:prstDash val="solid"/>
          </a:ln>
        </p:spPr>
      </p:sp>
      <p:sp>
        <p:nvSpPr>
          <p:cNvPr id="10" name="Shape 8"/>
          <p:cNvSpPr/>
          <p:nvPr/>
        </p:nvSpPr>
        <p:spPr>
          <a:xfrm>
            <a:off x="749808" y="3255264"/>
            <a:ext cx="384048" cy="384048"/>
          </a:xfrm>
          <a:prstGeom prst="ellipse">
            <a:avLst/>
          </a:prstGeom>
          <a:solidFill>
            <a:srgbClr val="E8A33D"/>
          </a:solidFill>
          <a:ln w="15875">
            <a:solidFill>
              <a:srgbClr val="F5C161"/>
            </a:solidFill>
            <a:prstDash val="solid"/>
          </a:ln>
        </p:spPr>
      </p:sp>
      <p:sp>
        <p:nvSpPr>
          <p:cNvPr id="11" name="Text 9"/>
          <p:cNvSpPr/>
          <p:nvPr/>
        </p:nvSpPr>
        <p:spPr>
          <a:xfrm>
            <a:off x="749808" y="3255264"/>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02</a:t>
            </a:r>
            <a:endParaRPr lang="en-US" sz="1300" dirty="0"/>
          </a:p>
        </p:txBody>
      </p:sp>
      <p:sp>
        <p:nvSpPr>
          <p:cNvPr id="12" name="Text 10"/>
          <p:cNvSpPr/>
          <p:nvPr/>
        </p:nvSpPr>
        <p:spPr>
          <a:xfrm>
            <a:off x="1225296" y="3218688"/>
            <a:ext cx="598932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Web ↔ worker separation</a:t>
            </a:r>
            <a:endParaRPr lang="en-US" sz="1600" dirty="0"/>
          </a:p>
        </p:txBody>
      </p:sp>
      <p:sp>
        <p:nvSpPr>
          <p:cNvPr id="13" name="Text 11"/>
          <p:cNvSpPr/>
          <p:nvPr/>
        </p:nvSpPr>
        <p:spPr>
          <a:xfrm>
            <a:off x="804672" y="3712464"/>
            <a:ext cx="6309360" cy="79552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LLM calls take 5–60s; decoupling keeps the request path responsive during exam-period spikes.</a:t>
            </a:r>
            <a:endParaRPr lang="en-US" sz="1300" dirty="0"/>
          </a:p>
        </p:txBody>
      </p:sp>
      <p:sp>
        <p:nvSpPr>
          <p:cNvPr id="14" name="Shape 12"/>
          <p:cNvSpPr/>
          <p:nvPr/>
        </p:nvSpPr>
        <p:spPr>
          <a:xfrm>
            <a:off x="548640" y="4764024"/>
            <a:ext cx="6766560" cy="1508760"/>
          </a:xfrm>
          <a:prstGeom prst="roundRect">
            <a:avLst>
              <a:gd name="adj" fmla="val 7273"/>
            </a:avLst>
          </a:prstGeom>
          <a:solidFill>
            <a:srgbClr val="1A1D24"/>
          </a:solidFill>
          <a:ln w="9525">
            <a:solidFill>
              <a:srgbClr val="2D3138"/>
            </a:solidFill>
            <a:prstDash val="solid"/>
          </a:ln>
        </p:spPr>
      </p:sp>
      <p:sp>
        <p:nvSpPr>
          <p:cNvPr id="15" name="Shape 13"/>
          <p:cNvSpPr/>
          <p:nvPr/>
        </p:nvSpPr>
        <p:spPr>
          <a:xfrm>
            <a:off x="749808" y="4928616"/>
            <a:ext cx="384048" cy="384048"/>
          </a:xfrm>
          <a:prstGeom prst="ellipse">
            <a:avLst/>
          </a:prstGeom>
          <a:solidFill>
            <a:srgbClr val="E8A33D"/>
          </a:solidFill>
          <a:ln w="15875">
            <a:solidFill>
              <a:srgbClr val="F5C161"/>
            </a:solidFill>
            <a:prstDash val="solid"/>
          </a:ln>
        </p:spPr>
      </p:sp>
      <p:sp>
        <p:nvSpPr>
          <p:cNvPr id="16" name="Text 14"/>
          <p:cNvSpPr/>
          <p:nvPr/>
        </p:nvSpPr>
        <p:spPr>
          <a:xfrm>
            <a:off x="749808" y="4928616"/>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03</a:t>
            </a:r>
            <a:endParaRPr lang="en-US" sz="1300" dirty="0"/>
          </a:p>
        </p:txBody>
      </p:sp>
      <p:sp>
        <p:nvSpPr>
          <p:cNvPr id="17" name="Text 15"/>
          <p:cNvSpPr/>
          <p:nvPr/>
        </p:nvSpPr>
        <p:spPr>
          <a:xfrm>
            <a:off x="1225296" y="4892040"/>
            <a:ext cx="598932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PostgreSQL job queue</a:t>
            </a:r>
            <a:endParaRPr lang="en-US" sz="1600" dirty="0"/>
          </a:p>
        </p:txBody>
      </p:sp>
      <p:sp>
        <p:nvSpPr>
          <p:cNvPr id="18" name="Text 16"/>
          <p:cNvSpPr/>
          <p:nvPr/>
        </p:nvSpPr>
        <p:spPr>
          <a:xfrm>
            <a:off x="804672" y="5385816"/>
            <a:ext cx="6309360" cy="79552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Graphile Worker — no Redis, transactional with application data.</a:t>
            </a:r>
            <a:endParaRPr lang="en-US" sz="1300" dirty="0"/>
          </a:p>
        </p:txBody>
      </p:sp>
      <p:sp>
        <p:nvSpPr>
          <p:cNvPr id="19" name="Shape 17"/>
          <p:cNvSpPr/>
          <p:nvPr/>
        </p:nvSpPr>
        <p:spPr>
          <a:xfrm>
            <a:off x="7589520" y="1325880"/>
            <a:ext cx="4069080" cy="4937760"/>
          </a:xfrm>
          <a:prstGeom prst="roundRect">
            <a:avLst>
              <a:gd name="adj" fmla="val 1798"/>
            </a:avLst>
          </a:prstGeom>
          <a:solidFill>
            <a:srgbClr val="FFFFFF"/>
          </a:solidFill>
          <a:ln w="6350">
            <a:solidFill>
              <a:srgbClr val="2D3138"/>
            </a:solidFill>
            <a:prstDash val="solid"/>
          </a:ln>
        </p:spPr>
      </p:sp>
      <p:pic>
        <p:nvPicPr>
          <p:cNvPr id="20" name="Image 0" descr="/Users/ethan/School/fyp/docs/fyp-presentation/build/figures/3_1_architecture.png">    </p:cNvPr>
          <p:cNvPicPr>
            <a:picLocks noChangeAspect="1"/>
          </p:cNvPicPr>
          <p:nvPr/>
        </p:nvPicPr>
        <p:blipFill>
          <a:blip r:embed="rId1"/>
          <a:stretch>
            <a:fillRect/>
          </a:stretch>
        </p:blipFill>
        <p:spPr>
          <a:xfrm>
            <a:off x="8027847" y="1490472"/>
            <a:ext cx="3192426" cy="4279392"/>
          </a:xfrm>
          <a:prstGeom prst="rect">
            <a:avLst/>
          </a:prstGeom>
        </p:spPr>
      </p:pic>
      <p:sp>
        <p:nvSpPr>
          <p:cNvPr id="21" name="Text 18"/>
          <p:cNvSpPr/>
          <p:nvPr/>
        </p:nvSpPr>
        <p:spPr>
          <a:xfrm>
            <a:off x="7754112" y="5806440"/>
            <a:ext cx="3739896" cy="292608"/>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Figure 3.1 — Three-tier architecture</a:t>
            </a:r>
            <a:endParaRPr lang="en-US" sz="1100" dirty="0"/>
          </a:p>
        </p:txBody>
      </p:sp>
      <p:sp>
        <p:nvSpPr>
          <p:cNvPr id="22" name="Shape 19"/>
          <p:cNvSpPr/>
          <p:nvPr/>
        </p:nvSpPr>
        <p:spPr>
          <a:xfrm>
            <a:off x="457200" y="6519672"/>
            <a:ext cx="11277295" cy="0"/>
          </a:xfrm>
          <a:prstGeom prst="line">
            <a:avLst/>
          </a:prstGeom>
          <a:noFill/>
          <a:ln w="9525">
            <a:solidFill>
              <a:srgbClr val="2D3138"/>
            </a:solidFill>
            <a:prstDash val="solid"/>
          </a:ln>
        </p:spPr>
      </p:sp>
      <p:sp>
        <p:nvSpPr>
          <p:cNvPr id="23" name="Text 20"/>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24" name="Text 21"/>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11 / 33</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Tech Stack</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Text 2"/>
          <p:cNvSpPr/>
          <p:nvPr/>
        </p:nvSpPr>
        <p:spPr>
          <a:xfrm>
            <a:off x="548640" y="1280160"/>
            <a:ext cx="2743200" cy="475488"/>
          </a:xfrm>
          <a:prstGeom prst="rect">
            <a:avLst/>
          </a:prstGeom>
          <a:noFill/>
          <a:ln/>
        </p:spPr>
        <p:txBody>
          <a:bodyPr wrap="square" lIns="0" tIns="0" rIns="0" bIns="0" rtlCol="0" anchor="ctr"/>
          <a:lstStyle/>
          <a:p>
            <a:pPr algn="r" indent="0" marL="0">
              <a:buNone/>
            </a:pPr>
            <a:r>
              <a:rPr lang="en-US" sz="1500" b="1" dirty="0">
                <a:solidFill>
                  <a:srgbClr val="F5C161"/>
                </a:solidFill>
                <a:latin typeface="Calibri" pitchFamily="34" charset="0"/>
                <a:ea typeface="Calibri" pitchFamily="34" charset="-122"/>
                <a:cs typeface="Calibri" pitchFamily="34" charset="-120"/>
              </a:rPr>
              <a:t>Language &amp; Runtime</a:t>
            </a:r>
            <a:endParaRPr lang="en-US" sz="1500" dirty="0"/>
          </a:p>
        </p:txBody>
      </p:sp>
      <p:sp>
        <p:nvSpPr>
          <p:cNvPr id="5" name="Shape 3"/>
          <p:cNvSpPr/>
          <p:nvPr/>
        </p:nvSpPr>
        <p:spPr>
          <a:xfrm>
            <a:off x="3429000" y="1371600"/>
            <a:ext cx="36576" cy="292608"/>
          </a:xfrm>
          <a:prstGeom prst="rect">
            <a:avLst/>
          </a:prstGeom>
          <a:solidFill>
            <a:srgbClr val="B57820"/>
          </a:solidFill>
          <a:ln w="12700">
            <a:solidFill>
              <a:srgbClr val="B57820"/>
            </a:solidFill>
            <a:prstDash val="solid"/>
          </a:ln>
        </p:spPr>
      </p:sp>
      <p:sp>
        <p:nvSpPr>
          <p:cNvPr id="6" name="Text 4"/>
          <p:cNvSpPr/>
          <p:nvPr/>
        </p:nvSpPr>
        <p:spPr>
          <a:xfrm>
            <a:off x="3611880" y="1280160"/>
            <a:ext cx="7955280" cy="475488"/>
          </a:xfrm>
          <a:prstGeom prst="rect">
            <a:avLst/>
          </a:prstGeom>
          <a:noFill/>
          <a:ln/>
        </p:spPr>
        <p:txBody>
          <a:bodyPr wrap="square" lIns="0" tIns="0" rIns="0" bIns="0" rtlCol="0" anchor="ctr"/>
          <a:lstStyle/>
          <a:p>
            <a:pPr algn="l" indent="0" marL="0">
              <a:buNone/>
            </a:pPr>
            <a:r>
              <a:rPr lang="en-US" sz="1400" dirty="0">
                <a:solidFill>
                  <a:srgbClr val="F4F4F5"/>
                </a:solidFill>
                <a:latin typeface="Calibri" pitchFamily="34" charset="0"/>
                <a:ea typeface="Calibri" pitchFamily="34" charset="-122"/>
                <a:cs typeface="Calibri" pitchFamily="34" charset="-120"/>
              </a:rPr>
              <a:t>TypeScript 5.9</a:t>
            </a:r>
            <a:pPr algn="l" indent="0" marL="0">
              <a:buNone/>
            </a:pPr>
            <a:r>
              <a:rPr lang="en-US" sz="1400" dirty="0">
                <a:solidFill>
                  <a:srgbClr val="6B7280"/>
                </a:solidFill>
                <a:latin typeface="Calibri" pitchFamily="34" charset="0"/>
                <a:ea typeface="Calibri" pitchFamily="34" charset="-122"/>
                <a:cs typeface="Calibri" pitchFamily="34" charset="-120"/>
              </a:rPr>
              <a:t>  ·  </a:t>
            </a:r>
            <a:pPr algn="l" indent="0" marL="0">
              <a:buNone/>
            </a:pPr>
            <a:r>
              <a:rPr lang="en-US" sz="1400" dirty="0">
                <a:solidFill>
                  <a:srgbClr val="F4F4F5"/>
                </a:solidFill>
                <a:latin typeface="Calibri" pitchFamily="34" charset="0"/>
                <a:ea typeface="Calibri" pitchFamily="34" charset="-122"/>
                <a:cs typeface="Calibri" pitchFamily="34" charset="-120"/>
              </a:rPr>
              <a:t>Node.js 20</a:t>
            </a:r>
            <a:endParaRPr lang="en-US" sz="1400" dirty="0"/>
          </a:p>
        </p:txBody>
      </p:sp>
      <p:sp>
        <p:nvSpPr>
          <p:cNvPr id="7" name="Text 5"/>
          <p:cNvSpPr/>
          <p:nvPr/>
        </p:nvSpPr>
        <p:spPr>
          <a:xfrm>
            <a:off x="548640" y="1847088"/>
            <a:ext cx="2743200" cy="475488"/>
          </a:xfrm>
          <a:prstGeom prst="rect">
            <a:avLst/>
          </a:prstGeom>
          <a:noFill/>
          <a:ln/>
        </p:spPr>
        <p:txBody>
          <a:bodyPr wrap="square" lIns="0" tIns="0" rIns="0" bIns="0" rtlCol="0" anchor="ctr"/>
          <a:lstStyle/>
          <a:p>
            <a:pPr algn="r" indent="0" marL="0">
              <a:buNone/>
            </a:pPr>
            <a:r>
              <a:rPr lang="en-US" sz="1500" b="1" dirty="0">
                <a:solidFill>
                  <a:srgbClr val="F5C161"/>
                </a:solidFill>
                <a:latin typeface="Calibri" pitchFamily="34" charset="0"/>
                <a:ea typeface="Calibri" pitchFamily="34" charset="-122"/>
                <a:cs typeface="Calibri" pitchFamily="34" charset="-120"/>
              </a:rPr>
              <a:t>Frontend</a:t>
            </a:r>
            <a:endParaRPr lang="en-US" sz="1500" dirty="0"/>
          </a:p>
        </p:txBody>
      </p:sp>
      <p:sp>
        <p:nvSpPr>
          <p:cNvPr id="8" name="Shape 6"/>
          <p:cNvSpPr/>
          <p:nvPr/>
        </p:nvSpPr>
        <p:spPr>
          <a:xfrm>
            <a:off x="3429000" y="1938528"/>
            <a:ext cx="36576" cy="292608"/>
          </a:xfrm>
          <a:prstGeom prst="rect">
            <a:avLst/>
          </a:prstGeom>
          <a:solidFill>
            <a:srgbClr val="B57820"/>
          </a:solidFill>
          <a:ln w="12700">
            <a:solidFill>
              <a:srgbClr val="B57820"/>
            </a:solidFill>
            <a:prstDash val="solid"/>
          </a:ln>
        </p:spPr>
      </p:sp>
      <p:sp>
        <p:nvSpPr>
          <p:cNvPr id="9" name="Text 7"/>
          <p:cNvSpPr/>
          <p:nvPr/>
        </p:nvSpPr>
        <p:spPr>
          <a:xfrm>
            <a:off x="3611880" y="1847088"/>
            <a:ext cx="7955280" cy="475488"/>
          </a:xfrm>
          <a:prstGeom prst="rect">
            <a:avLst/>
          </a:prstGeom>
          <a:noFill/>
          <a:ln/>
        </p:spPr>
        <p:txBody>
          <a:bodyPr wrap="square" lIns="0" tIns="0" rIns="0" bIns="0" rtlCol="0" anchor="ctr"/>
          <a:lstStyle/>
          <a:p>
            <a:pPr algn="l" indent="0" marL="0">
              <a:buNone/>
            </a:pPr>
            <a:r>
              <a:rPr lang="en-US" sz="1400" dirty="0">
                <a:solidFill>
                  <a:srgbClr val="F4F4F5"/>
                </a:solidFill>
                <a:latin typeface="Calibri" pitchFamily="34" charset="0"/>
                <a:ea typeface="Calibri" pitchFamily="34" charset="-122"/>
                <a:cs typeface="Calibri" pitchFamily="34" charset="-120"/>
              </a:rPr>
              <a:t>React 19</a:t>
            </a:r>
            <a:pPr algn="l" indent="0" marL="0">
              <a:buNone/>
            </a:pPr>
            <a:r>
              <a:rPr lang="en-US" sz="1400" dirty="0">
                <a:solidFill>
                  <a:srgbClr val="6B7280"/>
                </a:solidFill>
                <a:latin typeface="Calibri" pitchFamily="34" charset="0"/>
                <a:ea typeface="Calibri" pitchFamily="34" charset="-122"/>
                <a:cs typeface="Calibri" pitchFamily="34" charset="-120"/>
              </a:rPr>
              <a:t>  ·  </a:t>
            </a:r>
            <a:pPr algn="l" indent="0" marL="0">
              <a:buNone/>
            </a:pPr>
            <a:r>
              <a:rPr lang="en-US" sz="1400" dirty="0">
                <a:solidFill>
                  <a:srgbClr val="F4F4F5"/>
                </a:solidFill>
                <a:latin typeface="Calibri" pitchFamily="34" charset="0"/>
                <a:ea typeface="Calibri" pitchFamily="34" charset="-122"/>
                <a:cs typeface="Calibri" pitchFamily="34" charset="-120"/>
              </a:rPr>
              <a:t>Vite</a:t>
            </a:r>
            <a:pPr algn="l" indent="0" marL="0">
              <a:buNone/>
            </a:pPr>
            <a:r>
              <a:rPr lang="en-US" sz="1400" dirty="0">
                <a:solidFill>
                  <a:srgbClr val="6B7280"/>
                </a:solidFill>
                <a:latin typeface="Calibri" pitchFamily="34" charset="0"/>
                <a:ea typeface="Calibri" pitchFamily="34" charset="-122"/>
                <a:cs typeface="Calibri" pitchFamily="34" charset="-120"/>
              </a:rPr>
              <a:t>  ·  </a:t>
            </a:r>
            <a:pPr algn="l" indent="0" marL="0">
              <a:buNone/>
            </a:pPr>
            <a:r>
              <a:rPr lang="en-US" sz="1400" dirty="0">
                <a:solidFill>
                  <a:srgbClr val="F4F4F5"/>
                </a:solidFill>
                <a:latin typeface="Calibri" pitchFamily="34" charset="0"/>
                <a:ea typeface="Calibri" pitchFamily="34" charset="-122"/>
                <a:cs typeface="Calibri" pitchFamily="34" charset="-120"/>
              </a:rPr>
              <a:t>TanStack Router</a:t>
            </a:r>
            <a:pPr algn="l" indent="0" marL="0">
              <a:buNone/>
            </a:pPr>
            <a:r>
              <a:rPr lang="en-US" sz="1400" dirty="0">
                <a:solidFill>
                  <a:srgbClr val="6B7280"/>
                </a:solidFill>
                <a:latin typeface="Calibri" pitchFamily="34" charset="0"/>
                <a:ea typeface="Calibri" pitchFamily="34" charset="-122"/>
                <a:cs typeface="Calibri" pitchFamily="34" charset="-120"/>
              </a:rPr>
              <a:t>  ·  </a:t>
            </a:r>
            <a:pPr algn="l" indent="0" marL="0">
              <a:buNone/>
            </a:pPr>
            <a:r>
              <a:rPr lang="en-US" sz="1400" dirty="0">
                <a:solidFill>
                  <a:srgbClr val="F4F4F5"/>
                </a:solidFill>
                <a:latin typeface="Calibri" pitchFamily="34" charset="0"/>
                <a:ea typeface="Calibri" pitchFamily="34" charset="-122"/>
                <a:cs typeface="Calibri" pitchFamily="34" charset="-120"/>
              </a:rPr>
              <a:t>TanStack Query</a:t>
            </a:r>
            <a:pPr algn="l" indent="0" marL="0">
              <a:buNone/>
            </a:pPr>
            <a:r>
              <a:rPr lang="en-US" sz="1400" dirty="0">
                <a:solidFill>
                  <a:srgbClr val="6B7280"/>
                </a:solidFill>
                <a:latin typeface="Calibri" pitchFamily="34" charset="0"/>
                <a:ea typeface="Calibri" pitchFamily="34" charset="-122"/>
                <a:cs typeface="Calibri" pitchFamily="34" charset="-120"/>
              </a:rPr>
              <a:t>  ·  </a:t>
            </a:r>
            <a:pPr algn="l" indent="0" marL="0">
              <a:buNone/>
            </a:pPr>
            <a:r>
              <a:rPr lang="en-US" sz="1400" dirty="0">
                <a:solidFill>
                  <a:srgbClr val="F4F4F5"/>
                </a:solidFill>
                <a:latin typeface="Calibri" pitchFamily="34" charset="0"/>
                <a:ea typeface="Calibri" pitchFamily="34" charset="-122"/>
                <a:cs typeface="Calibri" pitchFamily="34" charset="-120"/>
              </a:rPr>
              <a:t>Tailwind CSS</a:t>
            </a:r>
            <a:pPr algn="l" indent="0" marL="0">
              <a:buNone/>
            </a:pPr>
            <a:r>
              <a:rPr lang="en-US" sz="1400" dirty="0">
                <a:solidFill>
                  <a:srgbClr val="6B7280"/>
                </a:solidFill>
                <a:latin typeface="Calibri" pitchFamily="34" charset="0"/>
                <a:ea typeface="Calibri" pitchFamily="34" charset="-122"/>
                <a:cs typeface="Calibri" pitchFamily="34" charset="-120"/>
              </a:rPr>
              <a:t>  ·  </a:t>
            </a:r>
            <a:pPr algn="l" indent="0" marL="0">
              <a:buNone/>
            </a:pPr>
            <a:r>
              <a:rPr lang="en-US" sz="1400" dirty="0">
                <a:solidFill>
                  <a:srgbClr val="F4F4F5"/>
                </a:solidFill>
                <a:latin typeface="Calibri" pitchFamily="34" charset="0"/>
                <a:ea typeface="Calibri" pitchFamily="34" charset="-122"/>
                <a:cs typeface="Calibri" pitchFamily="34" charset="-120"/>
              </a:rPr>
              <a:t>React Flow (xyflow 12.10)</a:t>
            </a:r>
            <a:endParaRPr lang="en-US" sz="1400" dirty="0"/>
          </a:p>
        </p:txBody>
      </p:sp>
      <p:sp>
        <p:nvSpPr>
          <p:cNvPr id="10" name="Text 8"/>
          <p:cNvSpPr/>
          <p:nvPr/>
        </p:nvSpPr>
        <p:spPr>
          <a:xfrm>
            <a:off x="548640" y="2414016"/>
            <a:ext cx="2743200" cy="475488"/>
          </a:xfrm>
          <a:prstGeom prst="rect">
            <a:avLst/>
          </a:prstGeom>
          <a:noFill/>
          <a:ln/>
        </p:spPr>
        <p:txBody>
          <a:bodyPr wrap="square" lIns="0" tIns="0" rIns="0" bIns="0" rtlCol="0" anchor="ctr"/>
          <a:lstStyle/>
          <a:p>
            <a:pPr algn="r" indent="0" marL="0">
              <a:buNone/>
            </a:pPr>
            <a:r>
              <a:rPr lang="en-US" sz="1500" b="1" dirty="0">
                <a:solidFill>
                  <a:srgbClr val="F5C161"/>
                </a:solidFill>
                <a:latin typeface="Calibri" pitchFamily="34" charset="0"/>
                <a:ea typeface="Calibri" pitchFamily="34" charset="-122"/>
                <a:cs typeface="Calibri" pitchFamily="34" charset="-120"/>
              </a:rPr>
              <a:t>Backend</a:t>
            </a:r>
            <a:endParaRPr lang="en-US" sz="1500" dirty="0"/>
          </a:p>
        </p:txBody>
      </p:sp>
      <p:sp>
        <p:nvSpPr>
          <p:cNvPr id="11" name="Shape 9"/>
          <p:cNvSpPr/>
          <p:nvPr/>
        </p:nvSpPr>
        <p:spPr>
          <a:xfrm>
            <a:off x="3429000" y="2505456"/>
            <a:ext cx="36576" cy="292608"/>
          </a:xfrm>
          <a:prstGeom prst="rect">
            <a:avLst/>
          </a:prstGeom>
          <a:solidFill>
            <a:srgbClr val="B57820"/>
          </a:solidFill>
          <a:ln w="12700">
            <a:solidFill>
              <a:srgbClr val="B57820"/>
            </a:solidFill>
            <a:prstDash val="solid"/>
          </a:ln>
        </p:spPr>
      </p:sp>
      <p:sp>
        <p:nvSpPr>
          <p:cNvPr id="12" name="Text 10"/>
          <p:cNvSpPr/>
          <p:nvPr/>
        </p:nvSpPr>
        <p:spPr>
          <a:xfrm>
            <a:off x="3611880" y="2414016"/>
            <a:ext cx="7955280" cy="475488"/>
          </a:xfrm>
          <a:prstGeom prst="rect">
            <a:avLst/>
          </a:prstGeom>
          <a:noFill/>
          <a:ln/>
        </p:spPr>
        <p:txBody>
          <a:bodyPr wrap="square" lIns="0" tIns="0" rIns="0" bIns="0" rtlCol="0" anchor="ctr"/>
          <a:lstStyle/>
          <a:p>
            <a:pPr algn="l" indent="0" marL="0">
              <a:buNone/>
            </a:pPr>
            <a:r>
              <a:rPr lang="en-US" sz="1400" dirty="0">
                <a:solidFill>
                  <a:srgbClr val="F4F4F5"/>
                </a:solidFill>
                <a:latin typeface="Calibri" pitchFamily="34" charset="0"/>
                <a:ea typeface="Calibri" pitchFamily="34" charset="-122"/>
                <a:cs typeface="Calibri" pitchFamily="34" charset="-120"/>
              </a:rPr>
              <a:t>Hono 4.11</a:t>
            </a:r>
            <a:pPr algn="l" indent="0" marL="0">
              <a:buNone/>
            </a:pPr>
            <a:r>
              <a:rPr lang="en-US" sz="1400" dirty="0">
                <a:solidFill>
                  <a:srgbClr val="6B7280"/>
                </a:solidFill>
                <a:latin typeface="Calibri" pitchFamily="34" charset="0"/>
                <a:ea typeface="Calibri" pitchFamily="34" charset="-122"/>
                <a:cs typeface="Calibri" pitchFamily="34" charset="-120"/>
              </a:rPr>
              <a:t>  ·  </a:t>
            </a:r>
            <a:pPr algn="l" indent="0" marL="0">
              <a:buNone/>
            </a:pPr>
            <a:r>
              <a:rPr lang="en-US" sz="1400" dirty="0">
                <a:solidFill>
                  <a:srgbClr val="F4F4F5"/>
                </a:solidFill>
                <a:latin typeface="Calibri" pitchFamily="34" charset="0"/>
                <a:ea typeface="Calibri" pitchFamily="34" charset="-122"/>
                <a:cs typeface="Calibri" pitchFamily="34" charset="-120"/>
              </a:rPr>
              <a:t>Drizzle ORM</a:t>
            </a:r>
            <a:pPr algn="l" indent="0" marL="0">
              <a:buNone/>
            </a:pPr>
            <a:r>
              <a:rPr lang="en-US" sz="1400" dirty="0">
                <a:solidFill>
                  <a:srgbClr val="6B7280"/>
                </a:solidFill>
                <a:latin typeface="Calibri" pitchFamily="34" charset="0"/>
                <a:ea typeface="Calibri" pitchFamily="34" charset="-122"/>
                <a:cs typeface="Calibri" pitchFamily="34" charset="-120"/>
              </a:rPr>
              <a:t>  ·  </a:t>
            </a:r>
            <a:pPr algn="l" indent="0" marL="0">
              <a:buNone/>
            </a:pPr>
            <a:r>
              <a:rPr lang="en-US" sz="1400" dirty="0">
                <a:solidFill>
                  <a:srgbClr val="F4F4F5"/>
                </a:solidFill>
                <a:latin typeface="Calibri" pitchFamily="34" charset="0"/>
                <a:ea typeface="Calibri" pitchFamily="34" charset="-122"/>
                <a:cs typeface="Calibri" pitchFamily="34" charset="-120"/>
              </a:rPr>
              <a:t>Zod 4.3</a:t>
            </a:r>
            <a:pPr algn="l" indent="0" marL="0">
              <a:buNone/>
            </a:pPr>
            <a:r>
              <a:rPr lang="en-US" sz="1400" dirty="0">
                <a:solidFill>
                  <a:srgbClr val="6B7280"/>
                </a:solidFill>
                <a:latin typeface="Calibri" pitchFamily="34" charset="0"/>
                <a:ea typeface="Calibri" pitchFamily="34" charset="-122"/>
                <a:cs typeface="Calibri" pitchFamily="34" charset="-120"/>
              </a:rPr>
              <a:t>  ·  </a:t>
            </a:r>
            <a:pPr algn="l" indent="0" marL="0">
              <a:buNone/>
            </a:pPr>
            <a:r>
              <a:rPr lang="en-US" sz="1400" dirty="0">
                <a:solidFill>
                  <a:srgbClr val="F4F4F5"/>
                </a:solidFill>
                <a:latin typeface="Calibri" pitchFamily="34" charset="0"/>
                <a:ea typeface="Calibri" pitchFamily="34" charset="-122"/>
                <a:cs typeface="Calibri" pitchFamily="34" charset="-120"/>
              </a:rPr>
              <a:t>Graphile Worker 0.16</a:t>
            </a:r>
            <a:endParaRPr lang="en-US" sz="1400" dirty="0"/>
          </a:p>
        </p:txBody>
      </p:sp>
      <p:sp>
        <p:nvSpPr>
          <p:cNvPr id="13" name="Text 11"/>
          <p:cNvSpPr/>
          <p:nvPr/>
        </p:nvSpPr>
        <p:spPr>
          <a:xfrm>
            <a:off x="548640" y="2980944"/>
            <a:ext cx="2743200" cy="475488"/>
          </a:xfrm>
          <a:prstGeom prst="rect">
            <a:avLst/>
          </a:prstGeom>
          <a:noFill/>
          <a:ln/>
        </p:spPr>
        <p:txBody>
          <a:bodyPr wrap="square" lIns="0" tIns="0" rIns="0" bIns="0" rtlCol="0" anchor="ctr"/>
          <a:lstStyle/>
          <a:p>
            <a:pPr algn="r" indent="0" marL="0">
              <a:buNone/>
            </a:pPr>
            <a:r>
              <a:rPr lang="en-US" sz="1500" b="1" dirty="0">
                <a:solidFill>
                  <a:srgbClr val="F5C161"/>
                </a:solidFill>
                <a:latin typeface="Calibri" pitchFamily="34" charset="0"/>
                <a:ea typeface="Calibri" pitchFamily="34" charset="-122"/>
                <a:cs typeface="Calibri" pitchFamily="34" charset="-120"/>
              </a:rPr>
              <a:t>Auth</a:t>
            </a:r>
            <a:endParaRPr lang="en-US" sz="1500" dirty="0"/>
          </a:p>
        </p:txBody>
      </p:sp>
      <p:sp>
        <p:nvSpPr>
          <p:cNvPr id="14" name="Shape 12"/>
          <p:cNvSpPr/>
          <p:nvPr/>
        </p:nvSpPr>
        <p:spPr>
          <a:xfrm>
            <a:off x="3429000" y="3072384"/>
            <a:ext cx="36576" cy="292608"/>
          </a:xfrm>
          <a:prstGeom prst="rect">
            <a:avLst/>
          </a:prstGeom>
          <a:solidFill>
            <a:srgbClr val="B57820"/>
          </a:solidFill>
          <a:ln w="12700">
            <a:solidFill>
              <a:srgbClr val="B57820"/>
            </a:solidFill>
            <a:prstDash val="solid"/>
          </a:ln>
        </p:spPr>
      </p:sp>
      <p:sp>
        <p:nvSpPr>
          <p:cNvPr id="15" name="Text 13"/>
          <p:cNvSpPr/>
          <p:nvPr/>
        </p:nvSpPr>
        <p:spPr>
          <a:xfrm>
            <a:off x="3611880" y="2980944"/>
            <a:ext cx="7955280" cy="475488"/>
          </a:xfrm>
          <a:prstGeom prst="rect">
            <a:avLst/>
          </a:prstGeom>
          <a:noFill/>
          <a:ln/>
        </p:spPr>
        <p:txBody>
          <a:bodyPr wrap="square" lIns="0" tIns="0" rIns="0" bIns="0" rtlCol="0" anchor="ctr"/>
          <a:lstStyle/>
          <a:p>
            <a:pPr algn="l" indent="0" marL="0">
              <a:buNone/>
            </a:pPr>
            <a:r>
              <a:rPr lang="en-US" sz="1400" dirty="0">
                <a:solidFill>
                  <a:srgbClr val="F4F4F5"/>
                </a:solidFill>
                <a:latin typeface="Calibri" pitchFamily="34" charset="0"/>
                <a:ea typeface="Calibri" pitchFamily="34" charset="-122"/>
                <a:cs typeface="Calibri" pitchFamily="34" charset="-120"/>
              </a:rPr>
              <a:t>Supabase Auth</a:t>
            </a:r>
            <a:pPr algn="l" indent="0" marL="0">
              <a:buNone/>
            </a:pPr>
            <a:r>
              <a:rPr lang="en-US" sz="1400" dirty="0">
                <a:solidFill>
                  <a:srgbClr val="6B7280"/>
                </a:solidFill>
                <a:latin typeface="Calibri" pitchFamily="34" charset="0"/>
                <a:ea typeface="Calibri" pitchFamily="34" charset="-122"/>
                <a:cs typeface="Calibri" pitchFamily="34" charset="-120"/>
              </a:rPr>
              <a:t>  ·  </a:t>
            </a:r>
            <a:pPr algn="l" indent="0" marL="0">
              <a:buNone/>
            </a:pPr>
            <a:r>
              <a:rPr lang="en-US" sz="1400" dirty="0">
                <a:solidFill>
                  <a:srgbClr val="F4F4F5"/>
                </a:solidFill>
                <a:latin typeface="Calibri" pitchFamily="34" charset="0"/>
                <a:ea typeface="Calibri" pitchFamily="34" charset="-122"/>
                <a:cs typeface="Calibri" pitchFamily="34" charset="-120"/>
              </a:rPr>
              <a:t>Custom JWT (dual-validation)</a:t>
            </a:r>
            <a:endParaRPr lang="en-US" sz="1400" dirty="0"/>
          </a:p>
        </p:txBody>
      </p:sp>
      <p:sp>
        <p:nvSpPr>
          <p:cNvPr id="16" name="Text 14"/>
          <p:cNvSpPr/>
          <p:nvPr/>
        </p:nvSpPr>
        <p:spPr>
          <a:xfrm>
            <a:off x="548640" y="3547872"/>
            <a:ext cx="2743200" cy="475488"/>
          </a:xfrm>
          <a:prstGeom prst="rect">
            <a:avLst/>
          </a:prstGeom>
          <a:noFill/>
          <a:ln/>
        </p:spPr>
        <p:txBody>
          <a:bodyPr wrap="square" lIns="0" tIns="0" rIns="0" bIns="0" rtlCol="0" anchor="ctr"/>
          <a:lstStyle/>
          <a:p>
            <a:pPr algn="r" indent="0" marL="0">
              <a:buNone/>
            </a:pPr>
            <a:r>
              <a:rPr lang="en-US" sz="1500" b="1" dirty="0">
                <a:solidFill>
                  <a:srgbClr val="F5C161"/>
                </a:solidFill>
                <a:latin typeface="Calibri" pitchFamily="34" charset="0"/>
                <a:ea typeface="Calibri" pitchFamily="34" charset="-122"/>
                <a:cs typeface="Calibri" pitchFamily="34" charset="-120"/>
              </a:rPr>
              <a:t>AI</a:t>
            </a:r>
            <a:endParaRPr lang="en-US" sz="1500" dirty="0"/>
          </a:p>
        </p:txBody>
      </p:sp>
      <p:sp>
        <p:nvSpPr>
          <p:cNvPr id="17" name="Shape 15"/>
          <p:cNvSpPr/>
          <p:nvPr/>
        </p:nvSpPr>
        <p:spPr>
          <a:xfrm>
            <a:off x="3429000" y="3639312"/>
            <a:ext cx="36576" cy="292608"/>
          </a:xfrm>
          <a:prstGeom prst="rect">
            <a:avLst/>
          </a:prstGeom>
          <a:solidFill>
            <a:srgbClr val="B57820"/>
          </a:solidFill>
          <a:ln w="12700">
            <a:solidFill>
              <a:srgbClr val="B57820"/>
            </a:solidFill>
            <a:prstDash val="solid"/>
          </a:ln>
        </p:spPr>
      </p:sp>
      <p:sp>
        <p:nvSpPr>
          <p:cNvPr id="18" name="Text 16"/>
          <p:cNvSpPr/>
          <p:nvPr/>
        </p:nvSpPr>
        <p:spPr>
          <a:xfrm>
            <a:off x="3611880" y="3547872"/>
            <a:ext cx="7955280" cy="475488"/>
          </a:xfrm>
          <a:prstGeom prst="rect">
            <a:avLst/>
          </a:prstGeom>
          <a:noFill/>
          <a:ln/>
        </p:spPr>
        <p:txBody>
          <a:bodyPr wrap="square" lIns="0" tIns="0" rIns="0" bIns="0" rtlCol="0" anchor="ctr"/>
          <a:lstStyle/>
          <a:p>
            <a:pPr algn="l" indent="0" marL="0">
              <a:buNone/>
            </a:pPr>
            <a:r>
              <a:rPr lang="en-US" sz="1400" dirty="0">
                <a:solidFill>
                  <a:srgbClr val="F4F4F5"/>
                </a:solidFill>
                <a:latin typeface="Calibri" pitchFamily="34" charset="0"/>
                <a:ea typeface="Calibri" pitchFamily="34" charset="-122"/>
                <a:cs typeface="Calibri" pitchFamily="34" charset="-120"/>
              </a:rPr>
              <a:t>Vercel AI SDK 6.0 → OpenAI / Anthropic</a:t>
            </a:r>
            <a:endParaRPr lang="en-US" sz="1400" dirty="0"/>
          </a:p>
        </p:txBody>
      </p:sp>
      <p:sp>
        <p:nvSpPr>
          <p:cNvPr id="19" name="Text 17"/>
          <p:cNvSpPr/>
          <p:nvPr/>
        </p:nvSpPr>
        <p:spPr>
          <a:xfrm>
            <a:off x="548640" y="4114800"/>
            <a:ext cx="2743200" cy="475488"/>
          </a:xfrm>
          <a:prstGeom prst="rect">
            <a:avLst/>
          </a:prstGeom>
          <a:noFill/>
          <a:ln/>
        </p:spPr>
        <p:txBody>
          <a:bodyPr wrap="square" lIns="0" tIns="0" rIns="0" bIns="0" rtlCol="0" anchor="ctr"/>
          <a:lstStyle/>
          <a:p>
            <a:pPr algn="r" indent="0" marL="0">
              <a:buNone/>
            </a:pPr>
            <a:r>
              <a:rPr lang="en-US" sz="1500" b="1" dirty="0">
                <a:solidFill>
                  <a:srgbClr val="F5C161"/>
                </a:solidFill>
                <a:latin typeface="Calibri" pitchFamily="34" charset="0"/>
                <a:ea typeface="Calibri" pitchFamily="34" charset="-122"/>
                <a:cs typeface="Calibri" pitchFamily="34" charset="-120"/>
              </a:rPr>
              <a:t>UML</a:t>
            </a:r>
            <a:endParaRPr lang="en-US" sz="1500" dirty="0"/>
          </a:p>
        </p:txBody>
      </p:sp>
      <p:sp>
        <p:nvSpPr>
          <p:cNvPr id="20" name="Shape 18"/>
          <p:cNvSpPr/>
          <p:nvPr/>
        </p:nvSpPr>
        <p:spPr>
          <a:xfrm>
            <a:off x="3429000" y="4206240"/>
            <a:ext cx="36576" cy="292608"/>
          </a:xfrm>
          <a:prstGeom prst="rect">
            <a:avLst/>
          </a:prstGeom>
          <a:solidFill>
            <a:srgbClr val="B57820"/>
          </a:solidFill>
          <a:ln w="12700">
            <a:solidFill>
              <a:srgbClr val="B57820"/>
            </a:solidFill>
            <a:prstDash val="solid"/>
          </a:ln>
        </p:spPr>
      </p:sp>
      <p:sp>
        <p:nvSpPr>
          <p:cNvPr id="21" name="Text 19"/>
          <p:cNvSpPr/>
          <p:nvPr/>
        </p:nvSpPr>
        <p:spPr>
          <a:xfrm>
            <a:off x="3611880" y="4114800"/>
            <a:ext cx="7955280" cy="475488"/>
          </a:xfrm>
          <a:prstGeom prst="rect">
            <a:avLst/>
          </a:prstGeom>
          <a:noFill/>
          <a:ln/>
        </p:spPr>
        <p:txBody>
          <a:bodyPr wrap="square" lIns="0" tIns="0" rIns="0" bIns="0" rtlCol="0" anchor="ctr"/>
          <a:lstStyle/>
          <a:p>
            <a:pPr algn="l" indent="0" marL="0">
              <a:buNone/>
            </a:pPr>
            <a:r>
              <a:rPr lang="en-US" sz="1400" dirty="0">
                <a:solidFill>
                  <a:srgbClr val="F4F4F5"/>
                </a:solidFill>
                <a:latin typeface="Calibri" pitchFamily="34" charset="0"/>
                <a:ea typeface="Calibri" pitchFamily="34" charset="-122"/>
                <a:cs typeface="Calibri" pitchFamily="34" charset="-120"/>
              </a:rPr>
              <a:t>plantuml-encoder</a:t>
            </a:r>
            <a:endParaRPr lang="en-US" sz="1400" dirty="0"/>
          </a:p>
        </p:txBody>
      </p:sp>
      <p:sp>
        <p:nvSpPr>
          <p:cNvPr id="22" name="Text 20"/>
          <p:cNvSpPr/>
          <p:nvPr/>
        </p:nvSpPr>
        <p:spPr>
          <a:xfrm>
            <a:off x="548640" y="4681728"/>
            <a:ext cx="2743200" cy="475488"/>
          </a:xfrm>
          <a:prstGeom prst="rect">
            <a:avLst/>
          </a:prstGeom>
          <a:noFill/>
          <a:ln/>
        </p:spPr>
        <p:txBody>
          <a:bodyPr wrap="square" lIns="0" tIns="0" rIns="0" bIns="0" rtlCol="0" anchor="ctr"/>
          <a:lstStyle/>
          <a:p>
            <a:pPr algn="r" indent="0" marL="0">
              <a:buNone/>
            </a:pPr>
            <a:r>
              <a:rPr lang="en-US" sz="1500" b="1" dirty="0">
                <a:solidFill>
                  <a:srgbClr val="F5C161"/>
                </a:solidFill>
                <a:latin typeface="Calibri" pitchFamily="34" charset="0"/>
                <a:ea typeface="Calibri" pitchFamily="34" charset="-122"/>
                <a:cs typeface="Calibri" pitchFamily="34" charset="-120"/>
              </a:rPr>
              <a:t>Testing</a:t>
            </a:r>
            <a:endParaRPr lang="en-US" sz="1500" dirty="0"/>
          </a:p>
        </p:txBody>
      </p:sp>
      <p:sp>
        <p:nvSpPr>
          <p:cNvPr id="23" name="Shape 21"/>
          <p:cNvSpPr/>
          <p:nvPr/>
        </p:nvSpPr>
        <p:spPr>
          <a:xfrm>
            <a:off x="3429000" y="4773168"/>
            <a:ext cx="36576" cy="292608"/>
          </a:xfrm>
          <a:prstGeom prst="rect">
            <a:avLst/>
          </a:prstGeom>
          <a:solidFill>
            <a:srgbClr val="B57820"/>
          </a:solidFill>
          <a:ln w="12700">
            <a:solidFill>
              <a:srgbClr val="B57820"/>
            </a:solidFill>
            <a:prstDash val="solid"/>
          </a:ln>
        </p:spPr>
      </p:sp>
      <p:sp>
        <p:nvSpPr>
          <p:cNvPr id="24" name="Text 22"/>
          <p:cNvSpPr/>
          <p:nvPr/>
        </p:nvSpPr>
        <p:spPr>
          <a:xfrm>
            <a:off x="3611880" y="4681728"/>
            <a:ext cx="7955280" cy="475488"/>
          </a:xfrm>
          <a:prstGeom prst="rect">
            <a:avLst/>
          </a:prstGeom>
          <a:noFill/>
          <a:ln/>
        </p:spPr>
        <p:txBody>
          <a:bodyPr wrap="square" lIns="0" tIns="0" rIns="0" bIns="0" rtlCol="0" anchor="ctr"/>
          <a:lstStyle/>
          <a:p>
            <a:pPr algn="l" indent="0" marL="0">
              <a:buNone/>
            </a:pPr>
            <a:r>
              <a:rPr lang="en-US" sz="1400" dirty="0">
                <a:solidFill>
                  <a:srgbClr val="F4F4F5"/>
                </a:solidFill>
                <a:latin typeface="Calibri" pitchFamily="34" charset="0"/>
                <a:ea typeface="Calibri" pitchFamily="34" charset="-122"/>
                <a:cs typeface="Calibri" pitchFamily="34" charset="-120"/>
              </a:rPr>
              <a:t>Vitest</a:t>
            </a:r>
            <a:pPr algn="l" indent="0" marL="0">
              <a:buNone/>
            </a:pPr>
            <a:r>
              <a:rPr lang="en-US" sz="1400" dirty="0">
                <a:solidFill>
                  <a:srgbClr val="6B7280"/>
                </a:solidFill>
                <a:latin typeface="Calibri" pitchFamily="34" charset="0"/>
                <a:ea typeface="Calibri" pitchFamily="34" charset="-122"/>
                <a:cs typeface="Calibri" pitchFamily="34" charset="-120"/>
              </a:rPr>
              <a:t>  ·  </a:t>
            </a:r>
            <a:pPr algn="l" indent="0" marL="0">
              <a:buNone/>
            </a:pPr>
            <a:r>
              <a:rPr lang="en-US" sz="1400" dirty="0">
                <a:solidFill>
                  <a:srgbClr val="F4F4F5"/>
                </a:solidFill>
                <a:latin typeface="Calibri" pitchFamily="34" charset="0"/>
                <a:ea typeface="Calibri" pitchFamily="34" charset="-122"/>
                <a:cs typeface="Calibri" pitchFamily="34" charset="-120"/>
              </a:rPr>
              <a:t>Playwright</a:t>
            </a:r>
            <a:endParaRPr lang="en-US" sz="1400" dirty="0"/>
          </a:p>
        </p:txBody>
      </p:sp>
      <p:sp>
        <p:nvSpPr>
          <p:cNvPr id="25" name="Text 23"/>
          <p:cNvSpPr/>
          <p:nvPr/>
        </p:nvSpPr>
        <p:spPr>
          <a:xfrm>
            <a:off x="548640" y="5248656"/>
            <a:ext cx="2743200" cy="475488"/>
          </a:xfrm>
          <a:prstGeom prst="rect">
            <a:avLst/>
          </a:prstGeom>
          <a:noFill/>
          <a:ln/>
        </p:spPr>
        <p:txBody>
          <a:bodyPr wrap="square" lIns="0" tIns="0" rIns="0" bIns="0" rtlCol="0" anchor="ctr"/>
          <a:lstStyle/>
          <a:p>
            <a:pPr algn="r" indent="0" marL="0">
              <a:buNone/>
            </a:pPr>
            <a:r>
              <a:rPr lang="en-US" sz="1500" b="1" dirty="0">
                <a:solidFill>
                  <a:srgbClr val="F5C161"/>
                </a:solidFill>
                <a:latin typeface="Calibri" pitchFamily="34" charset="0"/>
                <a:ea typeface="Calibri" pitchFamily="34" charset="-122"/>
                <a:cs typeface="Calibri" pitchFamily="34" charset="-120"/>
              </a:rPr>
              <a:t>DevOps</a:t>
            </a:r>
            <a:endParaRPr lang="en-US" sz="1500" dirty="0"/>
          </a:p>
        </p:txBody>
      </p:sp>
      <p:sp>
        <p:nvSpPr>
          <p:cNvPr id="26" name="Shape 24"/>
          <p:cNvSpPr/>
          <p:nvPr/>
        </p:nvSpPr>
        <p:spPr>
          <a:xfrm>
            <a:off x="3429000" y="5340096"/>
            <a:ext cx="36576" cy="292608"/>
          </a:xfrm>
          <a:prstGeom prst="rect">
            <a:avLst/>
          </a:prstGeom>
          <a:solidFill>
            <a:srgbClr val="B57820"/>
          </a:solidFill>
          <a:ln w="12700">
            <a:solidFill>
              <a:srgbClr val="B57820"/>
            </a:solidFill>
            <a:prstDash val="solid"/>
          </a:ln>
        </p:spPr>
      </p:sp>
      <p:sp>
        <p:nvSpPr>
          <p:cNvPr id="27" name="Text 25"/>
          <p:cNvSpPr/>
          <p:nvPr/>
        </p:nvSpPr>
        <p:spPr>
          <a:xfrm>
            <a:off x="3611880" y="5248656"/>
            <a:ext cx="7955280" cy="475488"/>
          </a:xfrm>
          <a:prstGeom prst="rect">
            <a:avLst/>
          </a:prstGeom>
          <a:noFill/>
          <a:ln/>
        </p:spPr>
        <p:txBody>
          <a:bodyPr wrap="square" lIns="0" tIns="0" rIns="0" bIns="0" rtlCol="0" anchor="ctr"/>
          <a:lstStyle/>
          <a:p>
            <a:pPr algn="l" indent="0" marL="0">
              <a:buNone/>
            </a:pPr>
            <a:r>
              <a:rPr lang="en-US" sz="1400" dirty="0">
                <a:solidFill>
                  <a:srgbClr val="F4F4F5"/>
                </a:solidFill>
                <a:latin typeface="Calibri" pitchFamily="34" charset="0"/>
                <a:ea typeface="Calibri" pitchFamily="34" charset="-122"/>
                <a:cs typeface="Calibri" pitchFamily="34" charset="-120"/>
              </a:rPr>
              <a:t>Docker (multi-stage Node 20 Alpine)</a:t>
            </a:r>
            <a:pPr algn="l" indent="0" marL="0">
              <a:buNone/>
            </a:pPr>
            <a:r>
              <a:rPr lang="en-US" sz="1400" dirty="0">
                <a:solidFill>
                  <a:srgbClr val="6B7280"/>
                </a:solidFill>
                <a:latin typeface="Calibri" pitchFamily="34" charset="0"/>
                <a:ea typeface="Calibri" pitchFamily="34" charset="-122"/>
                <a:cs typeface="Calibri" pitchFamily="34" charset="-120"/>
              </a:rPr>
              <a:t>  ·  </a:t>
            </a:r>
            <a:pPr algn="l" indent="0" marL="0">
              <a:buNone/>
            </a:pPr>
            <a:r>
              <a:rPr lang="en-US" sz="1400" dirty="0">
                <a:solidFill>
                  <a:srgbClr val="F4F4F5"/>
                </a:solidFill>
                <a:latin typeface="Calibri" pitchFamily="34" charset="0"/>
                <a:ea typeface="Calibri" pitchFamily="34" charset="-122"/>
                <a:cs typeface="Calibri" pitchFamily="34" charset="-120"/>
              </a:rPr>
              <a:t>Kubernetes / k3s</a:t>
            </a:r>
            <a:pPr algn="l" indent="0" marL="0">
              <a:buNone/>
            </a:pPr>
            <a:r>
              <a:rPr lang="en-US" sz="1400" dirty="0">
                <a:solidFill>
                  <a:srgbClr val="6B7280"/>
                </a:solidFill>
                <a:latin typeface="Calibri" pitchFamily="34" charset="0"/>
                <a:ea typeface="Calibri" pitchFamily="34" charset="-122"/>
                <a:cs typeface="Calibri" pitchFamily="34" charset="-120"/>
              </a:rPr>
              <a:t>  ·  </a:t>
            </a:r>
            <a:pPr algn="l" indent="0" marL="0">
              <a:buNone/>
            </a:pPr>
            <a:r>
              <a:rPr lang="en-US" sz="1400" dirty="0">
                <a:solidFill>
                  <a:srgbClr val="F4F4F5"/>
                </a:solidFill>
                <a:latin typeface="Calibri" pitchFamily="34" charset="0"/>
                <a:ea typeface="Calibri" pitchFamily="34" charset="-122"/>
                <a:cs typeface="Calibri" pitchFamily="34" charset="-120"/>
              </a:rPr>
              <a:t>GitHub Actions</a:t>
            </a:r>
            <a:endParaRPr lang="en-US" sz="1400" dirty="0"/>
          </a:p>
        </p:txBody>
      </p:sp>
      <p:sp>
        <p:nvSpPr>
          <p:cNvPr id="28" name="Shape 26"/>
          <p:cNvSpPr/>
          <p:nvPr/>
        </p:nvSpPr>
        <p:spPr>
          <a:xfrm>
            <a:off x="457200" y="6519672"/>
            <a:ext cx="11277295" cy="0"/>
          </a:xfrm>
          <a:prstGeom prst="line">
            <a:avLst/>
          </a:prstGeom>
          <a:noFill/>
          <a:ln w="9525">
            <a:solidFill>
              <a:srgbClr val="2D3138"/>
            </a:solidFill>
            <a:prstDash val="solid"/>
          </a:ln>
        </p:spPr>
      </p:sp>
      <p:sp>
        <p:nvSpPr>
          <p:cNvPr id="29" name="Text 27"/>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30" name="Text 28"/>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12 / 33</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Database Design</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Shape 2"/>
          <p:cNvSpPr/>
          <p:nvPr/>
        </p:nvSpPr>
        <p:spPr>
          <a:xfrm>
            <a:off x="548640" y="1417320"/>
            <a:ext cx="4389120" cy="1417320"/>
          </a:xfrm>
          <a:prstGeom prst="roundRect">
            <a:avLst>
              <a:gd name="adj" fmla="val 7742"/>
            </a:avLst>
          </a:prstGeom>
          <a:solidFill>
            <a:srgbClr val="1A1D24"/>
          </a:solidFill>
          <a:ln w="9525">
            <a:solidFill>
              <a:srgbClr val="2D3138"/>
            </a:solidFill>
            <a:prstDash val="solid"/>
          </a:ln>
        </p:spPr>
      </p:sp>
      <p:sp>
        <p:nvSpPr>
          <p:cNvPr id="5" name="Shape 3"/>
          <p:cNvSpPr/>
          <p:nvPr/>
        </p:nvSpPr>
        <p:spPr>
          <a:xfrm>
            <a:off x="749808" y="1581912"/>
            <a:ext cx="384048" cy="384048"/>
          </a:xfrm>
          <a:prstGeom prst="ellipse">
            <a:avLst/>
          </a:prstGeom>
          <a:solidFill>
            <a:srgbClr val="E8A33D"/>
          </a:solidFill>
          <a:ln w="15875">
            <a:solidFill>
              <a:srgbClr val="F5C161"/>
            </a:solidFill>
            <a:prstDash val="solid"/>
          </a:ln>
        </p:spPr>
      </p:sp>
      <p:sp>
        <p:nvSpPr>
          <p:cNvPr id="6" name="Text 4"/>
          <p:cNvSpPr/>
          <p:nvPr/>
        </p:nvSpPr>
        <p:spPr>
          <a:xfrm>
            <a:off x="749808" y="158191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1225296" y="1545336"/>
            <a:ext cx="361188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JSONB polymorphic content</a:t>
            </a:r>
            <a:endParaRPr lang="en-US" sz="1600" dirty="0"/>
          </a:p>
        </p:txBody>
      </p:sp>
      <p:sp>
        <p:nvSpPr>
          <p:cNvPr id="8" name="Text 6"/>
          <p:cNvSpPr/>
          <p:nvPr/>
        </p:nvSpPr>
        <p:spPr>
          <a:xfrm>
            <a:off x="804672" y="2039112"/>
            <a:ext cx="3931920" cy="70408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Three question types (MCQ / written / UML) without messy joins.</a:t>
            </a:r>
            <a:endParaRPr lang="en-US" sz="1300" dirty="0"/>
          </a:p>
        </p:txBody>
      </p:sp>
      <p:sp>
        <p:nvSpPr>
          <p:cNvPr id="9" name="Shape 7"/>
          <p:cNvSpPr/>
          <p:nvPr/>
        </p:nvSpPr>
        <p:spPr>
          <a:xfrm>
            <a:off x="548640" y="3017520"/>
            <a:ext cx="4389120" cy="1417320"/>
          </a:xfrm>
          <a:prstGeom prst="roundRect">
            <a:avLst>
              <a:gd name="adj" fmla="val 7742"/>
            </a:avLst>
          </a:prstGeom>
          <a:solidFill>
            <a:srgbClr val="1A1D24"/>
          </a:solidFill>
          <a:ln w="9525">
            <a:solidFill>
              <a:srgbClr val="2D3138"/>
            </a:solidFill>
            <a:prstDash val="solid"/>
          </a:ln>
        </p:spPr>
      </p:sp>
      <p:sp>
        <p:nvSpPr>
          <p:cNvPr id="10" name="Shape 8"/>
          <p:cNvSpPr/>
          <p:nvPr/>
        </p:nvSpPr>
        <p:spPr>
          <a:xfrm>
            <a:off x="749808" y="3182112"/>
            <a:ext cx="384048" cy="384048"/>
          </a:xfrm>
          <a:prstGeom prst="ellipse">
            <a:avLst/>
          </a:prstGeom>
          <a:solidFill>
            <a:srgbClr val="E8A33D"/>
          </a:solidFill>
          <a:ln w="15875">
            <a:solidFill>
              <a:srgbClr val="F5C161"/>
            </a:solidFill>
            <a:prstDash val="solid"/>
          </a:ln>
        </p:spPr>
      </p:sp>
      <p:sp>
        <p:nvSpPr>
          <p:cNvPr id="11" name="Text 9"/>
          <p:cNvSpPr/>
          <p:nvPr/>
        </p:nvSpPr>
        <p:spPr>
          <a:xfrm>
            <a:off x="749808" y="318211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02</a:t>
            </a:r>
            <a:endParaRPr lang="en-US" sz="1300" dirty="0"/>
          </a:p>
        </p:txBody>
      </p:sp>
      <p:sp>
        <p:nvSpPr>
          <p:cNvPr id="12" name="Text 10"/>
          <p:cNvSpPr/>
          <p:nvPr/>
        </p:nvSpPr>
        <p:spPr>
          <a:xfrm>
            <a:off x="1225296" y="3145536"/>
            <a:ext cx="361188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Postgres enums for state</a:t>
            </a:r>
            <a:endParaRPr lang="en-US" sz="1600" dirty="0"/>
          </a:p>
        </p:txBody>
      </p:sp>
      <p:sp>
        <p:nvSpPr>
          <p:cNvPr id="13" name="Text 11"/>
          <p:cNvSpPr/>
          <p:nvPr/>
        </p:nvSpPr>
        <p:spPr>
          <a:xfrm>
            <a:off x="804672" y="3639312"/>
            <a:ext cx="3931920" cy="70408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submission_status: draft → submitted → late → grading → graded, enforced at DB level.</a:t>
            </a:r>
            <a:endParaRPr lang="en-US" sz="1300" dirty="0"/>
          </a:p>
        </p:txBody>
      </p:sp>
      <p:sp>
        <p:nvSpPr>
          <p:cNvPr id="14" name="Shape 12"/>
          <p:cNvSpPr/>
          <p:nvPr/>
        </p:nvSpPr>
        <p:spPr>
          <a:xfrm>
            <a:off x="548640" y="4617720"/>
            <a:ext cx="4389120" cy="1417320"/>
          </a:xfrm>
          <a:prstGeom prst="roundRect">
            <a:avLst>
              <a:gd name="adj" fmla="val 7742"/>
            </a:avLst>
          </a:prstGeom>
          <a:solidFill>
            <a:srgbClr val="1A1D24"/>
          </a:solidFill>
          <a:ln w="9525">
            <a:solidFill>
              <a:srgbClr val="2D3138"/>
            </a:solidFill>
            <a:prstDash val="solid"/>
          </a:ln>
        </p:spPr>
      </p:sp>
      <p:sp>
        <p:nvSpPr>
          <p:cNvPr id="15" name="Shape 13"/>
          <p:cNvSpPr/>
          <p:nvPr/>
        </p:nvSpPr>
        <p:spPr>
          <a:xfrm>
            <a:off x="749808" y="4782312"/>
            <a:ext cx="384048" cy="384048"/>
          </a:xfrm>
          <a:prstGeom prst="ellipse">
            <a:avLst/>
          </a:prstGeom>
          <a:solidFill>
            <a:srgbClr val="E8A33D"/>
          </a:solidFill>
          <a:ln w="15875">
            <a:solidFill>
              <a:srgbClr val="F5C161"/>
            </a:solidFill>
            <a:prstDash val="solid"/>
          </a:ln>
        </p:spPr>
      </p:sp>
      <p:sp>
        <p:nvSpPr>
          <p:cNvPr id="16" name="Text 14"/>
          <p:cNvSpPr/>
          <p:nvPr/>
        </p:nvSpPr>
        <p:spPr>
          <a:xfrm>
            <a:off x="749808" y="478231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03</a:t>
            </a:r>
            <a:endParaRPr lang="en-US" sz="1300" dirty="0"/>
          </a:p>
        </p:txBody>
      </p:sp>
      <p:sp>
        <p:nvSpPr>
          <p:cNvPr id="17" name="Text 15"/>
          <p:cNvSpPr/>
          <p:nvPr/>
        </p:nvSpPr>
        <p:spPr>
          <a:xfrm>
            <a:off x="1225296" y="4745736"/>
            <a:ext cx="361188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Composite uniqueness</a:t>
            </a:r>
            <a:endParaRPr lang="en-US" sz="1600" dirty="0"/>
          </a:p>
        </p:txBody>
      </p:sp>
      <p:sp>
        <p:nvSpPr>
          <p:cNvPr id="18" name="Text 16"/>
          <p:cNvSpPr/>
          <p:nvPr/>
        </p:nvSpPr>
        <p:spPr>
          <a:xfrm>
            <a:off x="804672" y="5239512"/>
            <a:ext cx="3931920" cy="70408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Guarantees integrity under concurrent exam load — race conditions cannot create duplicates.</a:t>
            </a:r>
            <a:endParaRPr lang="en-US" sz="1300" dirty="0"/>
          </a:p>
        </p:txBody>
      </p:sp>
      <p:sp>
        <p:nvSpPr>
          <p:cNvPr id="19" name="Shape 17"/>
          <p:cNvSpPr/>
          <p:nvPr/>
        </p:nvSpPr>
        <p:spPr>
          <a:xfrm>
            <a:off x="5212080" y="1325880"/>
            <a:ext cx="6446520" cy="4937760"/>
          </a:xfrm>
          <a:prstGeom prst="roundRect">
            <a:avLst>
              <a:gd name="adj" fmla="val 1481"/>
            </a:avLst>
          </a:prstGeom>
          <a:solidFill>
            <a:srgbClr val="FFFFFF"/>
          </a:solidFill>
          <a:ln w="6350">
            <a:solidFill>
              <a:srgbClr val="2D3138"/>
            </a:solidFill>
            <a:prstDash val="solid"/>
          </a:ln>
        </p:spPr>
      </p:sp>
      <p:pic>
        <p:nvPicPr>
          <p:cNvPr id="20" name="Image 0" descr="/Users/ethan/School/fyp/docs/fyp-presentation/build/figures/3_2_er_diagram.png">    </p:cNvPr>
          <p:cNvPicPr>
            <a:picLocks noChangeAspect="1"/>
          </p:cNvPicPr>
          <p:nvPr/>
        </p:nvPicPr>
        <p:blipFill>
          <a:blip r:embed="rId1"/>
          <a:stretch>
            <a:fillRect/>
          </a:stretch>
        </p:blipFill>
        <p:spPr>
          <a:xfrm>
            <a:off x="6263549" y="1490472"/>
            <a:ext cx="4343583" cy="4279392"/>
          </a:xfrm>
          <a:prstGeom prst="rect">
            <a:avLst/>
          </a:prstGeom>
        </p:spPr>
      </p:pic>
      <p:sp>
        <p:nvSpPr>
          <p:cNvPr id="21" name="Text 18"/>
          <p:cNvSpPr/>
          <p:nvPr/>
        </p:nvSpPr>
        <p:spPr>
          <a:xfrm>
            <a:off x="5376672" y="5806440"/>
            <a:ext cx="6117336" cy="292608"/>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Figure 3.2 — Entity-Relationship Diagram (16 tables, 5 functional groups)</a:t>
            </a:r>
            <a:endParaRPr lang="en-US" sz="1100" dirty="0"/>
          </a:p>
        </p:txBody>
      </p:sp>
      <p:sp>
        <p:nvSpPr>
          <p:cNvPr id="22" name="Shape 19"/>
          <p:cNvSpPr/>
          <p:nvPr/>
        </p:nvSpPr>
        <p:spPr>
          <a:xfrm>
            <a:off x="457200" y="6519672"/>
            <a:ext cx="11277295" cy="0"/>
          </a:xfrm>
          <a:prstGeom prst="line">
            <a:avLst/>
          </a:prstGeom>
          <a:noFill/>
          <a:ln w="9525">
            <a:solidFill>
              <a:srgbClr val="2D3138"/>
            </a:solidFill>
            <a:prstDash val="solid"/>
          </a:ln>
        </p:spPr>
      </p:sp>
      <p:sp>
        <p:nvSpPr>
          <p:cNvPr id="23" name="Text 20"/>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24" name="Text 21"/>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13 / 33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Lifecycle · Staff Side</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Shape 2"/>
          <p:cNvSpPr/>
          <p:nvPr/>
        </p:nvSpPr>
        <p:spPr>
          <a:xfrm>
            <a:off x="548640" y="1325880"/>
            <a:ext cx="3611880" cy="2377440"/>
          </a:xfrm>
          <a:prstGeom prst="roundRect">
            <a:avLst>
              <a:gd name="adj" fmla="val 3077"/>
            </a:avLst>
          </a:prstGeom>
          <a:solidFill>
            <a:srgbClr val="FFFFFF"/>
          </a:solidFill>
          <a:ln w="6350">
            <a:solidFill>
              <a:srgbClr val="2D3138"/>
            </a:solidFill>
            <a:prstDash val="solid"/>
          </a:ln>
        </p:spPr>
      </p:sp>
      <p:pic>
        <p:nvPicPr>
          <p:cNvPr id="5" name="Image 0" descr="/Users/ethan/School/fyp/docs/fyp-presentation/build/figures/3_3_staff_dashboard.png">    </p:cNvPr>
          <p:cNvPicPr>
            <a:picLocks noChangeAspect="1"/>
          </p:cNvPicPr>
          <p:nvPr/>
        </p:nvPicPr>
        <p:blipFill>
          <a:blip r:embed="rId1"/>
          <a:stretch>
            <a:fillRect/>
          </a:stretch>
        </p:blipFill>
        <p:spPr>
          <a:xfrm>
            <a:off x="713232" y="1661952"/>
            <a:ext cx="3282696" cy="1705297"/>
          </a:xfrm>
          <a:prstGeom prst="rect">
            <a:avLst/>
          </a:prstGeom>
        </p:spPr>
      </p:pic>
      <p:sp>
        <p:nvSpPr>
          <p:cNvPr id="6" name="Shape 3"/>
          <p:cNvSpPr/>
          <p:nvPr/>
        </p:nvSpPr>
        <p:spPr>
          <a:xfrm rot="5400000">
            <a:off x="4098798" y="2350008"/>
            <a:ext cx="329184" cy="329184"/>
          </a:xfrm>
          <a:prstGeom prst="rtTriangle">
            <a:avLst/>
          </a:prstGeom>
          <a:solidFill>
            <a:srgbClr val="E8A33D"/>
          </a:solidFill>
          <a:ln w="12700">
            <a:solidFill>
              <a:srgbClr val="E8A33D"/>
            </a:solidFill>
            <a:prstDash val="solid"/>
          </a:ln>
        </p:spPr>
      </p:sp>
      <p:sp>
        <p:nvSpPr>
          <p:cNvPr id="7" name="Text 4"/>
          <p:cNvSpPr/>
          <p:nvPr/>
        </p:nvSpPr>
        <p:spPr>
          <a:xfrm>
            <a:off x="548640" y="3840480"/>
            <a:ext cx="3611880" cy="384048"/>
          </a:xfrm>
          <a:prstGeom prst="rect">
            <a:avLst/>
          </a:prstGeom>
          <a:noFill/>
          <a:ln/>
        </p:spPr>
        <p:txBody>
          <a:bodyPr wrap="square" lIns="0" tIns="0" rIns="0" bIns="0" rtlCol="0" anchor="ctr"/>
          <a:lstStyle/>
          <a:p>
            <a:pPr algn="ctr" indent="0" marL="0">
              <a:buNone/>
            </a:pPr>
            <a:r>
              <a:rPr lang="en-US" sz="1700" b="1" dirty="0">
                <a:solidFill>
                  <a:srgbClr val="F5C161"/>
                </a:solidFill>
                <a:latin typeface="Calibri" pitchFamily="34" charset="0"/>
                <a:ea typeface="Calibri" pitchFamily="34" charset="-122"/>
                <a:cs typeface="Calibri" pitchFamily="34" charset="-120"/>
              </a:rPr>
              <a:t>Course Management</a:t>
            </a:r>
            <a:endParaRPr lang="en-US" sz="1700" dirty="0"/>
          </a:p>
        </p:txBody>
      </p:sp>
      <p:sp>
        <p:nvSpPr>
          <p:cNvPr id="8" name="Text 5"/>
          <p:cNvSpPr/>
          <p:nvPr/>
        </p:nvSpPr>
        <p:spPr>
          <a:xfrm>
            <a:off x="548640" y="4297680"/>
            <a:ext cx="3611880" cy="1463040"/>
          </a:xfrm>
          <a:prstGeom prst="rect">
            <a:avLst/>
          </a:prstGeom>
          <a:noFill/>
          <a:ln/>
        </p:spPr>
        <p:txBody>
          <a:bodyPr wrap="square" lIns="0" tIns="0" rIns="0" bIns="0" rtlCol="0" anchor="t"/>
          <a:lstStyle/>
          <a:p>
            <a:pPr algn="ctr" indent="0" marL="0">
              <a:buNone/>
            </a:pPr>
            <a:r>
              <a:rPr lang="en-US" sz="1300" dirty="0">
                <a:solidFill>
                  <a:srgbClr val="F4F4F5"/>
                </a:solidFill>
                <a:latin typeface="Calibri" pitchFamily="34" charset="0"/>
                <a:ea typeface="Calibri" pitchFamily="34" charset="-122"/>
                <a:cs typeface="Calibri" pitchFamily="34" charset="-120"/>
              </a:rPr>
              <a:t>Individual + bulk CSV enrollment with transactional rollback.</a:t>
            </a:r>
            <a:endParaRPr lang="en-US" sz="1300" dirty="0"/>
          </a:p>
        </p:txBody>
      </p:sp>
      <p:sp>
        <p:nvSpPr>
          <p:cNvPr id="9" name="Shape 6"/>
          <p:cNvSpPr/>
          <p:nvPr/>
        </p:nvSpPr>
        <p:spPr>
          <a:xfrm>
            <a:off x="4366260" y="1325880"/>
            <a:ext cx="3611880" cy="2377440"/>
          </a:xfrm>
          <a:prstGeom prst="roundRect">
            <a:avLst>
              <a:gd name="adj" fmla="val 3077"/>
            </a:avLst>
          </a:prstGeom>
          <a:solidFill>
            <a:srgbClr val="FFFFFF"/>
          </a:solidFill>
          <a:ln w="6350">
            <a:solidFill>
              <a:srgbClr val="2D3138"/>
            </a:solidFill>
            <a:prstDash val="solid"/>
          </a:ln>
        </p:spPr>
      </p:sp>
      <p:pic>
        <p:nvPicPr>
          <p:cNvPr id="10" name="Image 1" descr="/Users/ethan/School/fyp/docs/fyp-presentation/build/figures/3_4_question_pool.png">    </p:cNvPr>
          <p:cNvPicPr>
            <a:picLocks noChangeAspect="1"/>
          </p:cNvPicPr>
          <p:nvPr/>
        </p:nvPicPr>
        <p:blipFill>
          <a:blip r:embed="rId2"/>
          <a:stretch>
            <a:fillRect/>
          </a:stretch>
        </p:blipFill>
        <p:spPr>
          <a:xfrm>
            <a:off x="4530852" y="1657051"/>
            <a:ext cx="3282696" cy="1715097"/>
          </a:xfrm>
          <a:prstGeom prst="rect">
            <a:avLst/>
          </a:prstGeom>
        </p:spPr>
      </p:pic>
      <p:sp>
        <p:nvSpPr>
          <p:cNvPr id="11" name="Shape 7"/>
          <p:cNvSpPr/>
          <p:nvPr/>
        </p:nvSpPr>
        <p:spPr>
          <a:xfrm rot="5400000">
            <a:off x="7916418" y="2350008"/>
            <a:ext cx="329184" cy="329184"/>
          </a:xfrm>
          <a:prstGeom prst="rtTriangle">
            <a:avLst/>
          </a:prstGeom>
          <a:solidFill>
            <a:srgbClr val="E8A33D"/>
          </a:solidFill>
          <a:ln w="12700">
            <a:solidFill>
              <a:srgbClr val="E8A33D"/>
            </a:solidFill>
            <a:prstDash val="solid"/>
          </a:ln>
        </p:spPr>
      </p:sp>
      <p:sp>
        <p:nvSpPr>
          <p:cNvPr id="12" name="Text 8"/>
          <p:cNvSpPr/>
          <p:nvPr/>
        </p:nvSpPr>
        <p:spPr>
          <a:xfrm>
            <a:off x="4366260" y="3840480"/>
            <a:ext cx="3611880" cy="384048"/>
          </a:xfrm>
          <a:prstGeom prst="rect">
            <a:avLst/>
          </a:prstGeom>
          <a:noFill/>
          <a:ln/>
        </p:spPr>
        <p:txBody>
          <a:bodyPr wrap="square" lIns="0" tIns="0" rIns="0" bIns="0" rtlCol="0" anchor="ctr"/>
          <a:lstStyle/>
          <a:p>
            <a:pPr algn="ctr" indent="0" marL="0">
              <a:buNone/>
            </a:pPr>
            <a:r>
              <a:rPr lang="en-US" sz="1700" b="1" dirty="0">
                <a:solidFill>
                  <a:srgbClr val="F5C161"/>
                </a:solidFill>
                <a:latin typeface="Calibri" pitchFamily="34" charset="0"/>
                <a:ea typeface="Calibri" pitchFamily="34" charset="-122"/>
                <a:cs typeface="Calibri" pitchFamily="34" charset="-120"/>
              </a:rPr>
              <a:t>Question Pool</a:t>
            </a:r>
            <a:endParaRPr lang="en-US" sz="1700" dirty="0"/>
          </a:p>
        </p:txBody>
      </p:sp>
      <p:sp>
        <p:nvSpPr>
          <p:cNvPr id="13" name="Text 9"/>
          <p:cNvSpPr/>
          <p:nvPr/>
        </p:nvSpPr>
        <p:spPr>
          <a:xfrm>
            <a:off x="4366260" y="4297680"/>
            <a:ext cx="3611880" cy="1463040"/>
          </a:xfrm>
          <a:prstGeom prst="rect">
            <a:avLst/>
          </a:prstGeom>
          <a:noFill/>
          <a:ln/>
        </p:spPr>
        <p:txBody>
          <a:bodyPr wrap="square" lIns="0" tIns="0" rIns="0" bIns="0" rtlCol="0" anchor="t"/>
          <a:lstStyle/>
          <a:p>
            <a:pPr algn="ctr" indent="0" marL="0">
              <a:buNone/>
            </a:pPr>
            <a:r>
              <a:rPr lang="en-US" sz="1300" dirty="0">
                <a:solidFill>
                  <a:srgbClr val="F4F4F5"/>
                </a:solidFill>
                <a:latin typeface="Calibri" pitchFamily="34" charset="0"/>
                <a:ea typeface="Calibri" pitchFamily="34" charset="-122"/>
                <a:cs typeface="Calibri" pitchFamily="34" charset="-120"/>
              </a:rPr>
              <a:t>Course-scoped, tag-filterable, reusable across assignments.</a:t>
            </a:r>
            <a:endParaRPr lang="en-US" sz="1300" dirty="0"/>
          </a:p>
        </p:txBody>
      </p:sp>
      <p:sp>
        <p:nvSpPr>
          <p:cNvPr id="14" name="Shape 10"/>
          <p:cNvSpPr/>
          <p:nvPr/>
        </p:nvSpPr>
        <p:spPr>
          <a:xfrm>
            <a:off x="8183880" y="1325880"/>
            <a:ext cx="3611880" cy="2377440"/>
          </a:xfrm>
          <a:prstGeom prst="roundRect">
            <a:avLst>
              <a:gd name="adj" fmla="val 3077"/>
            </a:avLst>
          </a:prstGeom>
          <a:solidFill>
            <a:srgbClr val="FFFFFF"/>
          </a:solidFill>
          <a:ln w="6350">
            <a:solidFill>
              <a:srgbClr val="2D3138"/>
            </a:solidFill>
            <a:prstDash val="solid"/>
          </a:ln>
        </p:spPr>
      </p:sp>
      <p:pic>
        <p:nvPicPr>
          <p:cNvPr id="15" name="Image 2" descr="/Users/ethan/School/fyp/docs/fyp-presentation/build/figures/3_5_assignment_builder.png">    </p:cNvPr>
          <p:cNvPicPr>
            <a:picLocks noChangeAspect="1"/>
          </p:cNvPicPr>
          <p:nvPr/>
        </p:nvPicPr>
        <p:blipFill>
          <a:blip r:embed="rId3"/>
          <a:stretch>
            <a:fillRect/>
          </a:stretch>
        </p:blipFill>
        <p:spPr>
          <a:xfrm>
            <a:off x="8348472" y="1657051"/>
            <a:ext cx="3282696" cy="1715097"/>
          </a:xfrm>
          <a:prstGeom prst="rect">
            <a:avLst/>
          </a:prstGeom>
        </p:spPr>
      </p:pic>
      <p:sp>
        <p:nvSpPr>
          <p:cNvPr id="16" name="Text 11"/>
          <p:cNvSpPr/>
          <p:nvPr/>
        </p:nvSpPr>
        <p:spPr>
          <a:xfrm>
            <a:off x="8183880" y="3840480"/>
            <a:ext cx="3611880" cy="384048"/>
          </a:xfrm>
          <a:prstGeom prst="rect">
            <a:avLst/>
          </a:prstGeom>
          <a:noFill/>
          <a:ln/>
        </p:spPr>
        <p:txBody>
          <a:bodyPr wrap="square" lIns="0" tIns="0" rIns="0" bIns="0" rtlCol="0" anchor="ctr"/>
          <a:lstStyle/>
          <a:p>
            <a:pPr algn="ctr" indent="0" marL="0">
              <a:buNone/>
            </a:pPr>
            <a:r>
              <a:rPr lang="en-US" sz="1700" b="1" dirty="0">
                <a:solidFill>
                  <a:srgbClr val="F5C161"/>
                </a:solidFill>
                <a:latin typeface="Calibri" pitchFamily="34" charset="0"/>
                <a:ea typeface="Calibri" pitchFamily="34" charset="-122"/>
                <a:cs typeface="Calibri" pitchFamily="34" charset="-120"/>
              </a:rPr>
              <a:t>Assignment Builder</a:t>
            </a:r>
            <a:endParaRPr lang="en-US" sz="1700" dirty="0"/>
          </a:p>
        </p:txBody>
      </p:sp>
      <p:sp>
        <p:nvSpPr>
          <p:cNvPr id="17" name="Text 12"/>
          <p:cNvSpPr/>
          <p:nvPr/>
        </p:nvSpPr>
        <p:spPr>
          <a:xfrm>
            <a:off x="8183880" y="4297680"/>
            <a:ext cx="3611880" cy="1463040"/>
          </a:xfrm>
          <a:prstGeom prst="rect">
            <a:avLst/>
          </a:prstGeom>
          <a:noFill/>
          <a:ln/>
        </p:spPr>
        <p:txBody>
          <a:bodyPr wrap="square" lIns="0" tIns="0" rIns="0" bIns="0" rtlCol="0" anchor="t"/>
          <a:lstStyle/>
          <a:p>
            <a:pPr algn="ctr" indent="0" marL="0">
              <a:buNone/>
            </a:pPr>
            <a:r>
              <a:rPr lang="en-US" sz="1300" dirty="0">
                <a:solidFill>
                  <a:srgbClr val="F4F4F5"/>
                </a:solidFill>
                <a:latin typeface="Calibri" pitchFamily="34" charset="0"/>
                <a:ea typeface="Calibri" pitchFamily="34" charset="-122"/>
                <a:cs typeface="Calibri" pitchFamily="34" charset="-120"/>
              </a:rPr>
              <a:t>Due date · time limit · attempts · late penalty · shuffle · focus monitor.</a:t>
            </a:r>
            <a:endParaRPr lang="en-US" sz="1300" dirty="0"/>
          </a:p>
        </p:txBody>
      </p:sp>
      <p:sp>
        <p:nvSpPr>
          <p:cNvPr id="18" name="Shape 13"/>
          <p:cNvSpPr/>
          <p:nvPr/>
        </p:nvSpPr>
        <p:spPr>
          <a:xfrm>
            <a:off x="457200" y="6519672"/>
            <a:ext cx="11277295" cy="0"/>
          </a:xfrm>
          <a:prstGeom prst="line">
            <a:avLst/>
          </a:prstGeom>
          <a:noFill/>
          <a:ln w="9525">
            <a:solidFill>
              <a:srgbClr val="2D3138"/>
            </a:solidFill>
            <a:prstDash val="solid"/>
          </a:ln>
        </p:spPr>
      </p:sp>
      <p:sp>
        <p:nvSpPr>
          <p:cNvPr id="19" name="Text 14"/>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20" name="Text 15"/>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14 / 33</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Lifecycle · Student Side</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Shape 2"/>
          <p:cNvSpPr/>
          <p:nvPr/>
        </p:nvSpPr>
        <p:spPr>
          <a:xfrm>
            <a:off x="548640" y="1325880"/>
            <a:ext cx="6400800" cy="3703320"/>
          </a:xfrm>
          <a:prstGeom prst="roundRect">
            <a:avLst>
              <a:gd name="adj" fmla="val 1975"/>
            </a:avLst>
          </a:prstGeom>
          <a:solidFill>
            <a:srgbClr val="FFFFFF"/>
          </a:solidFill>
          <a:ln w="6350">
            <a:solidFill>
              <a:srgbClr val="2D3138"/>
            </a:solidFill>
            <a:prstDash val="solid"/>
          </a:ln>
        </p:spPr>
      </p:sp>
      <p:pic>
        <p:nvPicPr>
          <p:cNvPr id="5" name="Image 0" descr="/Users/ethan/School/fyp/docs/fyp-presentation/build/figures/3_6_student_attempt.png">    </p:cNvPr>
          <p:cNvPicPr>
            <a:picLocks noChangeAspect="1"/>
          </p:cNvPicPr>
          <p:nvPr/>
        </p:nvPicPr>
        <p:blipFill>
          <a:blip r:embed="rId1"/>
          <a:stretch>
            <a:fillRect/>
          </a:stretch>
        </p:blipFill>
        <p:spPr>
          <a:xfrm>
            <a:off x="835021" y="1490472"/>
            <a:ext cx="5828038" cy="3044952"/>
          </a:xfrm>
          <a:prstGeom prst="rect">
            <a:avLst/>
          </a:prstGeom>
        </p:spPr>
      </p:pic>
      <p:sp>
        <p:nvSpPr>
          <p:cNvPr id="6" name="Text 3"/>
          <p:cNvSpPr/>
          <p:nvPr/>
        </p:nvSpPr>
        <p:spPr>
          <a:xfrm>
            <a:off x="713232" y="4572000"/>
            <a:ext cx="6071616" cy="292608"/>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Figure 3.6 — Student attempt UI with auto-save indicator</a:t>
            </a:r>
            <a:endParaRPr lang="en-US" sz="1100" dirty="0"/>
          </a:p>
        </p:txBody>
      </p:sp>
      <p:sp>
        <p:nvSpPr>
          <p:cNvPr id="7" name="Shape 4"/>
          <p:cNvSpPr/>
          <p:nvPr/>
        </p:nvSpPr>
        <p:spPr>
          <a:xfrm>
            <a:off x="7086600" y="1325880"/>
            <a:ext cx="4572000" cy="914400"/>
          </a:xfrm>
          <a:prstGeom prst="roundRect">
            <a:avLst>
              <a:gd name="adj" fmla="val 12000"/>
            </a:avLst>
          </a:prstGeom>
          <a:solidFill>
            <a:srgbClr val="1A1D24"/>
          </a:solidFill>
          <a:ln w="9525">
            <a:solidFill>
              <a:srgbClr val="2D3138"/>
            </a:solidFill>
            <a:prstDash val="solid"/>
          </a:ln>
        </p:spPr>
      </p:sp>
      <p:sp>
        <p:nvSpPr>
          <p:cNvPr id="8" name="Shape 5"/>
          <p:cNvSpPr/>
          <p:nvPr/>
        </p:nvSpPr>
        <p:spPr>
          <a:xfrm>
            <a:off x="7287768" y="1490472"/>
            <a:ext cx="384048" cy="384048"/>
          </a:xfrm>
          <a:prstGeom prst="ellipse">
            <a:avLst/>
          </a:prstGeom>
          <a:solidFill>
            <a:srgbClr val="E8A33D"/>
          </a:solidFill>
          <a:ln w="15875">
            <a:solidFill>
              <a:srgbClr val="F5C161"/>
            </a:solidFill>
            <a:prstDash val="solid"/>
          </a:ln>
        </p:spPr>
      </p:sp>
      <p:sp>
        <p:nvSpPr>
          <p:cNvPr id="9" name="Text 6"/>
          <p:cNvSpPr/>
          <p:nvPr/>
        </p:nvSpPr>
        <p:spPr>
          <a:xfrm>
            <a:off x="7287768" y="149047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01</a:t>
            </a:r>
            <a:endParaRPr lang="en-US" sz="1300" dirty="0"/>
          </a:p>
        </p:txBody>
      </p:sp>
      <p:sp>
        <p:nvSpPr>
          <p:cNvPr id="10" name="Text 7"/>
          <p:cNvSpPr/>
          <p:nvPr/>
        </p:nvSpPr>
        <p:spPr>
          <a:xfrm>
            <a:off x="7763256" y="1453896"/>
            <a:ext cx="379476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Idempotent start</a:t>
            </a:r>
            <a:endParaRPr lang="en-US" sz="1600" dirty="0"/>
          </a:p>
        </p:txBody>
      </p:sp>
      <p:sp>
        <p:nvSpPr>
          <p:cNvPr id="11" name="Text 8"/>
          <p:cNvSpPr/>
          <p:nvPr/>
        </p:nvSpPr>
        <p:spPr>
          <a:xfrm>
            <a:off x="7342632" y="1947672"/>
            <a:ext cx="4114800" cy="20116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If a draft exists, return it; never duplicate.</a:t>
            </a:r>
            <a:endParaRPr lang="en-US" sz="1300" dirty="0"/>
          </a:p>
        </p:txBody>
      </p:sp>
      <p:sp>
        <p:nvSpPr>
          <p:cNvPr id="12" name="Shape 9"/>
          <p:cNvSpPr/>
          <p:nvPr/>
        </p:nvSpPr>
        <p:spPr>
          <a:xfrm>
            <a:off x="7086600" y="2331720"/>
            <a:ext cx="4572000" cy="914400"/>
          </a:xfrm>
          <a:prstGeom prst="roundRect">
            <a:avLst>
              <a:gd name="adj" fmla="val 12000"/>
            </a:avLst>
          </a:prstGeom>
          <a:solidFill>
            <a:srgbClr val="1A1D24"/>
          </a:solidFill>
          <a:ln w="9525">
            <a:solidFill>
              <a:srgbClr val="2D3138"/>
            </a:solidFill>
            <a:prstDash val="solid"/>
          </a:ln>
        </p:spPr>
      </p:sp>
      <p:sp>
        <p:nvSpPr>
          <p:cNvPr id="13" name="Shape 10"/>
          <p:cNvSpPr/>
          <p:nvPr/>
        </p:nvSpPr>
        <p:spPr>
          <a:xfrm>
            <a:off x="7287768" y="2496312"/>
            <a:ext cx="384048" cy="384048"/>
          </a:xfrm>
          <a:prstGeom prst="ellipse">
            <a:avLst/>
          </a:prstGeom>
          <a:solidFill>
            <a:srgbClr val="E8A33D"/>
          </a:solidFill>
          <a:ln w="15875">
            <a:solidFill>
              <a:srgbClr val="F5C161"/>
            </a:solidFill>
            <a:prstDash val="solid"/>
          </a:ln>
        </p:spPr>
      </p:sp>
      <p:sp>
        <p:nvSpPr>
          <p:cNvPr id="14" name="Text 11"/>
          <p:cNvSpPr/>
          <p:nvPr/>
        </p:nvSpPr>
        <p:spPr>
          <a:xfrm>
            <a:off x="7287768" y="249631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02</a:t>
            </a:r>
            <a:endParaRPr lang="en-US" sz="1300" dirty="0"/>
          </a:p>
        </p:txBody>
      </p:sp>
      <p:sp>
        <p:nvSpPr>
          <p:cNvPr id="15" name="Text 12"/>
          <p:cNvSpPr/>
          <p:nvPr/>
        </p:nvSpPr>
        <p:spPr>
          <a:xfrm>
            <a:off x="7763256" y="2459736"/>
            <a:ext cx="379476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Auto-save every 30s</a:t>
            </a:r>
            <a:endParaRPr lang="en-US" sz="1600" dirty="0"/>
          </a:p>
        </p:txBody>
      </p:sp>
      <p:sp>
        <p:nvSpPr>
          <p:cNvPr id="16" name="Text 13"/>
          <p:cNvSpPr/>
          <p:nvPr/>
        </p:nvSpPr>
        <p:spPr>
          <a:xfrm>
            <a:off x="7342632" y="2953512"/>
            <a:ext cx="4114800" cy="20116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Visible timestamp indicator on changes.</a:t>
            </a:r>
            <a:endParaRPr lang="en-US" sz="1300" dirty="0"/>
          </a:p>
        </p:txBody>
      </p:sp>
      <p:sp>
        <p:nvSpPr>
          <p:cNvPr id="17" name="Shape 14"/>
          <p:cNvSpPr/>
          <p:nvPr/>
        </p:nvSpPr>
        <p:spPr>
          <a:xfrm>
            <a:off x="7086600" y="3337560"/>
            <a:ext cx="4572000" cy="914400"/>
          </a:xfrm>
          <a:prstGeom prst="roundRect">
            <a:avLst>
              <a:gd name="adj" fmla="val 12000"/>
            </a:avLst>
          </a:prstGeom>
          <a:solidFill>
            <a:srgbClr val="1A1D24"/>
          </a:solidFill>
          <a:ln w="9525">
            <a:solidFill>
              <a:srgbClr val="2D3138"/>
            </a:solidFill>
            <a:prstDash val="solid"/>
          </a:ln>
        </p:spPr>
      </p:sp>
      <p:sp>
        <p:nvSpPr>
          <p:cNvPr id="18" name="Shape 15"/>
          <p:cNvSpPr/>
          <p:nvPr/>
        </p:nvSpPr>
        <p:spPr>
          <a:xfrm>
            <a:off x="7287768" y="3502152"/>
            <a:ext cx="384048" cy="384048"/>
          </a:xfrm>
          <a:prstGeom prst="ellipse">
            <a:avLst/>
          </a:prstGeom>
          <a:solidFill>
            <a:srgbClr val="E8A33D"/>
          </a:solidFill>
          <a:ln w="15875">
            <a:solidFill>
              <a:srgbClr val="F5C161"/>
            </a:solidFill>
            <a:prstDash val="solid"/>
          </a:ln>
        </p:spPr>
      </p:sp>
      <p:sp>
        <p:nvSpPr>
          <p:cNvPr id="19" name="Text 16"/>
          <p:cNvSpPr/>
          <p:nvPr/>
        </p:nvSpPr>
        <p:spPr>
          <a:xfrm>
            <a:off x="7287768" y="350215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03</a:t>
            </a:r>
            <a:endParaRPr lang="en-US" sz="1300" dirty="0"/>
          </a:p>
        </p:txBody>
      </p:sp>
      <p:sp>
        <p:nvSpPr>
          <p:cNvPr id="20" name="Text 17"/>
          <p:cNvSpPr/>
          <p:nvPr/>
        </p:nvSpPr>
        <p:spPr>
          <a:xfrm>
            <a:off x="7763256" y="3465576"/>
            <a:ext cx="379476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Dual-layer timer</a:t>
            </a:r>
            <a:endParaRPr lang="en-US" sz="1600" dirty="0"/>
          </a:p>
        </p:txBody>
      </p:sp>
      <p:sp>
        <p:nvSpPr>
          <p:cNvPr id="21" name="Text 18"/>
          <p:cNvSpPr/>
          <p:nvPr/>
        </p:nvSpPr>
        <p:spPr>
          <a:xfrm>
            <a:off x="7342632" y="3959352"/>
            <a:ext cx="4114800" cy="20116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Client countdown for UX + server cron polling every 60s for expired drafts.</a:t>
            </a:r>
            <a:endParaRPr lang="en-US" sz="1300" dirty="0"/>
          </a:p>
        </p:txBody>
      </p:sp>
      <p:sp>
        <p:nvSpPr>
          <p:cNvPr id="22" name="Shape 19"/>
          <p:cNvSpPr/>
          <p:nvPr/>
        </p:nvSpPr>
        <p:spPr>
          <a:xfrm>
            <a:off x="7086600" y="4343400"/>
            <a:ext cx="4572000" cy="914400"/>
          </a:xfrm>
          <a:prstGeom prst="roundRect">
            <a:avLst>
              <a:gd name="adj" fmla="val 12000"/>
            </a:avLst>
          </a:prstGeom>
          <a:solidFill>
            <a:srgbClr val="1A1D24"/>
          </a:solidFill>
          <a:ln w="9525">
            <a:solidFill>
              <a:srgbClr val="2D3138"/>
            </a:solidFill>
            <a:prstDash val="solid"/>
          </a:ln>
        </p:spPr>
      </p:sp>
      <p:sp>
        <p:nvSpPr>
          <p:cNvPr id="23" name="Shape 20"/>
          <p:cNvSpPr/>
          <p:nvPr/>
        </p:nvSpPr>
        <p:spPr>
          <a:xfrm>
            <a:off x="7287768" y="4507992"/>
            <a:ext cx="384048" cy="384048"/>
          </a:xfrm>
          <a:prstGeom prst="ellipse">
            <a:avLst/>
          </a:prstGeom>
          <a:solidFill>
            <a:srgbClr val="E8A33D"/>
          </a:solidFill>
          <a:ln w="15875">
            <a:solidFill>
              <a:srgbClr val="F5C161"/>
            </a:solidFill>
            <a:prstDash val="solid"/>
          </a:ln>
        </p:spPr>
      </p:sp>
      <p:sp>
        <p:nvSpPr>
          <p:cNvPr id="24" name="Text 21"/>
          <p:cNvSpPr/>
          <p:nvPr/>
        </p:nvSpPr>
        <p:spPr>
          <a:xfrm>
            <a:off x="7287768" y="450799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04</a:t>
            </a:r>
            <a:endParaRPr lang="en-US" sz="1300" dirty="0"/>
          </a:p>
        </p:txBody>
      </p:sp>
      <p:sp>
        <p:nvSpPr>
          <p:cNvPr id="25" name="Text 22"/>
          <p:cNvSpPr/>
          <p:nvPr/>
        </p:nvSpPr>
        <p:spPr>
          <a:xfrm>
            <a:off x="7763256" y="4471416"/>
            <a:ext cx="379476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Opt-in focus monitoring</a:t>
            </a:r>
            <a:endParaRPr lang="en-US" sz="1600" dirty="0"/>
          </a:p>
        </p:txBody>
      </p:sp>
      <p:sp>
        <p:nvSpPr>
          <p:cNvPr id="26" name="Text 23"/>
          <p:cNvSpPr/>
          <p:nvPr/>
        </p:nvSpPr>
        <p:spPr>
          <a:xfrm>
            <a:off x="7342632" y="4965192"/>
            <a:ext cx="4114800" cy="20116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Tab switches counted; threshold breach → auto-submit current state.</a:t>
            </a:r>
            <a:endParaRPr lang="en-US" sz="1300" dirty="0"/>
          </a:p>
        </p:txBody>
      </p:sp>
      <p:sp>
        <p:nvSpPr>
          <p:cNvPr id="27" name="Shape 24"/>
          <p:cNvSpPr/>
          <p:nvPr/>
        </p:nvSpPr>
        <p:spPr>
          <a:xfrm>
            <a:off x="7086600" y="5349240"/>
            <a:ext cx="4572000" cy="914400"/>
          </a:xfrm>
          <a:prstGeom prst="roundRect">
            <a:avLst>
              <a:gd name="adj" fmla="val 12000"/>
            </a:avLst>
          </a:prstGeom>
          <a:solidFill>
            <a:srgbClr val="1A1D24"/>
          </a:solidFill>
          <a:ln w="9525">
            <a:solidFill>
              <a:srgbClr val="2D3138"/>
            </a:solidFill>
            <a:prstDash val="solid"/>
          </a:ln>
        </p:spPr>
      </p:sp>
      <p:sp>
        <p:nvSpPr>
          <p:cNvPr id="28" name="Shape 25"/>
          <p:cNvSpPr/>
          <p:nvPr/>
        </p:nvSpPr>
        <p:spPr>
          <a:xfrm>
            <a:off x="7287768" y="5513832"/>
            <a:ext cx="384048" cy="384048"/>
          </a:xfrm>
          <a:prstGeom prst="ellipse">
            <a:avLst/>
          </a:prstGeom>
          <a:solidFill>
            <a:srgbClr val="E8A33D"/>
          </a:solidFill>
          <a:ln w="15875">
            <a:solidFill>
              <a:srgbClr val="F5C161"/>
            </a:solidFill>
            <a:prstDash val="solid"/>
          </a:ln>
        </p:spPr>
      </p:sp>
      <p:sp>
        <p:nvSpPr>
          <p:cNvPr id="29" name="Text 26"/>
          <p:cNvSpPr/>
          <p:nvPr/>
        </p:nvSpPr>
        <p:spPr>
          <a:xfrm>
            <a:off x="7287768" y="551383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05</a:t>
            </a:r>
            <a:endParaRPr lang="en-US" sz="1300" dirty="0"/>
          </a:p>
        </p:txBody>
      </p:sp>
      <p:sp>
        <p:nvSpPr>
          <p:cNvPr id="30" name="Text 27"/>
          <p:cNvSpPr/>
          <p:nvPr/>
        </p:nvSpPr>
        <p:spPr>
          <a:xfrm>
            <a:off x="7763256" y="5477256"/>
            <a:ext cx="379476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Atomic submission</a:t>
            </a:r>
            <a:endParaRPr lang="en-US" sz="1600" dirty="0"/>
          </a:p>
        </p:txBody>
      </p:sp>
      <p:sp>
        <p:nvSpPr>
          <p:cNvPr id="31" name="Text 28"/>
          <p:cNvSpPr/>
          <p:nvPr/>
        </p:nvSpPr>
        <p:spPr>
          <a:xfrm>
            <a:off x="7342632" y="5971032"/>
            <a:ext cx="4114800" cy="20116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Entire submission pipeline wrapped in one DB transaction.</a:t>
            </a:r>
            <a:endParaRPr lang="en-US" sz="1300" dirty="0"/>
          </a:p>
        </p:txBody>
      </p:sp>
      <p:sp>
        <p:nvSpPr>
          <p:cNvPr id="32" name="Shape 29"/>
          <p:cNvSpPr/>
          <p:nvPr/>
        </p:nvSpPr>
        <p:spPr>
          <a:xfrm>
            <a:off x="548640" y="5166360"/>
            <a:ext cx="6400800" cy="1097280"/>
          </a:xfrm>
          <a:prstGeom prst="roundRect">
            <a:avLst>
              <a:gd name="adj" fmla="val 8333"/>
            </a:avLst>
          </a:prstGeom>
          <a:solidFill>
            <a:srgbClr val="1A1D24"/>
          </a:solidFill>
          <a:ln w="9525">
            <a:solidFill>
              <a:srgbClr val="2D3138"/>
            </a:solidFill>
            <a:prstDash val="solid"/>
          </a:ln>
        </p:spPr>
      </p:sp>
      <p:sp>
        <p:nvSpPr>
          <p:cNvPr id="33" name="Text 30"/>
          <p:cNvSpPr/>
          <p:nvPr/>
        </p:nvSpPr>
        <p:spPr>
          <a:xfrm>
            <a:off x="777240" y="5257800"/>
            <a:ext cx="5943600" cy="292608"/>
          </a:xfrm>
          <a:prstGeom prst="rect">
            <a:avLst/>
          </a:prstGeom>
          <a:noFill/>
          <a:ln/>
        </p:spPr>
        <p:txBody>
          <a:bodyPr wrap="square" lIns="0" tIns="0" rIns="0" bIns="0" rtlCol="0" anchor="ctr"/>
          <a:lstStyle/>
          <a:p>
            <a:pPr algn="l" indent="0" marL="0">
              <a:buNone/>
            </a:pPr>
            <a:r>
              <a:rPr lang="en-US" sz="1200" b="1" dirty="0">
                <a:solidFill>
                  <a:srgbClr val="F5C161"/>
                </a:solidFill>
                <a:latin typeface="Calibri" pitchFamily="34" charset="0"/>
                <a:ea typeface="Calibri" pitchFamily="34" charset="-122"/>
                <a:cs typeface="Calibri" pitchFamily="34" charset="-120"/>
              </a:rPr>
              <a:t>Submission state machine</a:t>
            </a:r>
            <a:endParaRPr lang="en-US" sz="1200" dirty="0"/>
          </a:p>
        </p:txBody>
      </p:sp>
      <p:sp>
        <p:nvSpPr>
          <p:cNvPr id="34" name="Shape 31"/>
          <p:cNvSpPr/>
          <p:nvPr/>
        </p:nvSpPr>
        <p:spPr>
          <a:xfrm>
            <a:off x="777240" y="5669280"/>
            <a:ext cx="1024128" cy="457200"/>
          </a:xfrm>
          <a:prstGeom prst="roundRect">
            <a:avLst>
              <a:gd name="adj" fmla="val 50000"/>
            </a:avLst>
          </a:prstGeom>
          <a:solidFill>
            <a:srgbClr val="20242C"/>
          </a:solidFill>
          <a:ln w="12700">
            <a:solidFill>
              <a:srgbClr val="B57820"/>
            </a:solidFill>
            <a:prstDash val="solid"/>
          </a:ln>
        </p:spPr>
      </p:sp>
      <p:sp>
        <p:nvSpPr>
          <p:cNvPr id="35" name="Text 32"/>
          <p:cNvSpPr/>
          <p:nvPr/>
        </p:nvSpPr>
        <p:spPr>
          <a:xfrm>
            <a:off x="777240" y="5669280"/>
            <a:ext cx="1024128" cy="457200"/>
          </a:xfrm>
          <a:prstGeom prst="rect">
            <a:avLst/>
          </a:prstGeom>
          <a:noFill/>
          <a:ln/>
        </p:spPr>
        <p:txBody>
          <a:bodyPr wrap="square" lIns="0" tIns="0" rIns="0" bIns="0" rtlCol="0" anchor="ctr"/>
          <a:lstStyle/>
          <a:p>
            <a:pPr algn="ctr" indent="0" marL="0">
              <a:buNone/>
            </a:pPr>
            <a:r>
              <a:rPr lang="en-US" sz="1200" b="1" dirty="0">
                <a:solidFill>
                  <a:srgbClr val="F4F4F5"/>
                </a:solidFill>
                <a:latin typeface="Calibri" pitchFamily="34" charset="0"/>
                <a:ea typeface="Calibri" pitchFamily="34" charset="-122"/>
                <a:cs typeface="Calibri" pitchFamily="34" charset="-120"/>
              </a:rPr>
              <a:t>draft</a:t>
            </a:r>
            <a:endParaRPr lang="en-US" sz="1200" dirty="0"/>
          </a:p>
        </p:txBody>
      </p:sp>
      <p:sp>
        <p:nvSpPr>
          <p:cNvPr id="36" name="Text 33"/>
          <p:cNvSpPr/>
          <p:nvPr/>
        </p:nvSpPr>
        <p:spPr>
          <a:xfrm>
            <a:off x="1764792" y="5669280"/>
            <a:ext cx="164592" cy="457200"/>
          </a:xfrm>
          <a:prstGeom prst="rect">
            <a:avLst/>
          </a:prstGeom>
          <a:noFill/>
          <a:ln/>
        </p:spPr>
        <p:txBody>
          <a:bodyPr wrap="square" lIns="0" tIns="0" rIns="0" bIns="0" rtlCol="0" anchor="ctr"/>
          <a:lstStyle/>
          <a:p>
            <a:pPr algn="ctr" indent="0" marL="0">
              <a:buNone/>
            </a:pPr>
            <a:r>
              <a:rPr lang="en-US" sz="1400" dirty="0">
                <a:solidFill>
                  <a:srgbClr val="E8A33D"/>
                </a:solidFill>
                <a:latin typeface="Calibri" pitchFamily="34" charset="0"/>
                <a:ea typeface="Calibri" pitchFamily="34" charset="-122"/>
                <a:cs typeface="Calibri" pitchFamily="34" charset="-120"/>
              </a:rPr>
              <a:t>→</a:t>
            </a:r>
            <a:endParaRPr lang="en-US" sz="1400" dirty="0"/>
          </a:p>
        </p:txBody>
      </p:sp>
      <p:sp>
        <p:nvSpPr>
          <p:cNvPr id="37" name="Shape 34"/>
          <p:cNvSpPr/>
          <p:nvPr/>
        </p:nvSpPr>
        <p:spPr>
          <a:xfrm>
            <a:off x="1965960" y="5669280"/>
            <a:ext cx="1024128" cy="457200"/>
          </a:xfrm>
          <a:prstGeom prst="roundRect">
            <a:avLst>
              <a:gd name="adj" fmla="val 50000"/>
            </a:avLst>
          </a:prstGeom>
          <a:solidFill>
            <a:srgbClr val="20242C"/>
          </a:solidFill>
          <a:ln w="12700">
            <a:solidFill>
              <a:srgbClr val="B57820"/>
            </a:solidFill>
            <a:prstDash val="solid"/>
          </a:ln>
        </p:spPr>
      </p:sp>
      <p:sp>
        <p:nvSpPr>
          <p:cNvPr id="38" name="Text 35"/>
          <p:cNvSpPr/>
          <p:nvPr/>
        </p:nvSpPr>
        <p:spPr>
          <a:xfrm>
            <a:off x="1965960" y="5669280"/>
            <a:ext cx="1024128" cy="457200"/>
          </a:xfrm>
          <a:prstGeom prst="rect">
            <a:avLst/>
          </a:prstGeom>
          <a:noFill/>
          <a:ln/>
        </p:spPr>
        <p:txBody>
          <a:bodyPr wrap="square" lIns="0" tIns="0" rIns="0" bIns="0" rtlCol="0" anchor="ctr"/>
          <a:lstStyle/>
          <a:p>
            <a:pPr algn="ctr" indent="0" marL="0">
              <a:buNone/>
            </a:pPr>
            <a:r>
              <a:rPr lang="en-US" sz="1200" b="1" dirty="0">
                <a:solidFill>
                  <a:srgbClr val="F4F4F5"/>
                </a:solidFill>
                <a:latin typeface="Calibri" pitchFamily="34" charset="0"/>
                <a:ea typeface="Calibri" pitchFamily="34" charset="-122"/>
                <a:cs typeface="Calibri" pitchFamily="34" charset="-120"/>
              </a:rPr>
              <a:t>submitted</a:t>
            </a:r>
            <a:endParaRPr lang="en-US" sz="1200" dirty="0"/>
          </a:p>
        </p:txBody>
      </p:sp>
      <p:sp>
        <p:nvSpPr>
          <p:cNvPr id="39" name="Text 36"/>
          <p:cNvSpPr/>
          <p:nvPr/>
        </p:nvSpPr>
        <p:spPr>
          <a:xfrm>
            <a:off x="2953512" y="5669280"/>
            <a:ext cx="164592" cy="457200"/>
          </a:xfrm>
          <a:prstGeom prst="rect">
            <a:avLst/>
          </a:prstGeom>
          <a:noFill/>
          <a:ln/>
        </p:spPr>
        <p:txBody>
          <a:bodyPr wrap="square" lIns="0" tIns="0" rIns="0" bIns="0" rtlCol="0" anchor="ctr"/>
          <a:lstStyle/>
          <a:p>
            <a:pPr algn="ctr" indent="0" marL="0">
              <a:buNone/>
            </a:pPr>
            <a:r>
              <a:rPr lang="en-US" sz="1400" dirty="0">
                <a:solidFill>
                  <a:srgbClr val="E8A33D"/>
                </a:solidFill>
                <a:latin typeface="Calibri" pitchFamily="34" charset="0"/>
                <a:ea typeface="Calibri" pitchFamily="34" charset="-122"/>
                <a:cs typeface="Calibri" pitchFamily="34" charset="-120"/>
              </a:rPr>
              <a:t>→</a:t>
            </a:r>
            <a:endParaRPr lang="en-US" sz="1400" dirty="0"/>
          </a:p>
        </p:txBody>
      </p:sp>
      <p:sp>
        <p:nvSpPr>
          <p:cNvPr id="40" name="Shape 37"/>
          <p:cNvSpPr/>
          <p:nvPr/>
        </p:nvSpPr>
        <p:spPr>
          <a:xfrm>
            <a:off x="3154680" y="5669280"/>
            <a:ext cx="1024128" cy="457200"/>
          </a:xfrm>
          <a:prstGeom prst="roundRect">
            <a:avLst>
              <a:gd name="adj" fmla="val 50000"/>
            </a:avLst>
          </a:prstGeom>
          <a:solidFill>
            <a:srgbClr val="20242C"/>
          </a:solidFill>
          <a:ln w="12700">
            <a:solidFill>
              <a:srgbClr val="B57820"/>
            </a:solidFill>
            <a:prstDash val="solid"/>
          </a:ln>
        </p:spPr>
      </p:sp>
      <p:sp>
        <p:nvSpPr>
          <p:cNvPr id="41" name="Text 38"/>
          <p:cNvSpPr/>
          <p:nvPr/>
        </p:nvSpPr>
        <p:spPr>
          <a:xfrm>
            <a:off x="3154680" y="5669280"/>
            <a:ext cx="1024128" cy="457200"/>
          </a:xfrm>
          <a:prstGeom prst="rect">
            <a:avLst/>
          </a:prstGeom>
          <a:noFill/>
          <a:ln/>
        </p:spPr>
        <p:txBody>
          <a:bodyPr wrap="square" lIns="0" tIns="0" rIns="0" bIns="0" rtlCol="0" anchor="ctr"/>
          <a:lstStyle/>
          <a:p>
            <a:pPr algn="ctr" indent="0" marL="0">
              <a:buNone/>
            </a:pPr>
            <a:r>
              <a:rPr lang="en-US" sz="1200" b="1" dirty="0">
                <a:solidFill>
                  <a:srgbClr val="F4F4F5"/>
                </a:solidFill>
                <a:latin typeface="Calibri" pitchFamily="34" charset="0"/>
                <a:ea typeface="Calibri" pitchFamily="34" charset="-122"/>
                <a:cs typeface="Calibri" pitchFamily="34" charset="-120"/>
              </a:rPr>
              <a:t>late</a:t>
            </a:r>
            <a:endParaRPr lang="en-US" sz="1200" dirty="0"/>
          </a:p>
        </p:txBody>
      </p:sp>
      <p:sp>
        <p:nvSpPr>
          <p:cNvPr id="42" name="Text 39"/>
          <p:cNvSpPr/>
          <p:nvPr/>
        </p:nvSpPr>
        <p:spPr>
          <a:xfrm>
            <a:off x="4142232" y="5669280"/>
            <a:ext cx="164592" cy="457200"/>
          </a:xfrm>
          <a:prstGeom prst="rect">
            <a:avLst/>
          </a:prstGeom>
          <a:noFill/>
          <a:ln/>
        </p:spPr>
        <p:txBody>
          <a:bodyPr wrap="square" lIns="0" tIns="0" rIns="0" bIns="0" rtlCol="0" anchor="ctr"/>
          <a:lstStyle/>
          <a:p>
            <a:pPr algn="ctr" indent="0" marL="0">
              <a:buNone/>
            </a:pPr>
            <a:r>
              <a:rPr lang="en-US" sz="1400" dirty="0">
                <a:solidFill>
                  <a:srgbClr val="E8A33D"/>
                </a:solidFill>
                <a:latin typeface="Calibri" pitchFamily="34" charset="0"/>
                <a:ea typeface="Calibri" pitchFamily="34" charset="-122"/>
                <a:cs typeface="Calibri" pitchFamily="34" charset="-120"/>
              </a:rPr>
              <a:t>→</a:t>
            </a:r>
            <a:endParaRPr lang="en-US" sz="1400" dirty="0"/>
          </a:p>
        </p:txBody>
      </p:sp>
      <p:sp>
        <p:nvSpPr>
          <p:cNvPr id="43" name="Shape 40"/>
          <p:cNvSpPr/>
          <p:nvPr/>
        </p:nvSpPr>
        <p:spPr>
          <a:xfrm>
            <a:off x="4343400" y="5669280"/>
            <a:ext cx="1024128" cy="457200"/>
          </a:xfrm>
          <a:prstGeom prst="roundRect">
            <a:avLst>
              <a:gd name="adj" fmla="val 50000"/>
            </a:avLst>
          </a:prstGeom>
          <a:solidFill>
            <a:srgbClr val="20242C"/>
          </a:solidFill>
          <a:ln w="12700">
            <a:solidFill>
              <a:srgbClr val="B57820"/>
            </a:solidFill>
            <a:prstDash val="solid"/>
          </a:ln>
        </p:spPr>
      </p:sp>
      <p:sp>
        <p:nvSpPr>
          <p:cNvPr id="44" name="Text 41"/>
          <p:cNvSpPr/>
          <p:nvPr/>
        </p:nvSpPr>
        <p:spPr>
          <a:xfrm>
            <a:off x="4343400" y="5669280"/>
            <a:ext cx="1024128" cy="457200"/>
          </a:xfrm>
          <a:prstGeom prst="rect">
            <a:avLst/>
          </a:prstGeom>
          <a:noFill/>
          <a:ln/>
        </p:spPr>
        <p:txBody>
          <a:bodyPr wrap="square" lIns="0" tIns="0" rIns="0" bIns="0" rtlCol="0" anchor="ctr"/>
          <a:lstStyle/>
          <a:p>
            <a:pPr algn="ctr" indent="0" marL="0">
              <a:buNone/>
            </a:pPr>
            <a:r>
              <a:rPr lang="en-US" sz="1200" b="1" dirty="0">
                <a:solidFill>
                  <a:srgbClr val="F4F4F5"/>
                </a:solidFill>
                <a:latin typeface="Calibri" pitchFamily="34" charset="0"/>
                <a:ea typeface="Calibri" pitchFamily="34" charset="-122"/>
                <a:cs typeface="Calibri" pitchFamily="34" charset="-120"/>
              </a:rPr>
              <a:t>grading</a:t>
            </a:r>
            <a:endParaRPr lang="en-US" sz="1200" dirty="0"/>
          </a:p>
        </p:txBody>
      </p:sp>
      <p:sp>
        <p:nvSpPr>
          <p:cNvPr id="45" name="Text 42"/>
          <p:cNvSpPr/>
          <p:nvPr/>
        </p:nvSpPr>
        <p:spPr>
          <a:xfrm>
            <a:off x="5330952" y="5669280"/>
            <a:ext cx="164592" cy="457200"/>
          </a:xfrm>
          <a:prstGeom prst="rect">
            <a:avLst/>
          </a:prstGeom>
          <a:noFill/>
          <a:ln/>
        </p:spPr>
        <p:txBody>
          <a:bodyPr wrap="square" lIns="0" tIns="0" rIns="0" bIns="0" rtlCol="0" anchor="ctr"/>
          <a:lstStyle/>
          <a:p>
            <a:pPr algn="ctr" indent="0" marL="0">
              <a:buNone/>
            </a:pPr>
            <a:r>
              <a:rPr lang="en-US" sz="1400" dirty="0">
                <a:solidFill>
                  <a:srgbClr val="E8A33D"/>
                </a:solidFill>
                <a:latin typeface="Calibri" pitchFamily="34" charset="0"/>
                <a:ea typeface="Calibri" pitchFamily="34" charset="-122"/>
                <a:cs typeface="Calibri" pitchFamily="34" charset="-120"/>
              </a:rPr>
              <a:t>→</a:t>
            </a:r>
            <a:endParaRPr lang="en-US" sz="1400" dirty="0"/>
          </a:p>
        </p:txBody>
      </p:sp>
      <p:sp>
        <p:nvSpPr>
          <p:cNvPr id="46" name="Shape 43"/>
          <p:cNvSpPr/>
          <p:nvPr/>
        </p:nvSpPr>
        <p:spPr>
          <a:xfrm>
            <a:off x="5532120" y="5669280"/>
            <a:ext cx="1024128" cy="457200"/>
          </a:xfrm>
          <a:prstGeom prst="roundRect">
            <a:avLst>
              <a:gd name="adj" fmla="val 50000"/>
            </a:avLst>
          </a:prstGeom>
          <a:solidFill>
            <a:srgbClr val="20242C"/>
          </a:solidFill>
          <a:ln w="12700">
            <a:solidFill>
              <a:srgbClr val="B57820"/>
            </a:solidFill>
            <a:prstDash val="solid"/>
          </a:ln>
        </p:spPr>
      </p:sp>
      <p:sp>
        <p:nvSpPr>
          <p:cNvPr id="47" name="Text 44"/>
          <p:cNvSpPr/>
          <p:nvPr/>
        </p:nvSpPr>
        <p:spPr>
          <a:xfrm>
            <a:off x="5532120" y="5669280"/>
            <a:ext cx="1024128" cy="457200"/>
          </a:xfrm>
          <a:prstGeom prst="rect">
            <a:avLst/>
          </a:prstGeom>
          <a:noFill/>
          <a:ln/>
        </p:spPr>
        <p:txBody>
          <a:bodyPr wrap="square" lIns="0" tIns="0" rIns="0" bIns="0" rtlCol="0" anchor="ctr"/>
          <a:lstStyle/>
          <a:p>
            <a:pPr algn="ctr" indent="0" marL="0">
              <a:buNone/>
            </a:pPr>
            <a:r>
              <a:rPr lang="en-US" sz="1200" b="1" dirty="0">
                <a:solidFill>
                  <a:srgbClr val="F4F4F5"/>
                </a:solidFill>
                <a:latin typeface="Calibri" pitchFamily="34" charset="0"/>
                <a:ea typeface="Calibri" pitchFamily="34" charset="-122"/>
                <a:cs typeface="Calibri" pitchFamily="34" charset="-120"/>
              </a:rPr>
              <a:t>graded</a:t>
            </a:r>
            <a:endParaRPr lang="en-US" sz="1200" dirty="0"/>
          </a:p>
        </p:txBody>
      </p:sp>
      <p:sp>
        <p:nvSpPr>
          <p:cNvPr id="48" name="Shape 45"/>
          <p:cNvSpPr/>
          <p:nvPr/>
        </p:nvSpPr>
        <p:spPr>
          <a:xfrm>
            <a:off x="457200" y="6519672"/>
            <a:ext cx="11277295" cy="0"/>
          </a:xfrm>
          <a:prstGeom prst="line">
            <a:avLst/>
          </a:prstGeom>
          <a:noFill/>
          <a:ln w="9525">
            <a:solidFill>
              <a:srgbClr val="2D3138"/>
            </a:solidFill>
            <a:prstDash val="solid"/>
          </a:ln>
        </p:spPr>
      </p:sp>
      <p:sp>
        <p:nvSpPr>
          <p:cNvPr id="49" name="Text 46"/>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50" name="Text 47"/>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15 / 33</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Custom UML Diagram Editor</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Shape 2"/>
          <p:cNvSpPr/>
          <p:nvPr/>
        </p:nvSpPr>
        <p:spPr>
          <a:xfrm>
            <a:off x="1752448" y="1325880"/>
            <a:ext cx="8686800" cy="3108960"/>
          </a:xfrm>
          <a:prstGeom prst="roundRect">
            <a:avLst>
              <a:gd name="adj" fmla="val 2353"/>
            </a:avLst>
          </a:prstGeom>
          <a:solidFill>
            <a:srgbClr val="FFFFFF"/>
          </a:solidFill>
          <a:ln w="6350">
            <a:solidFill>
              <a:srgbClr val="2D3138"/>
            </a:solidFill>
            <a:prstDash val="solid"/>
          </a:ln>
        </p:spPr>
      </p:sp>
      <p:pic>
        <p:nvPicPr>
          <p:cNvPr id="5" name="Image 0" descr="/Users/ethan/School/fyp/docs/fyp-presentation/build/figures/3_11_uml_editor.png">    </p:cNvPr>
          <p:cNvPicPr>
            <a:picLocks noChangeAspect="1"/>
          </p:cNvPicPr>
          <p:nvPr/>
        </p:nvPicPr>
        <p:blipFill>
          <a:blip r:embed="rId1"/>
          <a:stretch>
            <a:fillRect/>
          </a:stretch>
        </p:blipFill>
        <p:spPr>
          <a:xfrm>
            <a:off x="3212726" y="1490472"/>
            <a:ext cx="5766243" cy="2450592"/>
          </a:xfrm>
          <a:prstGeom prst="rect">
            <a:avLst/>
          </a:prstGeom>
        </p:spPr>
      </p:pic>
      <p:sp>
        <p:nvSpPr>
          <p:cNvPr id="6" name="Text 3"/>
          <p:cNvSpPr/>
          <p:nvPr/>
        </p:nvSpPr>
        <p:spPr>
          <a:xfrm>
            <a:off x="1917040" y="3977640"/>
            <a:ext cx="8357616" cy="292608"/>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Figure 3.11 — UML editor with structured forms, relationship popovers, and PlantUML / Preview tabs</a:t>
            </a:r>
            <a:endParaRPr lang="en-US" sz="1100" dirty="0"/>
          </a:p>
        </p:txBody>
      </p:sp>
      <p:sp>
        <p:nvSpPr>
          <p:cNvPr id="7" name="Shape 4"/>
          <p:cNvSpPr/>
          <p:nvPr/>
        </p:nvSpPr>
        <p:spPr>
          <a:xfrm>
            <a:off x="548640" y="4526280"/>
            <a:ext cx="2697480" cy="1783080"/>
          </a:xfrm>
          <a:prstGeom prst="roundRect">
            <a:avLst>
              <a:gd name="adj" fmla="val 6154"/>
            </a:avLst>
          </a:prstGeom>
          <a:solidFill>
            <a:srgbClr val="1A1D24"/>
          </a:solidFill>
          <a:ln w="9525">
            <a:solidFill>
              <a:srgbClr val="2D3138"/>
            </a:solidFill>
            <a:prstDash val="solid"/>
          </a:ln>
        </p:spPr>
      </p:sp>
      <p:sp>
        <p:nvSpPr>
          <p:cNvPr id="8" name="Shape 5"/>
          <p:cNvSpPr/>
          <p:nvPr/>
        </p:nvSpPr>
        <p:spPr>
          <a:xfrm>
            <a:off x="749808" y="4690872"/>
            <a:ext cx="384048" cy="384048"/>
          </a:xfrm>
          <a:prstGeom prst="ellipse">
            <a:avLst/>
          </a:prstGeom>
          <a:solidFill>
            <a:srgbClr val="E8A33D"/>
          </a:solidFill>
          <a:ln w="15875">
            <a:solidFill>
              <a:srgbClr val="F5C161"/>
            </a:solidFill>
            <a:prstDash val="solid"/>
          </a:ln>
        </p:spPr>
      </p:sp>
      <p:sp>
        <p:nvSpPr>
          <p:cNvPr id="9" name="Text 6"/>
          <p:cNvSpPr/>
          <p:nvPr/>
        </p:nvSpPr>
        <p:spPr>
          <a:xfrm>
            <a:off x="749808" y="469087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01</a:t>
            </a:r>
            <a:endParaRPr lang="en-US" sz="1300" dirty="0"/>
          </a:p>
        </p:txBody>
      </p:sp>
      <p:sp>
        <p:nvSpPr>
          <p:cNvPr id="10" name="Text 7"/>
          <p:cNvSpPr/>
          <p:nvPr/>
        </p:nvSpPr>
        <p:spPr>
          <a:xfrm>
            <a:off x="1225296" y="4654296"/>
            <a:ext cx="192024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React Flow base</a:t>
            </a:r>
            <a:endParaRPr lang="en-US" sz="1600" dirty="0"/>
          </a:p>
        </p:txBody>
      </p:sp>
      <p:sp>
        <p:nvSpPr>
          <p:cNvPr id="11" name="Text 8"/>
          <p:cNvSpPr/>
          <p:nvPr/>
        </p:nvSpPr>
        <p:spPr>
          <a:xfrm>
            <a:off x="804672" y="5148072"/>
            <a:ext cx="2240280" cy="106984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Custom UML node + edge types: association, aggregation, composition, inheritance, realisation.</a:t>
            </a:r>
            <a:endParaRPr lang="en-US" sz="1300" dirty="0"/>
          </a:p>
        </p:txBody>
      </p:sp>
      <p:sp>
        <p:nvSpPr>
          <p:cNvPr id="12" name="Shape 9"/>
          <p:cNvSpPr/>
          <p:nvPr/>
        </p:nvSpPr>
        <p:spPr>
          <a:xfrm>
            <a:off x="3369564" y="4526280"/>
            <a:ext cx="2697480" cy="1783080"/>
          </a:xfrm>
          <a:prstGeom prst="roundRect">
            <a:avLst>
              <a:gd name="adj" fmla="val 6154"/>
            </a:avLst>
          </a:prstGeom>
          <a:solidFill>
            <a:srgbClr val="1A1D24"/>
          </a:solidFill>
          <a:ln w="9525">
            <a:solidFill>
              <a:srgbClr val="2D3138"/>
            </a:solidFill>
            <a:prstDash val="solid"/>
          </a:ln>
        </p:spPr>
      </p:sp>
      <p:sp>
        <p:nvSpPr>
          <p:cNvPr id="13" name="Shape 10"/>
          <p:cNvSpPr/>
          <p:nvPr/>
        </p:nvSpPr>
        <p:spPr>
          <a:xfrm>
            <a:off x="3570732" y="4690872"/>
            <a:ext cx="384048" cy="384048"/>
          </a:xfrm>
          <a:prstGeom prst="ellipse">
            <a:avLst/>
          </a:prstGeom>
          <a:solidFill>
            <a:srgbClr val="E8A33D"/>
          </a:solidFill>
          <a:ln w="15875">
            <a:solidFill>
              <a:srgbClr val="F5C161"/>
            </a:solidFill>
            <a:prstDash val="solid"/>
          </a:ln>
        </p:spPr>
      </p:sp>
      <p:sp>
        <p:nvSpPr>
          <p:cNvPr id="14" name="Text 11"/>
          <p:cNvSpPr/>
          <p:nvPr/>
        </p:nvSpPr>
        <p:spPr>
          <a:xfrm>
            <a:off x="3570732" y="469087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02</a:t>
            </a:r>
            <a:endParaRPr lang="en-US" sz="1300" dirty="0"/>
          </a:p>
        </p:txBody>
      </p:sp>
      <p:sp>
        <p:nvSpPr>
          <p:cNvPr id="15" name="Text 12"/>
          <p:cNvSpPr/>
          <p:nvPr/>
        </p:nvSpPr>
        <p:spPr>
          <a:xfrm>
            <a:off x="4046220" y="4654296"/>
            <a:ext cx="192024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Structured input</a:t>
            </a:r>
            <a:endParaRPr lang="en-US" sz="1600" dirty="0"/>
          </a:p>
        </p:txBody>
      </p:sp>
      <p:sp>
        <p:nvSpPr>
          <p:cNvPr id="16" name="Text 13"/>
          <p:cNvSpPr/>
          <p:nvPr/>
        </p:nvSpPr>
        <p:spPr>
          <a:xfrm>
            <a:off x="3625596" y="5148072"/>
            <a:ext cx="2240280" cy="106984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Visibility selectors + typed names — not freeform UML notation.</a:t>
            </a:r>
            <a:endParaRPr lang="en-US" sz="1300" dirty="0"/>
          </a:p>
        </p:txBody>
      </p:sp>
      <p:sp>
        <p:nvSpPr>
          <p:cNvPr id="17" name="Shape 14"/>
          <p:cNvSpPr/>
          <p:nvPr/>
        </p:nvSpPr>
        <p:spPr>
          <a:xfrm>
            <a:off x="6190488" y="4526280"/>
            <a:ext cx="2697480" cy="1783080"/>
          </a:xfrm>
          <a:prstGeom prst="roundRect">
            <a:avLst>
              <a:gd name="adj" fmla="val 6154"/>
            </a:avLst>
          </a:prstGeom>
          <a:solidFill>
            <a:srgbClr val="1A1D24"/>
          </a:solidFill>
          <a:ln w="9525">
            <a:solidFill>
              <a:srgbClr val="2D3138"/>
            </a:solidFill>
            <a:prstDash val="solid"/>
          </a:ln>
        </p:spPr>
      </p:sp>
      <p:sp>
        <p:nvSpPr>
          <p:cNvPr id="18" name="Shape 15"/>
          <p:cNvSpPr/>
          <p:nvPr/>
        </p:nvSpPr>
        <p:spPr>
          <a:xfrm>
            <a:off x="6391656" y="4690872"/>
            <a:ext cx="384048" cy="384048"/>
          </a:xfrm>
          <a:prstGeom prst="ellipse">
            <a:avLst/>
          </a:prstGeom>
          <a:solidFill>
            <a:srgbClr val="E8A33D"/>
          </a:solidFill>
          <a:ln w="15875">
            <a:solidFill>
              <a:srgbClr val="F5C161"/>
            </a:solidFill>
            <a:prstDash val="solid"/>
          </a:ln>
        </p:spPr>
      </p:sp>
      <p:sp>
        <p:nvSpPr>
          <p:cNvPr id="19" name="Text 16"/>
          <p:cNvSpPr/>
          <p:nvPr/>
        </p:nvSpPr>
        <p:spPr>
          <a:xfrm>
            <a:off x="6391656" y="469087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03</a:t>
            </a:r>
            <a:endParaRPr lang="en-US" sz="1300" dirty="0"/>
          </a:p>
        </p:txBody>
      </p:sp>
      <p:sp>
        <p:nvSpPr>
          <p:cNvPr id="20" name="Text 17"/>
          <p:cNvSpPr/>
          <p:nvPr/>
        </p:nvSpPr>
        <p:spPr>
          <a:xfrm>
            <a:off x="6867144" y="4654296"/>
            <a:ext cx="192024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Two-export design</a:t>
            </a:r>
            <a:endParaRPr lang="en-US" sz="1600" dirty="0"/>
          </a:p>
        </p:txBody>
      </p:sp>
      <p:sp>
        <p:nvSpPr>
          <p:cNvPr id="21" name="Text 18"/>
          <p:cNvSpPr/>
          <p:nvPr/>
        </p:nvSpPr>
        <p:spPr>
          <a:xfrm>
            <a:off x="6446520" y="5148072"/>
            <a:ext cx="2240280" cy="106984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Serialises to PlantUML DSL and PNG; both deterministic from editor state.</a:t>
            </a:r>
            <a:endParaRPr lang="en-US" sz="1300" dirty="0"/>
          </a:p>
        </p:txBody>
      </p:sp>
      <p:sp>
        <p:nvSpPr>
          <p:cNvPr id="22" name="Shape 19"/>
          <p:cNvSpPr/>
          <p:nvPr/>
        </p:nvSpPr>
        <p:spPr>
          <a:xfrm>
            <a:off x="9011412" y="4526280"/>
            <a:ext cx="2697480" cy="1783080"/>
          </a:xfrm>
          <a:prstGeom prst="roundRect">
            <a:avLst>
              <a:gd name="adj" fmla="val 6154"/>
            </a:avLst>
          </a:prstGeom>
          <a:solidFill>
            <a:srgbClr val="1A1D24"/>
          </a:solidFill>
          <a:ln w="9525">
            <a:solidFill>
              <a:srgbClr val="2D3138"/>
            </a:solidFill>
            <a:prstDash val="solid"/>
          </a:ln>
        </p:spPr>
      </p:sp>
      <p:sp>
        <p:nvSpPr>
          <p:cNvPr id="23" name="Shape 20"/>
          <p:cNvSpPr/>
          <p:nvPr/>
        </p:nvSpPr>
        <p:spPr>
          <a:xfrm>
            <a:off x="9212580" y="4690872"/>
            <a:ext cx="384048" cy="384048"/>
          </a:xfrm>
          <a:prstGeom prst="ellipse">
            <a:avLst/>
          </a:prstGeom>
          <a:solidFill>
            <a:srgbClr val="E8A33D"/>
          </a:solidFill>
          <a:ln w="15875">
            <a:solidFill>
              <a:srgbClr val="F5C161"/>
            </a:solidFill>
            <a:prstDash val="solid"/>
          </a:ln>
        </p:spPr>
      </p:sp>
      <p:sp>
        <p:nvSpPr>
          <p:cNvPr id="24" name="Text 21"/>
          <p:cNvSpPr/>
          <p:nvPr/>
        </p:nvSpPr>
        <p:spPr>
          <a:xfrm>
            <a:off x="9212580" y="469087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04</a:t>
            </a:r>
            <a:endParaRPr lang="en-US" sz="1300" dirty="0"/>
          </a:p>
        </p:txBody>
      </p:sp>
      <p:sp>
        <p:nvSpPr>
          <p:cNvPr id="25" name="Text 22"/>
          <p:cNvSpPr/>
          <p:nvPr/>
        </p:nvSpPr>
        <p:spPr>
          <a:xfrm>
            <a:off x="9688068" y="4654296"/>
            <a:ext cx="192024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Component reuse</a:t>
            </a:r>
            <a:endParaRPr lang="en-US" sz="1600" dirty="0"/>
          </a:p>
        </p:txBody>
      </p:sp>
      <p:sp>
        <p:nvSpPr>
          <p:cNvPr id="26" name="Text 23"/>
          <p:cNvSpPr/>
          <p:nvPr/>
        </p:nvSpPr>
        <p:spPr>
          <a:xfrm>
            <a:off x="9267444" y="5148072"/>
            <a:ext cx="2240280" cy="106984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Same UMLEditor for student attempts; UMLViewer for staff grading.</a:t>
            </a:r>
            <a:endParaRPr lang="en-US" sz="1300" dirty="0"/>
          </a:p>
        </p:txBody>
      </p:sp>
      <p:sp>
        <p:nvSpPr>
          <p:cNvPr id="27" name="Shape 24"/>
          <p:cNvSpPr/>
          <p:nvPr/>
        </p:nvSpPr>
        <p:spPr>
          <a:xfrm>
            <a:off x="457200" y="6519672"/>
            <a:ext cx="11277295" cy="0"/>
          </a:xfrm>
          <a:prstGeom prst="line">
            <a:avLst/>
          </a:prstGeom>
          <a:noFill/>
          <a:ln w="9525">
            <a:solidFill>
              <a:srgbClr val="2D3138"/>
            </a:solidFill>
            <a:prstDash val="solid"/>
          </a:ln>
        </p:spPr>
      </p:sp>
      <p:sp>
        <p:nvSpPr>
          <p:cNvPr id="28" name="Text 25"/>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29" name="Text 26"/>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16 / 33</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AI Grading · Async Job Architecture</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Shape 2"/>
          <p:cNvSpPr/>
          <p:nvPr/>
        </p:nvSpPr>
        <p:spPr>
          <a:xfrm>
            <a:off x="548640" y="1325880"/>
            <a:ext cx="7315200" cy="4937760"/>
          </a:xfrm>
          <a:prstGeom prst="roundRect">
            <a:avLst>
              <a:gd name="adj" fmla="val 1481"/>
            </a:avLst>
          </a:prstGeom>
          <a:solidFill>
            <a:srgbClr val="FFFFFF"/>
          </a:solidFill>
          <a:ln w="6350">
            <a:solidFill>
              <a:srgbClr val="2D3138"/>
            </a:solidFill>
            <a:prstDash val="solid"/>
          </a:ln>
        </p:spPr>
      </p:sp>
      <p:pic>
        <p:nvPicPr>
          <p:cNvPr id="5" name="Image 0" descr="/Users/ethan/School/fyp/docs/fyp-presentation/build/figures/3_9_sequence.png">    </p:cNvPr>
          <p:cNvPicPr>
            <a:picLocks noChangeAspect="1"/>
          </p:cNvPicPr>
          <p:nvPr/>
        </p:nvPicPr>
        <p:blipFill>
          <a:blip r:embed="rId1"/>
          <a:stretch>
            <a:fillRect/>
          </a:stretch>
        </p:blipFill>
        <p:spPr>
          <a:xfrm>
            <a:off x="1227783" y="1490472"/>
            <a:ext cx="5956914" cy="4279392"/>
          </a:xfrm>
          <a:prstGeom prst="rect">
            <a:avLst/>
          </a:prstGeom>
        </p:spPr>
      </p:pic>
      <p:sp>
        <p:nvSpPr>
          <p:cNvPr id="6" name="Text 3"/>
          <p:cNvSpPr/>
          <p:nvPr/>
        </p:nvSpPr>
        <p:spPr>
          <a:xfrm>
            <a:off x="713232" y="5806440"/>
            <a:ext cx="6986016" cy="292608"/>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Figure 3.9 — Batch AI grading sequence</a:t>
            </a:r>
            <a:endParaRPr lang="en-US" sz="1100" dirty="0"/>
          </a:p>
        </p:txBody>
      </p:sp>
      <p:sp>
        <p:nvSpPr>
          <p:cNvPr id="7" name="Shape 4"/>
          <p:cNvSpPr/>
          <p:nvPr/>
        </p:nvSpPr>
        <p:spPr>
          <a:xfrm>
            <a:off x="7955280" y="1417320"/>
            <a:ext cx="3703320" cy="1078992"/>
          </a:xfrm>
          <a:prstGeom prst="roundRect">
            <a:avLst>
              <a:gd name="adj" fmla="val 10169"/>
            </a:avLst>
          </a:prstGeom>
          <a:solidFill>
            <a:srgbClr val="1A1D24"/>
          </a:solidFill>
          <a:ln w="9525">
            <a:solidFill>
              <a:srgbClr val="2D3138"/>
            </a:solidFill>
            <a:prstDash val="solid"/>
          </a:ln>
        </p:spPr>
      </p:sp>
      <p:sp>
        <p:nvSpPr>
          <p:cNvPr id="8" name="Shape 5"/>
          <p:cNvSpPr/>
          <p:nvPr/>
        </p:nvSpPr>
        <p:spPr>
          <a:xfrm>
            <a:off x="8156448" y="1581912"/>
            <a:ext cx="384048" cy="384048"/>
          </a:xfrm>
          <a:prstGeom prst="ellipse">
            <a:avLst/>
          </a:prstGeom>
          <a:solidFill>
            <a:srgbClr val="E8A33D"/>
          </a:solidFill>
          <a:ln w="15875">
            <a:solidFill>
              <a:srgbClr val="F5C161"/>
            </a:solidFill>
            <a:prstDash val="solid"/>
          </a:ln>
        </p:spPr>
      </p:sp>
      <p:sp>
        <p:nvSpPr>
          <p:cNvPr id="9" name="Text 6"/>
          <p:cNvSpPr/>
          <p:nvPr/>
        </p:nvSpPr>
        <p:spPr>
          <a:xfrm>
            <a:off x="8156448" y="158191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01</a:t>
            </a:r>
            <a:endParaRPr lang="en-US" sz="1300" dirty="0"/>
          </a:p>
        </p:txBody>
      </p:sp>
      <p:sp>
        <p:nvSpPr>
          <p:cNvPr id="10" name="Text 7"/>
          <p:cNvSpPr/>
          <p:nvPr/>
        </p:nvSpPr>
        <p:spPr>
          <a:xfrm>
            <a:off x="8631936" y="1545336"/>
            <a:ext cx="292608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Fire-and-return</a:t>
            </a:r>
            <a:endParaRPr lang="en-US" sz="1600" dirty="0"/>
          </a:p>
        </p:txBody>
      </p:sp>
      <p:sp>
        <p:nvSpPr>
          <p:cNvPr id="11" name="Text 8"/>
          <p:cNvSpPr/>
          <p:nvPr/>
        </p:nvSpPr>
        <p:spPr>
          <a:xfrm>
            <a:off x="8211312" y="2039112"/>
            <a:ext cx="3246120" cy="365760"/>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API enqueues N jobs and returns immediately with jobCount.</a:t>
            </a:r>
            <a:endParaRPr lang="en-US" sz="1300" dirty="0"/>
          </a:p>
        </p:txBody>
      </p:sp>
      <p:sp>
        <p:nvSpPr>
          <p:cNvPr id="12" name="Shape 9"/>
          <p:cNvSpPr/>
          <p:nvPr/>
        </p:nvSpPr>
        <p:spPr>
          <a:xfrm>
            <a:off x="7955280" y="2642616"/>
            <a:ext cx="3703320" cy="1078992"/>
          </a:xfrm>
          <a:prstGeom prst="roundRect">
            <a:avLst>
              <a:gd name="adj" fmla="val 10169"/>
            </a:avLst>
          </a:prstGeom>
          <a:solidFill>
            <a:srgbClr val="1A1D24"/>
          </a:solidFill>
          <a:ln w="9525">
            <a:solidFill>
              <a:srgbClr val="2D3138"/>
            </a:solidFill>
            <a:prstDash val="solid"/>
          </a:ln>
        </p:spPr>
      </p:sp>
      <p:sp>
        <p:nvSpPr>
          <p:cNvPr id="13" name="Shape 10"/>
          <p:cNvSpPr/>
          <p:nvPr/>
        </p:nvSpPr>
        <p:spPr>
          <a:xfrm>
            <a:off x="8156448" y="2807208"/>
            <a:ext cx="384048" cy="384048"/>
          </a:xfrm>
          <a:prstGeom prst="ellipse">
            <a:avLst/>
          </a:prstGeom>
          <a:solidFill>
            <a:srgbClr val="E8A33D"/>
          </a:solidFill>
          <a:ln w="15875">
            <a:solidFill>
              <a:srgbClr val="F5C161"/>
            </a:solidFill>
            <a:prstDash val="solid"/>
          </a:ln>
        </p:spPr>
      </p:sp>
      <p:sp>
        <p:nvSpPr>
          <p:cNvPr id="14" name="Text 11"/>
          <p:cNvSpPr/>
          <p:nvPr/>
        </p:nvSpPr>
        <p:spPr>
          <a:xfrm>
            <a:off x="8156448" y="2807208"/>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02</a:t>
            </a:r>
            <a:endParaRPr lang="en-US" sz="1300" dirty="0"/>
          </a:p>
        </p:txBody>
      </p:sp>
      <p:sp>
        <p:nvSpPr>
          <p:cNvPr id="15" name="Text 12"/>
          <p:cNvSpPr/>
          <p:nvPr/>
        </p:nvSpPr>
        <p:spPr>
          <a:xfrm>
            <a:off x="8631936" y="2770632"/>
            <a:ext cx="292608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Concurrency = 1</a:t>
            </a:r>
            <a:endParaRPr lang="en-US" sz="1600" dirty="0"/>
          </a:p>
        </p:txBody>
      </p:sp>
      <p:sp>
        <p:nvSpPr>
          <p:cNvPr id="16" name="Text 13"/>
          <p:cNvSpPr/>
          <p:nvPr/>
        </p:nvSpPr>
        <p:spPr>
          <a:xfrm>
            <a:off x="8211312" y="3264408"/>
            <a:ext cx="3246120" cy="365760"/>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Sequential processing avoids LLM rate-limit contention.</a:t>
            </a:r>
            <a:endParaRPr lang="en-US" sz="1300" dirty="0"/>
          </a:p>
        </p:txBody>
      </p:sp>
      <p:sp>
        <p:nvSpPr>
          <p:cNvPr id="17" name="Shape 14"/>
          <p:cNvSpPr/>
          <p:nvPr/>
        </p:nvSpPr>
        <p:spPr>
          <a:xfrm>
            <a:off x="7955280" y="3867912"/>
            <a:ext cx="3703320" cy="1078992"/>
          </a:xfrm>
          <a:prstGeom prst="roundRect">
            <a:avLst>
              <a:gd name="adj" fmla="val 10169"/>
            </a:avLst>
          </a:prstGeom>
          <a:solidFill>
            <a:srgbClr val="1A1D24"/>
          </a:solidFill>
          <a:ln w="9525">
            <a:solidFill>
              <a:srgbClr val="2D3138"/>
            </a:solidFill>
            <a:prstDash val="solid"/>
          </a:ln>
        </p:spPr>
      </p:sp>
      <p:sp>
        <p:nvSpPr>
          <p:cNvPr id="18" name="Shape 15"/>
          <p:cNvSpPr/>
          <p:nvPr/>
        </p:nvSpPr>
        <p:spPr>
          <a:xfrm>
            <a:off x="8156448" y="4032504"/>
            <a:ext cx="384048" cy="384048"/>
          </a:xfrm>
          <a:prstGeom prst="ellipse">
            <a:avLst/>
          </a:prstGeom>
          <a:solidFill>
            <a:srgbClr val="E8A33D"/>
          </a:solidFill>
          <a:ln w="15875">
            <a:solidFill>
              <a:srgbClr val="F5C161"/>
            </a:solidFill>
            <a:prstDash val="solid"/>
          </a:ln>
        </p:spPr>
      </p:sp>
      <p:sp>
        <p:nvSpPr>
          <p:cNvPr id="19" name="Text 16"/>
          <p:cNvSpPr/>
          <p:nvPr/>
        </p:nvSpPr>
        <p:spPr>
          <a:xfrm>
            <a:off x="8156448" y="4032504"/>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03</a:t>
            </a:r>
            <a:endParaRPr lang="en-US" sz="1300" dirty="0"/>
          </a:p>
        </p:txBody>
      </p:sp>
      <p:sp>
        <p:nvSpPr>
          <p:cNvPr id="20" name="Text 17"/>
          <p:cNvSpPr/>
          <p:nvPr/>
        </p:nvSpPr>
        <p:spPr>
          <a:xfrm>
            <a:off x="8631936" y="3995928"/>
            <a:ext cx="292608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Pipeline</a:t>
            </a:r>
            <a:endParaRPr lang="en-US" sz="1600" dirty="0"/>
          </a:p>
        </p:txBody>
      </p:sp>
      <p:sp>
        <p:nvSpPr>
          <p:cNvPr id="21" name="Text 18"/>
          <p:cNvSpPr/>
          <p:nvPr/>
        </p:nvSpPr>
        <p:spPr>
          <a:xfrm>
            <a:off x="8211312" y="4489704"/>
            <a:ext cx="3246120" cy="365760"/>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Fetch → prompt → call → validate → store, with token usage logged.</a:t>
            </a:r>
            <a:endParaRPr lang="en-US" sz="1300" dirty="0"/>
          </a:p>
        </p:txBody>
      </p:sp>
      <p:sp>
        <p:nvSpPr>
          <p:cNvPr id="22" name="Shape 19"/>
          <p:cNvSpPr/>
          <p:nvPr/>
        </p:nvSpPr>
        <p:spPr>
          <a:xfrm>
            <a:off x="7955280" y="5093208"/>
            <a:ext cx="3703320" cy="1078992"/>
          </a:xfrm>
          <a:prstGeom prst="roundRect">
            <a:avLst>
              <a:gd name="adj" fmla="val 10169"/>
            </a:avLst>
          </a:prstGeom>
          <a:solidFill>
            <a:srgbClr val="1A1D24"/>
          </a:solidFill>
          <a:ln w="9525">
            <a:solidFill>
              <a:srgbClr val="2D3138"/>
            </a:solidFill>
            <a:prstDash val="solid"/>
          </a:ln>
        </p:spPr>
      </p:sp>
      <p:sp>
        <p:nvSpPr>
          <p:cNvPr id="23" name="Shape 20"/>
          <p:cNvSpPr/>
          <p:nvPr/>
        </p:nvSpPr>
        <p:spPr>
          <a:xfrm>
            <a:off x="8156448" y="5257800"/>
            <a:ext cx="384048" cy="384048"/>
          </a:xfrm>
          <a:prstGeom prst="ellipse">
            <a:avLst/>
          </a:prstGeom>
          <a:solidFill>
            <a:srgbClr val="E8A33D"/>
          </a:solidFill>
          <a:ln w="15875">
            <a:solidFill>
              <a:srgbClr val="F5C161"/>
            </a:solidFill>
            <a:prstDash val="solid"/>
          </a:ln>
        </p:spPr>
      </p:sp>
      <p:sp>
        <p:nvSpPr>
          <p:cNvPr id="24" name="Text 21"/>
          <p:cNvSpPr/>
          <p:nvPr/>
        </p:nvSpPr>
        <p:spPr>
          <a:xfrm>
            <a:off x="8156448" y="5257800"/>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04</a:t>
            </a:r>
            <a:endParaRPr lang="en-US" sz="1300" dirty="0"/>
          </a:p>
        </p:txBody>
      </p:sp>
      <p:sp>
        <p:nvSpPr>
          <p:cNvPr id="25" name="Text 22"/>
          <p:cNvSpPr/>
          <p:nvPr/>
        </p:nvSpPr>
        <p:spPr>
          <a:xfrm>
            <a:off x="8631936" y="5221224"/>
            <a:ext cx="292608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Visible failures</a:t>
            </a:r>
            <a:endParaRPr lang="en-US" sz="1600" dirty="0"/>
          </a:p>
        </p:txBody>
      </p:sp>
      <p:sp>
        <p:nvSpPr>
          <p:cNvPr id="26" name="Text 23"/>
          <p:cNvSpPr/>
          <p:nvPr/>
        </p:nvSpPr>
        <p:spPr>
          <a:xfrm>
            <a:off x="8211312" y="5715000"/>
            <a:ext cx="3246120" cy="365760"/>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Errors recorded with full message + staff notification — never silent.</a:t>
            </a:r>
            <a:endParaRPr lang="en-US" sz="1300" dirty="0"/>
          </a:p>
        </p:txBody>
      </p:sp>
      <p:sp>
        <p:nvSpPr>
          <p:cNvPr id="27" name="Shape 24"/>
          <p:cNvSpPr/>
          <p:nvPr/>
        </p:nvSpPr>
        <p:spPr>
          <a:xfrm>
            <a:off x="457200" y="6519672"/>
            <a:ext cx="11277295" cy="0"/>
          </a:xfrm>
          <a:prstGeom prst="line">
            <a:avLst/>
          </a:prstGeom>
          <a:noFill/>
          <a:ln w="9525">
            <a:solidFill>
              <a:srgbClr val="2D3138"/>
            </a:solidFill>
            <a:prstDash val="solid"/>
          </a:ln>
        </p:spPr>
      </p:sp>
      <p:sp>
        <p:nvSpPr>
          <p:cNvPr id="28" name="Text 25"/>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29" name="Text 26"/>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17 / 33</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E8A33D"/>
                </a:solidFill>
                <a:latin typeface="Calibri" pitchFamily="34" charset="0"/>
                <a:ea typeface="Calibri" pitchFamily="34" charset="-122"/>
                <a:cs typeface="Calibri" pitchFamily="34" charset="-120"/>
              </a:rPr>
              <a:t>★ </a:t>
            </a:r>
            <a:pPr algn="l" indent="0" marL="0">
              <a:buNone/>
            </a:pPr>
            <a:r>
              <a:rPr lang="en-US" sz="3200" b="1" dirty="0">
                <a:solidFill>
                  <a:srgbClr val="F4F4F5"/>
                </a:solidFill>
                <a:latin typeface="Calibri" pitchFamily="34" charset="0"/>
                <a:ea typeface="Calibri" pitchFamily="34" charset="-122"/>
                <a:cs typeface="Calibri" pitchFamily="34" charset="-120"/>
              </a:rPr>
              <a:t>Dual-Modality Prompting</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Text 2"/>
          <p:cNvSpPr/>
          <p:nvPr/>
        </p:nvSpPr>
        <p:spPr>
          <a:xfrm>
            <a:off x="548640" y="960120"/>
            <a:ext cx="11064240" cy="310896"/>
          </a:xfrm>
          <a:prstGeom prst="rect">
            <a:avLst/>
          </a:prstGeom>
          <a:noFill/>
          <a:ln/>
        </p:spPr>
        <p:txBody>
          <a:bodyPr wrap="square" lIns="0" tIns="0" rIns="0" bIns="0" rtlCol="0" anchor="ctr"/>
          <a:lstStyle/>
          <a:p>
            <a:pPr algn="l" indent="0" marL="0">
              <a:buNone/>
            </a:pPr>
            <a:r>
              <a:rPr lang="en-US" sz="1400" i="1" dirty="0">
                <a:solidFill>
                  <a:srgbClr val="F5C161"/>
                </a:solidFill>
                <a:latin typeface="Calibri" pitchFamily="34" charset="0"/>
                <a:ea typeface="Calibri" pitchFamily="34" charset="-122"/>
                <a:cs typeface="Calibri" pitchFamily="34" charset="-120"/>
              </a:rPr>
              <a:t>the technical kernel</a:t>
            </a:r>
            <a:endParaRPr lang="en-US" sz="1400" dirty="0"/>
          </a:p>
        </p:txBody>
      </p:sp>
      <p:sp>
        <p:nvSpPr>
          <p:cNvPr id="5" name="Shape 3"/>
          <p:cNvSpPr/>
          <p:nvPr/>
        </p:nvSpPr>
        <p:spPr>
          <a:xfrm>
            <a:off x="548640" y="1508760"/>
            <a:ext cx="2377440" cy="2468880"/>
          </a:xfrm>
          <a:prstGeom prst="roundRect">
            <a:avLst>
              <a:gd name="adj" fmla="val 3846"/>
            </a:avLst>
          </a:prstGeom>
          <a:solidFill>
            <a:srgbClr val="1A1D24"/>
          </a:solidFill>
          <a:ln w="12700">
            <a:solidFill>
              <a:srgbClr val="E8A33D"/>
            </a:solidFill>
            <a:prstDash val="solid"/>
          </a:ln>
        </p:spPr>
      </p:sp>
      <p:sp>
        <p:nvSpPr>
          <p:cNvPr id="6" name="Text 4"/>
          <p:cNvSpPr/>
          <p:nvPr/>
        </p:nvSpPr>
        <p:spPr>
          <a:xfrm>
            <a:off x="548640" y="1691640"/>
            <a:ext cx="2377440" cy="320040"/>
          </a:xfrm>
          <a:prstGeom prst="rect">
            <a:avLst/>
          </a:prstGeom>
          <a:noFill/>
          <a:ln/>
        </p:spPr>
        <p:txBody>
          <a:bodyPr wrap="square" lIns="0" tIns="0" rIns="0" bIns="0" rtlCol="0" anchor="ctr"/>
          <a:lstStyle/>
          <a:p>
            <a:pPr algn="ctr" indent="0" marL="0">
              <a:buNone/>
            </a:pPr>
            <a:r>
              <a:rPr lang="en-US" sz="1300" b="1" dirty="0">
                <a:solidFill>
                  <a:srgbClr val="F5C161"/>
                </a:solidFill>
                <a:latin typeface="Calibri" pitchFamily="34" charset="0"/>
                <a:ea typeface="Calibri" pitchFamily="34" charset="-122"/>
                <a:cs typeface="Calibri" pitchFamily="34" charset="-120"/>
              </a:rPr>
              <a:t>Editor state</a:t>
            </a:r>
            <a:endParaRPr lang="en-US" sz="1300" dirty="0"/>
          </a:p>
        </p:txBody>
      </p:sp>
      <p:sp>
        <p:nvSpPr>
          <p:cNvPr id="7" name="Text 5"/>
          <p:cNvSpPr/>
          <p:nvPr/>
        </p:nvSpPr>
        <p:spPr>
          <a:xfrm>
            <a:off x="640080" y="2148840"/>
            <a:ext cx="2194560" cy="1463040"/>
          </a:xfrm>
          <a:prstGeom prst="rect">
            <a:avLst/>
          </a:prstGeom>
          <a:noFill/>
          <a:ln/>
        </p:spPr>
        <p:txBody>
          <a:bodyPr wrap="square" lIns="0" tIns="0" rIns="0" bIns="0" rtlCol="0" anchor="t"/>
          <a:lstStyle/>
          <a:p>
            <a:pPr algn="l" indent="0" marL="0">
              <a:buNone/>
            </a:pPr>
            <a:r>
              <a:rPr lang="en-US" sz="1400" dirty="0">
                <a:solidFill>
                  <a:srgbClr val="F4F4F5"/>
                </a:solidFill>
                <a:latin typeface="Consolas" pitchFamily="34" charset="0"/>
                <a:ea typeface="Consolas" pitchFamily="34" charset="-122"/>
                <a:cs typeface="Consolas" pitchFamily="34" charset="-120"/>
              </a:rPr>
              <a:t>{ classes: [...],</a:t>
            </a:r>
            <a:endParaRPr lang="en-US" sz="1400" dirty="0"/>
          </a:p>
          <a:p>
            <a:pPr algn="l" indent="0" marL="0">
              <a:buNone/>
            </a:pPr>
            <a:r>
              <a:rPr lang="en-US" sz="1400" dirty="0">
                <a:solidFill>
                  <a:srgbClr val="F4F4F5"/>
                </a:solidFill>
                <a:latin typeface="Consolas" pitchFamily="34" charset="0"/>
                <a:ea typeface="Consolas" pitchFamily="34" charset="-122"/>
                <a:cs typeface="Consolas" pitchFamily="34" charset="-120"/>
              </a:rPr>
              <a:t>  edges: [...],</a:t>
            </a:r>
            <a:endParaRPr lang="en-US" sz="1400" dirty="0"/>
          </a:p>
          <a:p>
            <a:pPr algn="l" indent="0" marL="0">
              <a:buNone/>
            </a:pPr>
            <a:r>
              <a:rPr lang="en-US" sz="1400" dirty="0">
                <a:solidFill>
                  <a:srgbClr val="F4F4F5"/>
                </a:solidFill>
                <a:latin typeface="Consolas" pitchFamily="34" charset="0"/>
                <a:ea typeface="Consolas" pitchFamily="34" charset="-122"/>
                <a:cs typeface="Consolas" pitchFamily="34" charset="-120"/>
              </a:rPr>
              <a:t>  visibility: ...</a:t>
            </a:r>
            <a:endParaRPr lang="en-US" sz="1400" dirty="0"/>
          </a:p>
          <a:p>
            <a:pPr algn="l" indent="0" marL="0">
              <a:buNone/>
            </a:pPr>
            <a:r>
              <a:rPr lang="en-US" sz="1400" dirty="0">
                <a:solidFill>
                  <a:srgbClr val="F4F4F5"/>
                </a:solidFill>
                <a:latin typeface="Consolas" pitchFamily="34" charset="0"/>
                <a:ea typeface="Consolas" pitchFamily="34" charset="-122"/>
                <a:cs typeface="Consolas" pitchFamily="34" charset="-120"/>
              </a:rPr>
              <a:t>}</a:t>
            </a:r>
            <a:endParaRPr lang="en-US" sz="1400" dirty="0"/>
          </a:p>
        </p:txBody>
      </p:sp>
      <p:sp>
        <p:nvSpPr>
          <p:cNvPr id="8" name="Text 6"/>
          <p:cNvSpPr/>
          <p:nvPr/>
        </p:nvSpPr>
        <p:spPr>
          <a:xfrm>
            <a:off x="548640" y="3611880"/>
            <a:ext cx="2377440" cy="292608"/>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structured JSON</a:t>
            </a:r>
            <a:endParaRPr lang="en-US" sz="1100" dirty="0"/>
          </a:p>
        </p:txBody>
      </p:sp>
      <p:sp>
        <p:nvSpPr>
          <p:cNvPr id="9" name="Shape 7"/>
          <p:cNvSpPr/>
          <p:nvPr/>
        </p:nvSpPr>
        <p:spPr>
          <a:xfrm>
            <a:off x="2926080" y="2743200"/>
            <a:ext cx="457200" cy="-640080"/>
          </a:xfrm>
          <a:prstGeom prst="line">
            <a:avLst/>
          </a:prstGeom>
          <a:noFill/>
          <a:ln w="19050">
            <a:solidFill>
              <a:srgbClr val="E8A33D"/>
            </a:solidFill>
            <a:prstDash val="solid"/>
            <a:tailEnd type="triangle"/>
          </a:ln>
        </p:spPr>
      </p:sp>
      <p:sp>
        <p:nvSpPr>
          <p:cNvPr id="10" name="Shape 8"/>
          <p:cNvSpPr/>
          <p:nvPr/>
        </p:nvSpPr>
        <p:spPr>
          <a:xfrm>
            <a:off x="2926080" y="2743200"/>
            <a:ext cx="457200" cy="640080"/>
          </a:xfrm>
          <a:prstGeom prst="line">
            <a:avLst/>
          </a:prstGeom>
          <a:noFill/>
          <a:ln w="19050">
            <a:solidFill>
              <a:srgbClr val="E8A33D"/>
            </a:solidFill>
            <a:prstDash val="solid"/>
            <a:tailEnd type="triangle"/>
          </a:ln>
        </p:spPr>
      </p:sp>
      <p:sp>
        <p:nvSpPr>
          <p:cNvPr id="11" name="Shape 9"/>
          <p:cNvSpPr/>
          <p:nvPr/>
        </p:nvSpPr>
        <p:spPr>
          <a:xfrm>
            <a:off x="3429000" y="1417320"/>
            <a:ext cx="2743200" cy="1143000"/>
          </a:xfrm>
          <a:prstGeom prst="roundRect">
            <a:avLst>
              <a:gd name="adj" fmla="val 6400"/>
            </a:avLst>
          </a:prstGeom>
          <a:solidFill>
            <a:srgbClr val="1A1D24"/>
          </a:solidFill>
          <a:ln w="6350">
            <a:solidFill>
              <a:srgbClr val="2D3138"/>
            </a:solidFill>
            <a:prstDash val="solid"/>
          </a:ln>
        </p:spPr>
      </p:sp>
      <p:sp>
        <p:nvSpPr>
          <p:cNvPr id="12" name="Text 10"/>
          <p:cNvSpPr/>
          <p:nvPr/>
        </p:nvSpPr>
        <p:spPr>
          <a:xfrm>
            <a:off x="3429000" y="1508760"/>
            <a:ext cx="2743200" cy="274320"/>
          </a:xfrm>
          <a:prstGeom prst="rect">
            <a:avLst/>
          </a:prstGeom>
          <a:noFill/>
          <a:ln/>
        </p:spPr>
        <p:txBody>
          <a:bodyPr wrap="square" lIns="0" tIns="0" rIns="0" bIns="0" rtlCol="0" anchor="ctr"/>
          <a:lstStyle/>
          <a:p>
            <a:pPr algn="ctr" indent="0" marL="0">
              <a:buNone/>
            </a:pPr>
            <a:r>
              <a:rPr lang="en-US" sz="1300" b="1" dirty="0">
                <a:solidFill>
                  <a:srgbClr val="F5C161"/>
                </a:solidFill>
                <a:latin typeface="Calibri" pitchFamily="34" charset="0"/>
                <a:ea typeface="Calibri" pitchFamily="34" charset="-122"/>
                <a:cs typeface="Calibri" pitchFamily="34" charset="-120"/>
              </a:rPr>
              <a:t>PlantUML DSL</a:t>
            </a:r>
            <a:endParaRPr lang="en-US" sz="1300" dirty="0"/>
          </a:p>
        </p:txBody>
      </p:sp>
      <p:sp>
        <p:nvSpPr>
          <p:cNvPr id="13" name="Text 11"/>
          <p:cNvSpPr/>
          <p:nvPr/>
        </p:nvSpPr>
        <p:spPr>
          <a:xfrm>
            <a:off x="3520440" y="1783080"/>
            <a:ext cx="2560320" cy="777240"/>
          </a:xfrm>
          <a:prstGeom prst="rect">
            <a:avLst/>
          </a:prstGeom>
          <a:noFill/>
          <a:ln/>
        </p:spPr>
        <p:txBody>
          <a:bodyPr wrap="square" lIns="0" tIns="0" rIns="0" bIns="0" rtlCol="0" anchor="t"/>
          <a:lstStyle/>
          <a:p>
            <a:pPr algn="l" indent="0" marL="0">
              <a:buNone/>
            </a:pPr>
            <a:r>
              <a:rPr lang="en-US" sz="1000" dirty="0">
                <a:solidFill>
                  <a:srgbClr val="F4F4F5"/>
                </a:solidFill>
                <a:latin typeface="Consolas" pitchFamily="34" charset="0"/>
                <a:ea typeface="Consolas" pitchFamily="34" charset="-122"/>
                <a:cs typeface="Consolas" pitchFamily="34" charset="-120"/>
              </a:rPr>
              <a:t>class User {</a:t>
            </a:r>
            <a:endParaRPr lang="en-US" sz="1000" dirty="0"/>
          </a:p>
          <a:p>
            <a:pPr algn="l" indent="0" marL="0">
              <a:buNone/>
            </a:pPr>
            <a:r>
              <a:rPr lang="en-US" sz="1000" dirty="0">
                <a:solidFill>
                  <a:srgbClr val="F4F4F5"/>
                </a:solidFill>
                <a:latin typeface="Consolas" pitchFamily="34" charset="0"/>
                <a:ea typeface="Consolas" pitchFamily="34" charset="-122"/>
                <a:cs typeface="Consolas" pitchFamily="34" charset="-120"/>
              </a:rPr>
              <a:t>  +id: int</a:t>
            </a:r>
            <a:endParaRPr lang="en-US" sz="1000" dirty="0"/>
          </a:p>
          <a:p>
            <a:pPr algn="l" indent="0" marL="0">
              <a:buNone/>
            </a:pPr>
            <a:r>
              <a:rPr lang="en-US" sz="1000" dirty="0">
                <a:solidFill>
                  <a:srgbClr val="F4F4F5"/>
                </a:solidFill>
                <a:latin typeface="Consolas" pitchFamily="34" charset="0"/>
                <a:ea typeface="Consolas" pitchFamily="34" charset="-122"/>
                <a:cs typeface="Consolas" pitchFamily="34" charset="-120"/>
              </a:rPr>
              <a:t>  +login()</a:t>
            </a:r>
            <a:endParaRPr lang="en-US" sz="1000" dirty="0"/>
          </a:p>
          <a:p>
            <a:pPr algn="l" indent="0" marL="0">
              <a:buNone/>
            </a:pPr>
            <a:r>
              <a:rPr lang="en-US" sz="1000" dirty="0">
                <a:solidFill>
                  <a:srgbClr val="F4F4F5"/>
                </a:solidFill>
                <a:latin typeface="Consolas" pitchFamily="34" charset="0"/>
                <a:ea typeface="Consolas" pitchFamily="34" charset="-122"/>
                <a:cs typeface="Consolas" pitchFamily="34" charset="-120"/>
              </a:rPr>
              <a:t>}</a:t>
            </a:r>
            <a:endParaRPr lang="en-US" sz="1000" dirty="0"/>
          </a:p>
          <a:p>
            <a:pPr algn="l" indent="0" marL="0">
              <a:buNone/>
            </a:pPr>
            <a:r>
              <a:rPr lang="en-US" sz="1000" dirty="0">
                <a:solidFill>
                  <a:srgbClr val="F4F4F5"/>
                </a:solidFill>
                <a:latin typeface="Consolas" pitchFamily="34" charset="0"/>
                <a:ea typeface="Consolas" pitchFamily="34" charset="-122"/>
                <a:cs typeface="Consolas" pitchFamily="34" charset="-120"/>
              </a:rPr>
              <a:t>User "1" -- "*" Order</a:t>
            </a:r>
            <a:endParaRPr lang="en-US" sz="1000" dirty="0"/>
          </a:p>
        </p:txBody>
      </p:sp>
      <p:sp>
        <p:nvSpPr>
          <p:cNvPr id="14" name="Shape 12"/>
          <p:cNvSpPr/>
          <p:nvPr/>
        </p:nvSpPr>
        <p:spPr>
          <a:xfrm>
            <a:off x="3429000" y="2834640"/>
            <a:ext cx="2743200" cy="1143000"/>
          </a:xfrm>
          <a:prstGeom prst="roundRect">
            <a:avLst>
              <a:gd name="adj" fmla="val 6400"/>
            </a:avLst>
          </a:prstGeom>
          <a:solidFill>
            <a:srgbClr val="FFFFFF"/>
          </a:solidFill>
          <a:ln w="6350">
            <a:solidFill>
              <a:srgbClr val="2D3138"/>
            </a:solidFill>
            <a:prstDash val="solid"/>
          </a:ln>
        </p:spPr>
      </p:sp>
      <p:sp>
        <p:nvSpPr>
          <p:cNvPr id="15" name="Shape 13"/>
          <p:cNvSpPr/>
          <p:nvPr/>
        </p:nvSpPr>
        <p:spPr>
          <a:xfrm>
            <a:off x="3657600" y="3017520"/>
            <a:ext cx="914400" cy="777240"/>
          </a:xfrm>
          <a:prstGeom prst="rect">
            <a:avLst/>
          </a:prstGeom>
          <a:solidFill>
            <a:srgbClr val="F4F4F5"/>
          </a:solidFill>
          <a:ln w="12700">
            <a:solidFill>
              <a:srgbClr val="111418"/>
            </a:solidFill>
            <a:prstDash val="solid"/>
          </a:ln>
        </p:spPr>
      </p:sp>
      <p:sp>
        <p:nvSpPr>
          <p:cNvPr id="16" name="Text 14"/>
          <p:cNvSpPr/>
          <p:nvPr/>
        </p:nvSpPr>
        <p:spPr>
          <a:xfrm>
            <a:off x="3657600" y="3017520"/>
            <a:ext cx="914400" cy="228600"/>
          </a:xfrm>
          <a:prstGeom prst="rect">
            <a:avLst/>
          </a:prstGeom>
          <a:noFill/>
          <a:ln/>
        </p:spPr>
        <p:txBody>
          <a:bodyPr wrap="square" lIns="0" tIns="0" rIns="0" bIns="0" rtlCol="0" anchor="ctr"/>
          <a:lstStyle/>
          <a:p>
            <a:pPr algn="ctr" indent="0" marL="0">
              <a:buNone/>
            </a:pPr>
            <a:r>
              <a:rPr lang="en-US" sz="1100" b="1" dirty="0">
                <a:solidFill>
                  <a:srgbClr val="111418"/>
                </a:solidFill>
                <a:latin typeface="Calibri" pitchFamily="34" charset="0"/>
                <a:ea typeface="Calibri" pitchFamily="34" charset="-122"/>
                <a:cs typeface="Calibri" pitchFamily="34" charset="-120"/>
              </a:rPr>
              <a:t>User</a:t>
            </a:r>
            <a:endParaRPr lang="en-US" sz="1100" dirty="0"/>
          </a:p>
        </p:txBody>
      </p:sp>
      <p:sp>
        <p:nvSpPr>
          <p:cNvPr id="17" name="Shape 15"/>
          <p:cNvSpPr/>
          <p:nvPr/>
        </p:nvSpPr>
        <p:spPr>
          <a:xfrm>
            <a:off x="5029200" y="3200400"/>
            <a:ext cx="914400" cy="594360"/>
          </a:xfrm>
          <a:prstGeom prst="rect">
            <a:avLst/>
          </a:prstGeom>
          <a:solidFill>
            <a:srgbClr val="F4F4F5"/>
          </a:solidFill>
          <a:ln w="12700">
            <a:solidFill>
              <a:srgbClr val="111418"/>
            </a:solidFill>
            <a:prstDash val="solid"/>
          </a:ln>
        </p:spPr>
      </p:sp>
      <p:sp>
        <p:nvSpPr>
          <p:cNvPr id="18" name="Text 16"/>
          <p:cNvSpPr/>
          <p:nvPr/>
        </p:nvSpPr>
        <p:spPr>
          <a:xfrm>
            <a:off x="5029200" y="3200400"/>
            <a:ext cx="914400" cy="228600"/>
          </a:xfrm>
          <a:prstGeom prst="rect">
            <a:avLst/>
          </a:prstGeom>
          <a:noFill/>
          <a:ln/>
        </p:spPr>
        <p:txBody>
          <a:bodyPr wrap="square" lIns="0" tIns="0" rIns="0" bIns="0" rtlCol="0" anchor="ctr"/>
          <a:lstStyle/>
          <a:p>
            <a:pPr algn="ctr" indent="0" marL="0">
              <a:buNone/>
            </a:pPr>
            <a:r>
              <a:rPr lang="en-US" sz="1100" b="1" dirty="0">
                <a:solidFill>
                  <a:srgbClr val="111418"/>
                </a:solidFill>
                <a:latin typeface="Calibri" pitchFamily="34" charset="0"/>
                <a:ea typeface="Calibri" pitchFamily="34" charset="-122"/>
                <a:cs typeface="Calibri" pitchFamily="34" charset="-120"/>
              </a:rPr>
              <a:t>Order</a:t>
            </a:r>
            <a:endParaRPr lang="en-US" sz="1100" dirty="0"/>
          </a:p>
        </p:txBody>
      </p:sp>
      <p:sp>
        <p:nvSpPr>
          <p:cNvPr id="19" name="Shape 17"/>
          <p:cNvSpPr/>
          <p:nvPr/>
        </p:nvSpPr>
        <p:spPr>
          <a:xfrm>
            <a:off x="4572000" y="3337560"/>
            <a:ext cx="457200" cy="137160"/>
          </a:xfrm>
          <a:prstGeom prst="line">
            <a:avLst/>
          </a:prstGeom>
          <a:noFill/>
          <a:ln w="12700">
            <a:solidFill>
              <a:srgbClr val="111418"/>
            </a:solidFill>
            <a:prstDash val="solid"/>
            <a:tailEnd type="diamond"/>
          </a:ln>
        </p:spPr>
      </p:sp>
      <p:sp>
        <p:nvSpPr>
          <p:cNvPr id="20" name="Text 18"/>
          <p:cNvSpPr/>
          <p:nvPr/>
        </p:nvSpPr>
        <p:spPr>
          <a:xfrm>
            <a:off x="6126480" y="2834640"/>
            <a:ext cx="45720" cy="0"/>
          </a:xfrm>
          <a:prstGeom prst="rect">
            <a:avLst/>
          </a:prstGeom>
          <a:noFill/>
          <a:ln/>
        </p:spPr>
        <p:txBody>
          <a:bodyPr wrap="square" lIns="0" tIns="0" rIns="0" bIns="0" rtlCol="0" anchor="ctr"/>
          <a:lstStyle/>
          <a:p>
            <a:pPr indent="0" marL="0">
              <a:buNone/>
            </a:pPr>
            <a:r>
              <a:rPr lang="en-US" sz="100" dirty="0">
                <a:solidFill>
                  <a:srgbClr val="F4F4F5"/>
                </a:solidFill>
              </a:rPr>
              <a:t>Rendered PNG</a:t>
            </a:r>
            <a:endParaRPr lang="en-US" sz="100" dirty="0"/>
          </a:p>
        </p:txBody>
      </p:sp>
      <p:sp>
        <p:nvSpPr>
          <p:cNvPr id="21" name="Shape 19"/>
          <p:cNvSpPr/>
          <p:nvPr/>
        </p:nvSpPr>
        <p:spPr>
          <a:xfrm>
            <a:off x="6217920" y="2011680"/>
            <a:ext cx="502920" cy="640080"/>
          </a:xfrm>
          <a:prstGeom prst="line">
            <a:avLst/>
          </a:prstGeom>
          <a:noFill/>
          <a:ln w="19050">
            <a:solidFill>
              <a:srgbClr val="E8A33D"/>
            </a:solidFill>
            <a:prstDash val="solid"/>
            <a:tailEnd type="triangle"/>
          </a:ln>
        </p:spPr>
      </p:sp>
      <p:sp>
        <p:nvSpPr>
          <p:cNvPr id="22" name="Shape 20"/>
          <p:cNvSpPr/>
          <p:nvPr/>
        </p:nvSpPr>
        <p:spPr>
          <a:xfrm>
            <a:off x="6217920" y="3429000"/>
            <a:ext cx="502920" cy="-640080"/>
          </a:xfrm>
          <a:prstGeom prst="line">
            <a:avLst/>
          </a:prstGeom>
          <a:noFill/>
          <a:ln w="19050">
            <a:solidFill>
              <a:srgbClr val="E8A33D"/>
            </a:solidFill>
            <a:prstDash val="solid"/>
            <a:tailEnd type="triangle"/>
          </a:ln>
        </p:spPr>
      </p:sp>
      <p:sp>
        <p:nvSpPr>
          <p:cNvPr id="23" name="Shape 21"/>
          <p:cNvSpPr/>
          <p:nvPr/>
        </p:nvSpPr>
        <p:spPr>
          <a:xfrm>
            <a:off x="6766560" y="1508760"/>
            <a:ext cx="2377440" cy="2468880"/>
          </a:xfrm>
          <a:prstGeom prst="roundRect">
            <a:avLst>
              <a:gd name="adj" fmla="val 3846"/>
            </a:avLst>
          </a:prstGeom>
          <a:solidFill>
            <a:srgbClr val="B57820"/>
          </a:solidFill>
          <a:ln w="12700">
            <a:solidFill>
              <a:srgbClr val="E8A33D"/>
            </a:solidFill>
            <a:prstDash val="solid"/>
          </a:ln>
        </p:spPr>
      </p:sp>
      <p:sp>
        <p:nvSpPr>
          <p:cNvPr id="24" name="Text 22"/>
          <p:cNvSpPr/>
          <p:nvPr/>
        </p:nvSpPr>
        <p:spPr>
          <a:xfrm>
            <a:off x="6766560" y="1691640"/>
            <a:ext cx="2377440" cy="365760"/>
          </a:xfrm>
          <a:prstGeom prst="rect">
            <a:avLst/>
          </a:prstGeom>
          <a:noFill/>
          <a:ln/>
        </p:spPr>
        <p:txBody>
          <a:bodyPr wrap="square" lIns="0" tIns="0" rIns="0" bIns="0" rtlCol="0" anchor="ctr"/>
          <a:lstStyle/>
          <a:p>
            <a:pPr algn="ctr" indent="0" marL="0">
              <a:buNone/>
            </a:pPr>
            <a:r>
              <a:rPr lang="en-US" sz="1500" b="1" dirty="0">
                <a:solidFill>
                  <a:srgbClr val="F4F4F5"/>
                </a:solidFill>
                <a:latin typeface="Calibri" pitchFamily="34" charset="0"/>
                <a:ea typeface="Calibri" pitchFamily="34" charset="-122"/>
                <a:cs typeface="Calibri" pitchFamily="34" charset="-120"/>
              </a:rPr>
              <a:t>LLM Prompt</a:t>
            </a:r>
            <a:endParaRPr lang="en-US" sz="1500" dirty="0"/>
          </a:p>
        </p:txBody>
      </p:sp>
      <p:sp>
        <p:nvSpPr>
          <p:cNvPr id="25" name="Text 23"/>
          <p:cNvSpPr/>
          <p:nvPr/>
        </p:nvSpPr>
        <p:spPr>
          <a:xfrm>
            <a:off x="6903720" y="2148840"/>
            <a:ext cx="2103120" cy="1783080"/>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 DSL text</a:t>
            </a:r>
            <a:endParaRPr lang="en-US" sz="1300" dirty="0"/>
          </a:p>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 PNG image</a:t>
            </a:r>
            <a:endParaRPr lang="en-US" sz="1300" dirty="0"/>
          </a:p>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 Rubric (5 criteria)</a:t>
            </a:r>
            <a:endParaRPr lang="en-US" sz="1300" dirty="0"/>
          </a:p>
          <a:p>
            <a:pPr algn="l" indent="0" marL="0">
              <a:spcAft>
                <a:spcPts val="300"/>
              </a:spcAft>
              <a:buNone/>
            </a:pPr>
            <a:r>
              <a:rPr lang="en-US" sz="400" dirty="0">
                <a:solidFill>
                  <a:srgbClr val="F4F4F5"/>
                </a:solidFill>
                <a:latin typeface="Calibri" pitchFamily="34" charset="0"/>
                <a:ea typeface="Calibri" pitchFamily="34" charset="-122"/>
                <a:cs typeface="Calibri" pitchFamily="34" charset="-120"/>
              </a:rPr>
              <a:t> </a:t>
            </a:r>
            <a:endParaRPr lang="en-US" sz="1300" dirty="0"/>
          </a:p>
          <a:p>
            <a:pPr algn="l" indent="0" marL="0">
              <a:spcAft>
                <a:spcPts val="300"/>
              </a:spcAft>
              <a:buNone/>
            </a:pPr>
            <a:r>
              <a:rPr lang="en-US" sz="1300" i="1" dirty="0">
                <a:solidFill>
                  <a:srgbClr val="F5C161"/>
                </a:solidFill>
                <a:latin typeface="Calibri" pitchFamily="34" charset="0"/>
                <a:ea typeface="Calibri" pitchFamily="34" charset="-122"/>
                <a:cs typeface="Calibri" pitchFamily="34" charset="-120"/>
              </a:rPr>
              <a:t>→ per-criterion scores</a:t>
            </a:r>
            <a:endParaRPr lang="en-US" sz="1300" dirty="0"/>
          </a:p>
          <a:p>
            <a:pPr algn="l" indent="0" marL="0">
              <a:spcAft>
                <a:spcPts val="300"/>
              </a:spcAft>
              <a:buNone/>
            </a:pPr>
            <a:r>
              <a:rPr lang="en-US" sz="1300" i="1" dirty="0">
                <a:solidFill>
                  <a:srgbClr val="F5C161"/>
                </a:solidFill>
                <a:latin typeface="Calibri" pitchFamily="34" charset="0"/>
                <a:ea typeface="Calibri" pitchFamily="34" charset="-122"/>
                <a:cs typeface="Calibri" pitchFamily="34" charset="-120"/>
              </a:rPr>
              <a:t>→ reasoning text</a:t>
            </a:r>
            <a:endParaRPr lang="en-US" sz="1300" dirty="0"/>
          </a:p>
        </p:txBody>
      </p:sp>
      <p:sp>
        <p:nvSpPr>
          <p:cNvPr id="26" name="Text 24"/>
          <p:cNvSpPr/>
          <p:nvPr/>
        </p:nvSpPr>
        <p:spPr>
          <a:xfrm>
            <a:off x="6766560" y="3611880"/>
            <a:ext cx="2377440" cy="292608"/>
          </a:xfrm>
          <a:prstGeom prst="rect">
            <a:avLst/>
          </a:prstGeom>
          <a:noFill/>
          <a:ln/>
        </p:spPr>
        <p:txBody>
          <a:bodyPr wrap="square" lIns="0" tIns="0" rIns="0" bIns="0" rtlCol="0" anchor="ctr"/>
          <a:lstStyle/>
          <a:p>
            <a:pPr algn="ctr" indent="0" marL="0">
              <a:buNone/>
            </a:pPr>
            <a:r>
              <a:rPr lang="en-US" sz="1100" i="1" dirty="0">
                <a:solidFill>
                  <a:srgbClr val="F4F4F5"/>
                </a:solidFill>
                <a:latin typeface="Calibri" pitchFamily="34" charset="0"/>
                <a:ea typeface="Calibri" pitchFamily="34" charset="-122"/>
                <a:cs typeface="Calibri" pitchFamily="34" charset="-120"/>
              </a:rPr>
              <a:t>text + vision</a:t>
            </a:r>
            <a:endParaRPr lang="en-US" sz="1100" dirty="0"/>
          </a:p>
        </p:txBody>
      </p:sp>
      <p:sp>
        <p:nvSpPr>
          <p:cNvPr id="27" name="Text 25"/>
          <p:cNvSpPr/>
          <p:nvPr/>
        </p:nvSpPr>
        <p:spPr>
          <a:xfrm>
            <a:off x="9372600" y="1508760"/>
            <a:ext cx="2286000" cy="320040"/>
          </a:xfrm>
          <a:prstGeom prst="rect">
            <a:avLst/>
          </a:prstGeom>
          <a:noFill/>
          <a:ln/>
        </p:spPr>
        <p:txBody>
          <a:bodyPr wrap="square" lIns="0" tIns="0" rIns="0" bIns="0" rtlCol="0" anchor="ctr"/>
          <a:lstStyle/>
          <a:p>
            <a:pPr algn="l" indent="0" marL="0">
              <a:buNone/>
            </a:pPr>
            <a:r>
              <a:rPr lang="en-US" sz="1400" b="1" dirty="0">
                <a:solidFill>
                  <a:srgbClr val="F5C161"/>
                </a:solidFill>
                <a:latin typeface="Calibri" pitchFamily="34" charset="0"/>
                <a:ea typeface="Calibri" pitchFamily="34" charset="-122"/>
                <a:cs typeface="Calibri" pitchFamily="34" charset="-120"/>
              </a:rPr>
              <a:t>Alternatives considered</a:t>
            </a:r>
            <a:endParaRPr lang="en-US" sz="1400" dirty="0"/>
          </a:p>
        </p:txBody>
      </p:sp>
      <p:sp>
        <p:nvSpPr>
          <p:cNvPr id="28" name="Shape 26"/>
          <p:cNvSpPr/>
          <p:nvPr/>
        </p:nvSpPr>
        <p:spPr>
          <a:xfrm>
            <a:off x="9372600" y="1874520"/>
            <a:ext cx="2286000" cy="457200"/>
          </a:xfrm>
          <a:prstGeom prst="roundRect">
            <a:avLst>
              <a:gd name="adj" fmla="val 12000"/>
            </a:avLst>
          </a:prstGeom>
          <a:solidFill>
            <a:srgbClr val="1A1D24"/>
          </a:solidFill>
          <a:ln w="6350">
            <a:solidFill>
              <a:srgbClr val="2D3138"/>
            </a:solidFill>
            <a:prstDash val="solid"/>
          </a:ln>
        </p:spPr>
      </p:sp>
      <p:sp>
        <p:nvSpPr>
          <p:cNvPr id="29" name="Text 27"/>
          <p:cNvSpPr/>
          <p:nvPr/>
        </p:nvSpPr>
        <p:spPr>
          <a:xfrm>
            <a:off x="9464040" y="1892808"/>
            <a:ext cx="2103120" cy="420624"/>
          </a:xfrm>
          <a:prstGeom prst="rect">
            <a:avLst/>
          </a:prstGeom>
          <a:noFill/>
          <a:ln/>
        </p:spPr>
        <p:txBody>
          <a:bodyPr wrap="square" lIns="0" tIns="0" rIns="0" bIns="0" rtlCol="0" anchor="ctr"/>
          <a:lstStyle/>
          <a:p>
            <a:pPr algn="l" indent="0" marL="0">
              <a:buNone/>
            </a:pPr>
            <a:r>
              <a:rPr lang="en-US" sz="1300" b="1" dirty="0">
                <a:solidFill>
                  <a:srgbClr val="F4F4F5"/>
                </a:solidFill>
                <a:latin typeface="Calibri" pitchFamily="34" charset="0"/>
                <a:ea typeface="Calibri" pitchFamily="34" charset="-122"/>
                <a:cs typeface="Calibri" pitchFamily="34" charset="-120"/>
              </a:rPr>
              <a:t>Text DSL only</a:t>
            </a:r>
            <a:endParaRPr lang="en-US" sz="1300" dirty="0"/>
          </a:p>
          <a:p>
            <a:pPr algn="l" indent="0" marL="0">
              <a:buNone/>
            </a:pPr>
            <a:r>
              <a:rPr lang="en-US" sz="1100" dirty="0">
                <a:solidFill>
                  <a:srgbClr val="B0B5BD"/>
                </a:solidFill>
                <a:latin typeface="Calibri" pitchFamily="34" charset="0"/>
                <a:ea typeface="Calibri" pitchFamily="34" charset="-122"/>
                <a:cs typeface="Calibri" pitchFamily="34" charset="-120"/>
              </a:rPr>
              <a:t>Loses visual props</a:t>
            </a:r>
            <a:endParaRPr lang="en-US" sz="1300" dirty="0"/>
          </a:p>
        </p:txBody>
      </p:sp>
      <p:sp>
        <p:nvSpPr>
          <p:cNvPr id="30" name="Shape 28"/>
          <p:cNvSpPr/>
          <p:nvPr/>
        </p:nvSpPr>
        <p:spPr>
          <a:xfrm>
            <a:off x="9372600" y="2368296"/>
            <a:ext cx="2286000" cy="457200"/>
          </a:xfrm>
          <a:prstGeom prst="roundRect">
            <a:avLst>
              <a:gd name="adj" fmla="val 12000"/>
            </a:avLst>
          </a:prstGeom>
          <a:solidFill>
            <a:srgbClr val="1A1D24"/>
          </a:solidFill>
          <a:ln w="6350">
            <a:solidFill>
              <a:srgbClr val="2D3138"/>
            </a:solidFill>
            <a:prstDash val="solid"/>
          </a:ln>
        </p:spPr>
      </p:sp>
      <p:sp>
        <p:nvSpPr>
          <p:cNvPr id="31" name="Text 29"/>
          <p:cNvSpPr/>
          <p:nvPr/>
        </p:nvSpPr>
        <p:spPr>
          <a:xfrm>
            <a:off x="9464040" y="2386584"/>
            <a:ext cx="2103120" cy="420624"/>
          </a:xfrm>
          <a:prstGeom prst="rect">
            <a:avLst/>
          </a:prstGeom>
          <a:noFill/>
          <a:ln/>
        </p:spPr>
        <p:txBody>
          <a:bodyPr wrap="square" lIns="0" tIns="0" rIns="0" bIns="0" rtlCol="0" anchor="ctr"/>
          <a:lstStyle/>
          <a:p>
            <a:pPr algn="l" indent="0" marL="0">
              <a:buNone/>
            </a:pPr>
            <a:r>
              <a:rPr lang="en-US" sz="1300" b="1" dirty="0">
                <a:solidFill>
                  <a:srgbClr val="F4F4F5"/>
                </a:solidFill>
                <a:latin typeface="Calibri" pitchFamily="34" charset="0"/>
                <a:ea typeface="Calibri" pitchFamily="34" charset="-122"/>
                <a:cs typeface="Calibri" pitchFamily="34" charset="-120"/>
              </a:rPr>
              <a:t>Pure vision</a:t>
            </a:r>
            <a:endParaRPr lang="en-US" sz="1300" dirty="0"/>
          </a:p>
          <a:p>
            <a:pPr algn="l" indent="0" marL="0">
              <a:buNone/>
            </a:pPr>
            <a:r>
              <a:rPr lang="en-US" sz="1100" dirty="0">
                <a:solidFill>
                  <a:srgbClr val="B0B5BD"/>
                </a:solidFill>
                <a:latin typeface="Calibri" pitchFamily="34" charset="0"/>
                <a:ea typeface="Calibri" pitchFamily="34" charset="-122"/>
                <a:cs typeface="Calibri" pitchFamily="34" charset="-120"/>
              </a:rPr>
              <a:t>Hallucinates labels</a:t>
            </a:r>
            <a:endParaRPr lang="en-US" sz="1300" dirty="0"/>
          </a:p>
        </p:txBody>
      </p:sp>
      <p:sp>
        <p:nvSpPr>
          <p:cNvPr id="32" name="Shape 30"/>
          <p:cNvSpPr/>
          <p:nvPr/>
        </p:nvSpPr>
        <p:spPr>
          <a:xfrm>
            <a:off x="9372600" y="2862072"/>
            <a:ext cx="2286000" cy="457200"/>
          </a:xfrm>
          <a:prstGeom prst="roundRect">
            <a:avLst>
              <a:gd name="adj" fmla="val 12000"/>
            </a:avLst>
          </a:prstGeom>
          <a:solidFill>
            <a:srgbClr val="1A1D24"/>
          </a:solidFill>
          <a:ln w="6350">
            <a:solidFill>
              <a:srgbClr val="2D3138"/>
            </a:solidFill>
            <a:prstDash val="solid"/>
          </a:ln>
        </p:spPr>
      </p:sp>
      <p:sp>
        <p:nvSpPr>
          <p:cNvPr id="33" name="Text 31"/>
          <p:cNvSpPr/>
          <p:nvPr/>
        </p:nvSpPr>
        <p:spPr>
          <a:xfrm>
            <a:off x="9464040" y="2880360"/>
            <a:ext cx="2103120" cy="420624"/>
          </a:xfrm>
          <a:prstGeom prst="rect">
            <a:avLst/>
          </a:prstGeom>
          <a:noFill/>
          <a:ln/>
        </p:spPr>
        <p:txBody>
          <a:bodyPr wrap="square" lIns="0" tIns="0" rIns="0" bIns="0" rtlCol="0" anchor="ctr"/>
          <a:lstStyle/>
          <a:p>
            <a:pPr algn="l" indent="0" marL="0">
              <a:buNone/>
            </a:pPr>
            <a:r>
              <a:rPr lang="en-US" sz="1300" b="1" dirty="0">
                <a:solidFill>
                  <a:srgbClr val="F4F4F5"/>
                </a:solidFill>
                <a:latin typeface="Calibri" pitchFamily="34" charset="0"/>
                <a:ea typeface="Calibri" pitchFamily="34" charset="-122"/>
                <a:cs typeface="Calibri" pitchFamily="34" charset="-120"/>
              </a:rPr>
              <a:t>Graph matching</a:t>
            </a:r>
            <a:endParaRPr lang="en-US" sz="1300" dirty="0"/>
          </a:p>
          <a:p>
            <a:pPr algn="l" indent="0" marL="0">
              <a:buNone/>
            </a:pPr>
            <a:r>
              <a:rPr lang="en-US" sz="1100" dirty="0">
                <a:solidFill>
                  <a:srgbClr val="B0B5BD"/>
                </a:solidFill>
                <a:latin typeface="Calibri" pitchFamily="34" charset="0"/>
                <a:ea typeface="Calibri" pitchFamily="34" charset="-122"/>
                <a:cs typeface="Calibri" pitchFamily="34" charset="-120"/>
              </a:rPr>
              <a:t>No semantics</a:t>
            </a:r>
            <a:endParaRPr lang="en-US" sz="1300" dirty="0"/>
          </a:p>
        </p:txBody>
      </p:sp>
      <p:sp>
        <p:nvSpPr>
          <p:cNvPr id="34" name="Shape 32"/>
          <p:cNvSpPr/>
          <p:nvPr/>
        </p:nvSpPr>
        <p:spPr>
          <a:xfrm>
            <a:off x="9372600" y="3355848"/>
            <a:ext cx="2286000" cy="457200"/>
          </a:xfrm>
          <a:prstGeom prst="roundRect">
            <a:avLst>
              <a:gd name="adj" fmla="val 12000"/>
            </a:avLst>
          </a:prstGeom>
          <a:solidFill>
            <a:srgbClr val="1A1D24"/>
          </a:solidFill>
          <a:ln w="6350">
            <a:solidFill>
              <a:srgbClr val="2D3138"/>
            </a:solidFill>
            <a:prstDash val="solid"/>
          </a:ln>
        </p:spPr>
      </p:sp>
      <p:sp>
        <p:nvSpPr>
          <p:cNvPr id="35" name="Text 33"/>
          <p:cNvSpPr/>
          <p:nvPr/>
        </p:nvSpPr>
        <p:spPr>
          <a:xfrm>
            <a:off x="9464040" y="3374136"/>
            <a:ext cx="2103120" cy="420624"/>
          </a:xfrm>
          <a:prstGeom prst="rect">
            <a:avLst/>
          </a:prstGeom>
          <a:noFill/>
          <a:ln/>
        </p:spPr>
        <p:txBody>
          <a:bodyPr wrap="square" lIns="0" tIns="0" rIns="0" bIns="0" rtlCol="0" anchor="ctr"/>
          <a:lstStyle/>
          <a:p>
            <a:pPr algn="l" indent="0" marL="0">
              <a:buNone/>
            </a:pPr>
            <a:r>
              <a:rPr lang="en-US" sz="1300" b="1" dirty="0">
                <a:solidFill>
                  <a:srgbClr val="F4F4F5"/>
                </a:solidFill>
                <a:latin typeface="Calibri" pitchFamily="34" charset="0"/>
                <a:ea typeface="Calibri" pitchFamily="34" charset="-122"/>
                <a:cs typeface="Calibri" pitchFamily="34" charset="-120"/>
              </a:rPr>
              <a:t>Code generation</a:t>
            </a:r>
            <a:endParaRPr lang="en-US" sz="1300" dirty="0"/>
          </a:p>
          <a:p>
            <a:pPr algn="l" indent="0" marL="0">
              <a:buNone/>
            </a:pPr>
            <a:r>
              <a:rPr lang="en-US" sz="1100" dirty="0">
                <a:solidFill>
                  <a:srgbClr val="B0B5BD"/>
                </a:solidFill>
                <a:latin typeface="Calibri" pitchFamily="34" charset="0"/>
                <a:ea typeface="Calibri" pitchFamily="34" charset="-122"/>
                <a:cs typeface="Calibri" pitchFamily="34" charset="-120"/>
              </a:rPr>
              <a:t>Lossy translation</a:t>
            </a:r>
            <a:endParaRPr lang="en-US" sz="1300" dirty="0"/>
          </a:p>
        </p:txBody>
      </p:sp>
      <p:sp>
        <p:nvSpPr>
          <p:cNvPr id="36" name="Shape 34"/>
          <p:cNvSpPr/>
          <p:nvPr/>
        </p:nvSpPr>
        <p:spPr>
          <a:xfrm>
            <a:off x="9372600" y="3849624"/>
            <a:ext cx="2286000" cy="457200"/>
          </a:xfrm>
          <a:prstGeom prst="roundRect">
            <a:avLst>
              <a:gd name="adj" fmla="val 12000"/>
            </a:avLst>
          </a:prstGeom>
          <a:solidFill>
            <a:srgbClr val="B57820"/>
          </a:solidFill>
          <a:ln w="12700">
            <a:solidFill>
              <a:srgbClr val="E8A33D"/>
            </a:solidFill>
            <a:prstDash val="solid"/>
          </a:ln>
        </p:spPr>
      </p:sp>
      <p:sp>
        <p:nvSpPr>
          <p:cNvPr id="37" name="Text 35"/>
          <p:cNvSpPr/>
          <p:nvPr/>
        </p:nvSpPr>
        <p:spPr>
          <a:xfrm>
            <a:off x="9464040" y="3867912"/>
            <a:ext cx="2103120" cy="420624"/>
          </a:xfrm>
          <a:prstGeom prst="rect">
            <a:avLst/>
          </a:prstGeom>
          <a:noFill/>
          <a:ln/>
        </p:spPr>
        <p:txBody>
          <a:bodyPr wrap="square" lIns="0" tIns="0" rIns="0" bIns="0" rtlCol="0" anchor="ctr"/>
          <a:lstStyle/>
          <a:p>
            <a:pPr algn="l" indent="0" marL="0">
              <a:buNone/>
            </a:pPr>
            <a:r>
              <a:rPr lang="en-US" sz="1300" b="1" dirty="0">
                <a:solidFill>
                  <a:srgbClr val="F5C161"/>
                </a:solidFill>
                <a:latin typeface="Calibri" pitchFamily="34" charset="0"/>
                <a:ea typeface="Calibri" pitchFamily="34" charset="-122"/>
                <a:cs typeface="Calibri" pitchFamily="34" charset="-120"/>
              </a:rPr>
              <a:t>✅ Dual-modality</a:t>
            </a:r>
            <a:endParaRPr lang="en-US" sz="1300" dirty="0"/>
          </a:p>
          <a:p>
            <a:pPr algn="l" indent="0" marL="0">
              <a:buNone/>
            </a:pPr>
            <a:r>
              <a:rPr lang="en-US" sz="1100" dirty="0">
                <a:solidFill>
                  <a:srgbClr val="B0B5BD"/>
                </a:solidFill>
                <a:latin typeface="Calibri" pitchFamily="34" charset="0"/>
                <a:ea typeface="Calibri" pitchFamily="34" charset="-122"/>
                <a:cs typeface="Calibri" pitchFamily="34" charset="-120"/>
              </a:rPr>
              <a:t>Cross-references both</a:t>
            </a:r>
            <a:endParaRPr lang="en-US" sz="1300" dirty="0"/>
          </a:p>
        </p:txBody>
      </p:sp>
      <p:sp>
        <p:nvSpPr>
          <p:cNvPr id="38" name="Shape 36"/>
          <p:cNvSpPr/>
          <p:nvPr/>
        </p:nvSpPr>
        <p:spPr>
          <a:xfrm>
            <a:off x="548640" y="5349240"/>
            <a:ext cx="11094415" cy="868680"/>
          </a:xfrm>
          <a:prstGeom prst="roundRect">
            <a:avLst>
              <a:gd name="adj" fmla="val 10526"/>
            </a:avLst>
          </a:prstGeom>
          <a:solidFill>
            <a:srgbClr val="20242C"/>
          </a:solidFill>
          <a:ln w="12700">
            <a:solidFill>
              <a:srgbClr val="E8A33D"/>
            </a:solidFill>
            <a:prstDash val="solid"/>
          </a:ln>
        </p:spPr>
      </p:sp>
      <p:sp>
        <p:nvSpPr>
          <p:cNvPr id="39" name="Shape 37"/>
          <p:cNvSpPr/>
          <p:nvPr/>
        </p:nvSpPr>
        <p:spPr>
          <a:xfrm>
            <a:off x="548640" y="5349240"/>
            <a:ext cx="109728" cy="868680"/>
          </a:xfrm>
          <a:prstGeom prst="rect">
            <a:avLst/>
          </a:prstGeom>
          <a:solidFill>
            <a:srgbClr val="E8A33D"/>
          </a:solidFill>
          <a:ln w="12700">
            <a:solidFill>
              <a:srgbClr val="E8A33D"/>
            </a:solidFill>
            <a:prstDash val="solid"/>
          </a:ln>
        </p:spPr>
      </p:sp>
      <p:sp>
        <p:nvSpPr>
          <p:cNvPr id="40" name="Text 38"/>
          <p:cNvSpPr/>
          <p:nvPr/>
        </p:nvSpPr>
        <p:spPr>
          <a:xfrm>
            <a:off x="914400" y="5394960"/>
            <a:ext cx="10545775" cy="777240"/>
          </a:xfrm>
          <a:prstGeom prst="rect">
            <a:avLst/>
          </a:prstGeom>
          <a:noFill/>
          <a:ln/>
        </p:spPr>
        <p:txBody>
          <a:bodyPr wrap="square" lIns="0" tIns="0" rIns="0" bIns="0" rtlCol="0" anchor="ctr"/>
          <a:lstStyle/>
          <a:p>
            <a:pPr algn="l" indent="0" marL="0">
              <a:buNone/>
            </a:pPr>
            <a:r>
              <a:rPr lang="en-US" sz="1500" b="1" dirty="0">
                <a:solidFill>
                  <a:srgbClr val="F5C161"/>
                </a:solidFill>
                <a:latin typeface="Calibri" pitchFamily="34" charset="0"/>
                <a:ea typeface="Calibri" pitchFamily="34" charset="-122"/>
                <a:cs typeface="Calibri" pitchFamily="34" charset="-120"/>
              </a:rPr>
              <a:t>Why it works:  </a:t>
            </a:r>
            <a:pPr algn="l" indent="0" marL="0">
              <a:buNone/>
            </a:pPr>
            <a:r>
              <a:rPr lang="en-US" sz="1400" dirty="0">
                <a:solidFill>
                  <a:srgbClr val="F4F4F5"/>
                </a:solidFill>
                <a:latin typeface="Calibri" pitchFamily="34" charset="0"/>
                <a:ea typeface="Calibri" pitchFamily="34" charset="-122"/>
                <a:cs typeface="Calibri" pitchFamily="34" charset="-120"/>
              </a:rPr>
              <a:t>the LLM cross-references the structural text against the rendered image, catching errors that either modality alone would miss.</a:t>
            </a:r>
            <a:endParaRPr lang="en-US" sz="1500" dirty="0"/>
          </a:p>
        </p:txBody>
      </p:sp>
      <p:sp>
        <p:nvSpPr>
          <p:cNvPr id="41" name="Shape 39"/>
          <p:cNvSpPr/>
          <p:nvPr/>
        </p:nvSpPr>
        <p:spPr>
          <a:xfrm>
            <a:off x="457200" y="6519672"/>
            <a:ext cx="11277295" cy="0"/>
          </a:xfrm>
          <a:prstGeom prst="line">
            <a:avLst/>
          </a:prstGeom>
          <a:noFill/>
          <a:ln w="9525">
            <a:solidFill>
              <a:srgbClr val="2D3138"/>
            </a:solidFill>
            <a:prstDash val="solid"/>
          </a:ln>
        </p:spPr>
      </p:sp>
      <p:sp>
        <p:nvSpPr>
          <p:cNvPr id="42" name="Text 40"/>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43" name="Text 41"/>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18 / 33</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Structured Output &amp; Defensive Validation</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Shape 2"/>
          <p:cNvSpPr/>
          <p:nvPr/>
        </p:nvSpPr>
        <p:spPr>
          <a:xfrm>
            <a:off x="548640" y="1325880"/>
            <a:ext cx="5943600" cy="4937760"/>
          </a:xfrm>
          <a:prstGeom prst="roundRect">
            <a:avLst>
              <a:gd name="adj" fmla="val 1852"/>
            </a:avLst>
          </a:prstGeom>
          <a:solidFill>
            <a:srgbClr val="1A1D24"/>
          </a:solidFill>
          <a:ln w="9525">
            <a:solidFill>
              <a:srgbClr val="2D3138"/>
            </a:solidFill>
            <a:prstDash val="solid"/>
          </a:ln>
        </p:spPr>
      </p:sp>
      <p:sp>
        <p:nvSpPr>
          <p:cNvPr id="5" name="Text 3"/>
          <p:cNvSpPr/>
          <p:nvPr/>
        </p:nvSpPr>
        <p:spPr>
          <a:xfrm>
            <a:off x="777240" y="1463040"/>
            <a:ext cx="5486400" cy="292608"/>
          </a:xfrm>
          <a:prstGeom prst="rect">
            <a:avLst/>
          </a:prstGeom>
          <a:noFill/>
          <a:ln/>
        </p:spPr>
        <p:txBody>
          <a:bodyPr wrap="square" lIns="0" tIns="0" rIns="0" bIns="0" rtlCol="0" anchor="ctr"/>
          <a:lstStyle/>
          <a:p>
            <a:pPr algn="l" indent="0" marL="0">
              <a:buNone/>
            </a:pPr>
            <a:r>
              <a:rPr lang="en-US" sz="1200" i="1" dirty="0">
                <a:solidFill>
                  <a:srgbClr val="6B7280"/>
                </a:solidFill>
                <a:latin typeface="Calibri" pitchFamily="34" charset="0"/>
                <a:ea typeface="Calibri" pitchFamily="34" charset="-122"/>
                <a:cs typeface="Calibri" pitchFamily="34" charset="-120"/>
              </a:rPr>
              <a:t>schema.ts  —  Zod schema for grading output</a:t>
            </a:r>
            <a:endParaRPr lang="en-US" sz="1200" dirty="0"/>
          </a:p>
        </p:txBody>
      </p:sp>
      <p:sp>
        <p:nvSpPr>
          <p:cNvPr id="6" name="Text 4"/>
          <p:cNvSpPr/>
          <p:nvPr/>
        </p:nvSpPr>
        <p:spPr>
          <a:xfrm>
            <a:off x="822960" y="1828800"/>
            <a:ext cx="5394960" cy="4297680"/>
          </a:xfrm>
          <a:prstGeom prst="rect">
            <a:avLst/>
          </a:prstGeom>
          <a:noFill/>
          <a:ln/>
        </p:spPr>
        <p:txBody>
          <a:bodyPr wrap="square" lIns="0" tIns="0" rIns="0" bIns="0" rtlCol="0" anchor="t"/>
          <a:lstStyle/>
          <a:p>
            <a:pPr algn="l" indent="0" marL="0">
              <a:buNone/>
            </a:pPr>
            <a:r>
              <a:rPr lang="en-US" sz="1250" dirty="0">
                <a:solidFill>
                  <a:srgbClr val="F4F4F5"/>
                </a:solidFill>
                <a:latin typeface="Consolas" pitchFamily="34" charset="0"/>
                <a:ea typeface="Consolas" pitchFamily="34" charset="-122"/>
                <a:cs typeface="Consolas" pitchFamily="34" charset="-120"/>
              </a:rPr>
              <a:t>const gradingSchema = z.object({</a:t>
            </a:r>
            <a:endParaRPr lang="en-US" sz="1250" dirty="0"/>
          </a:p>
          <a:p>
            <a:pPr algn="l" indent="0" marL="0">
              <a:buNone/>
            </a:pPr>
            <a:r>
              <a:rPr lang="en-US" sz="1250" dirty="0">
                <a:solidFill>
                  <a:srgbClr val="F4F4F5"/>
                </a:solidFill>
                <a:latin typeface="Consolas" pitchFamily="34" charset="0"/>
                <a:ea typeface="Consolas" pitchFamily="34" charset="-122"/>
                <a:cs typeface="Consolas" pitchFamily="34" charset="-120"/>
              </a:rPr>
              <a:t>  perCriterion: z.array(z.object({</a:t>
            </a:r>
            <a:endParaRPr lang="en-US" sz="1250" dirty="0"/>
          </a:p>
          <a:p>
            <a:pPr algn="l" indent="0" marL="0">
              <a:buNone/>
            </a:pPr>
            <a:r>
              <a:rPr lang="en-US" sz="1250" dirty="0">
                <a:solidFill>
                  <a:srgbClr val="F4F4F5"/>
                </a:solidFill>
                <a:latin typeface="Consolas" pitchFamily="34" charset="0"/>
                <a:ea typeface="Consolas" pitchFamily="34" charset="-122"/>
                <a:cs typeface="Consolas" pitchFamily="34" charset="-120"/>
              </a:rPr>
              <a:t>    criterion: z.string(),</a:t>
            </a:r>
            <a:endParaRPr lang="en-US" sz="1250" dirty="0"/>
          </a:p>
          <a:p>
            <a:pPr algn="l" indent="0" marL="0">
              <a:buNone/>
            </a:pPr>
            <a:r>
              <a:rPr lang="en-US" sz="1250" dirty="0">
                <a:solidFill>
                  <a:srgbClr val="F4F4F5"/>
                </a:solidFill>
                <a:latin typeface="Consolas" pitchFamily="34" charset="0"/>
                <a:ea typeface="Consolas" pitchFamily="34" charset="-122"/>
                <a:cs typeface="Consolas" pitchFamily="34" charset="-120"/>
              </a:rPr>
              <a:t>    score: z.number().min(0),</a:t>
            </a:r>
            <a:endParaRPr lang="en-US" sz="1250" dirty="0"/>
          </a:p>
          <a:p>
            <a:pPr algn="l" indent="0" marL="0">
              <a:buNone/>
            </a:pPr>
            <a:r>
              <a:rPr lang="en-US" sz="1250" dirty="0">
                <a:solidFill>
                  <a:srgbClr val="F4F4F5"/>
                </a:solidFill>
                <a:latin typeface="Consolas" pitchFamily="34" charset="0"/>
                <a:ea typeface="Consolas" pitchFamily="34" charset="-122"/>
                <a:cs typeface="Consolas" pitchFamily="34" charset="-120"/>
              </a:rPr>
              <a:t>    reasoning: z.string(),</a:t>
            </a:r>
            <a:endParaRPr lang="en-US" sz="1250" dirty="0"/>
          </a:p>
          <a:p>
            <a:pPr algn="l" indent="0" marL="0">
              <a:buNone/>
            </a:pPr>
            <a:r>
              <a:rPr lang="en-US" sz="1250" dirty="0">
                <a:solidFill>
                  <a:srgbClr val="F4F4F5"/>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F4F4F5"/>
                </a:solidFill>
                <a:latin typeface="Consolas" pitchFamily="34" charset="0"/>
                <a:ea typeface="Consolas" pitchFamily="34" charset="-122"/>
                <a:cs typeface="Consolas" pitchFamily="34" charset="-120"/>
              </a:rPr>
              <a:t>  totalScore: z.number(),</a:t>
            </a:r>
            <a:endParaRPr lang="en-US" sz="1250" dirty="0"/>
          </a:p>
          <a:p>
            <a:pPr algn="l" indent="0" marL="0">
              <a:buNone/>
            </a:pPr>
            <a:r>
              <a:rPr lang="en-US" sz="1250" dirty="0">
                <a:solidFill>
                  <a:srgbClr val="F4F4F5"/>
                </a:solidFill>
                <a:latin typeface="Consolas" pitchFamily="34" charset="0"/>
                <a:ea typeface="Consolas" pitchFamily="34" charset="-122"/>
                <a:cs typeface="Consolas" pitchFamily="34" charset="-120"/>
              </a:rPr>
              <a:t>  feedback: z.string(),</a:t>
            </a:r>
            <a:endParaRPr lang="en-US" sz="1250" dirty="0"/>
          </a:p>
          <a:p>
            <a:pPr algn="l" indent="0" marL="0">
              <a:buNone/>
            </a:pPr>
            <a:r>
              <a:rPr lang="en-US" sz="1250" dirty="0">
                <a:solidFill>
                  <a:srgbClr val="F4F4F5"/>
                </a:solidFill>
                <a:latin typeface="Consolas" pitchFamily="34" charset="0"/>
                <a:ea typeface="Consolas" pitchFamily="34" charset="-122"/>
                <a:cs typeface="Consolas" pitchFamily="34" charset="-120"/>
              </a:rPr>
              <a:t>});</a:t>
            </a:r>
            <a:endParaRPr lang="en-US" sz="1250" dirty="0"/>
          </a:p>
          <a:p>
            <a:pPr algn="l" indent="0" marL="0">
              <a:buNone/>
            </a:pPr>
            <a:r>
              <a:rPr lang="en-US" sz="1250" dirty="0">
                <a:solidFill>
                  <a:srgbClr val="F4F4F5"/>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F4F4F5"/>
                </a:solidFill>
                <a:latin typeface="Consolas" pitchFamily="34" charset="0"/>
                <a:ea typeface="Consolas" pitchFamily="34" charset="-122"/>
                <a:cs typeface="Consolas" pitchFamily="34" charset="-120"/>
              </a:rPr>
              <a:t>const { object, usage } = await generateObject({</a:t>
            </a:r>
            <a:endParaRPr lang="en-US" sz="1250" dirty="0"/>
          </a:p>
          <a:p>
            <a:pPr algn="l" indent="0" marL="0">
              <a:buNone/>
            </a:pPr>
            <a:r>
              <a:rPr lang="en-US" sz="1250" dirty="0">
                <a:solidFill>
                  <a:srgbClr val="F4F4F5"/>
                </a:solidFill>
                <a:latin typeface="Consolas" pitchFamily="34" charset="0"/>
                <a:ea typeface="Consolas" pitchFamily="34" charset="-122"/>
                <a:cs typeface="Consolas" pitchFamily="34" charset="-120"/>
              </a:rPr>
              <a:t>  model: getModel(settings),</a:t>
            </a:r>
            <a:endParaRPr lang="en-US" sz="1250" dirty="0"/>
          </a:p>
          <a:p>
            <a:pPr algn="l" indent="0" marL="0">
              <a:buNone/>
            </a:pPr>
            <a:r>
              <a:rPr lang="en-US" sz="1250" dirty="0">
                <a:solidFill>
                  <a:srgbClr val="F4F4F5"/>
                </a:solidFill>
                <a:latin typeface="Consolas" pitchFamily="34" charset="0"/>
                <a:ea typeface="Consolas" pitchFamily="34" charset="-122"/>
                <a:cs typeface="Consolas" pitchFamily="34" charset="-120"/>
              </a:rPr>
              <a:t>  schema: gradingSchema,</a:t>
            </a:r>
            <a:endParaRPr lang="en-US" sz="1250" dirty="0"/>
          </a:p>
          <a:p>
            <a:pPr algn="l" indent="0" marL="0">
              <a:buNone/>
            </a:pPr>
            <a:r>
              <a:rPr lang="en-US" sz="1250" dirty="0">
                <a:solidFill>
                  <a:srgbClr val="F4F4F5"/>
                </a:solidFill>
                <a:latin typeface="Consolas" pitchFamily="34" charset="0"/>
                <a:ea typeface="Consolas" pitchFamily="34" charset="-122"/>
                <a:cs typeface="Consolas" pitchFamily="34" charset="-120"/>
              </a:rPr>
              <a:t>  messages: [</a:t>
            </a:r>
            <a:endParaRPr lang="en-US" sz="1250" dirty="0"/>
          </a:p>
          <a:p>
            <a:pPr algn="l" indent="0" marL="0">
              <a:buNone/>
            </a:pPr>
            <a:r>
              <a:rPr lang="en-US" sz="1250" dirty="0">
                <a:solidFill>
                  <a:srgbClr val="F4F4F5"/>
                </a:solidFill>
                <a:latin typeface="Consolas" pitchFamily="34" charset="0"/>
                <a:ea typeface="Consolas" pitchFamily="34" charset="-122"/>
                <a:cs typeface="Consolas" pitchFamily="34" charset="-120"/>
              </a:rPr>
              <a:t>    { role: 'system', content: SYSTEM_PROMPT },</a:t>
            </a:r>
            <a:endParaRPr lang="en-US" sz="1250" dirty="0"/>
          </a:p>
          <a:p>
            <a:pPr algn="l" indent="0" marL="0">
              <a:buNone/>
            </a:pPr>
            <a:r>
              <a:rPr lang="en-US" sz="1250" dirty="0">
                <a:solidFill>
                  <a:srgbClr val="F4F4F5"/>
                </a:solidFill>
                <a:latin typeface="Consolas" pitchFamily="34" charset="0"/>
                <a:ea typeface="Consolas" pitchFamily="34" charset="-122"/>
                <a:cs typeface="Consolas" pitchFamily="34" charset="-120"/>
              </a:rPr>
              <a:t>    { role: 'user', content: [</a:t>
            </a:r>
            <a:endParaRPr lang="en-US" sz="1250" dirty="0"/>
          </a:p>
          <a:p>
            <a:pPr algn="l" indent="0" marL="0">
              <a:buNone/>
            </a:pPr>
            <a:r>
              <a:rPr lang="en-US" sz="1250" dirty="0">
                <a:solidFill>
                  <a:srgbClr val="F4F4F5"/>
                </a:solidFill>
                <a:latin typeface="Consolas" pitchFamily="34" charset="0"/>
                <a:ea typeface="Consolas" pitchFamily="34" charset="-122"/>
                <a:cs typeface="Consolas" pitchFamily="34" charset="-120"/>
              </a:rPr>
              <a:t>      { type: 'text',  text: dsl + rubric },</a:t>
            </a:r>
            <a:endParaRPr lang="en-US" sz="1250" dirty="0"/>
          </a:p>
          <a:p>
            <a:pPr algn="l" indent="0" marL="0">
              <a:buNone/>
            </a:pPr>
            <a:r>
              <a:rPr lang="en-US" sz="1250" dirty="0">
                <a:solidFill>
                  <a:srgbClr val="F4F4F5"/>
                </a:solidFill>
                <a:latin typeface="Consolas" pitchFamily="34" charset="0"/>
                <a:ea typeface="Consolas" pitchFamily="34" charset="-122"/>
                <a:cs typeface="Consolas" pitchFamily="34" charset="-120"/>
              </a:rPr>
              <a:t>      { type: 'image', image: pngBuffer },</a:t>
            </a:r>
            <a:endParaRPr lang="en-US" sz="1250" dirty="0"/>
          </a:p>
          <a:p>
            <a:pPr algn="l" indent="0" marL="0">
              <a:buNone/>
            </a:pPr>
            <a:r>
              <a:rPr lang="en-US" sz="1250" dirty="0">
                <a:solidFill>
                  <a:srgbClr val="F4F4F5"/>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F4F4F5"/>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F4F4F5"/>
                </a:solidFill>
                <a:latin typeface="Consolas" pitchFamily="34" charset="0"/>
                <a:ea typeface="Consolas" pitchFamily="34" charset="-122"/>
                <a:cs typeface="Consolas" pitchFamily="34" charset="-120"/>
              </a:rPr>
              <a:t>});</a:t>
            </a:r>
            <a:endParaRPr lang="en-US" sz="1250" dirty="0"/>
          </a:p>
          <a:p>
            <a:pPr algn="l" indent="0" marL="0">
              <a:buNone/>
            </a:pPr>
            <a:r>
              <a:rPr lang="en-US" sz="1250" dirty="0">
                <a:solidFill>
                  <a:srgbClr val="F4F4F5"/>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6B7280"/>
                </a:solidFill>
                <a:latin typeface="Consolas" pitchFamily="34" charset="0"/>
                <a:ea typeface="Consolas" pitchFamily="34" charset="-122"/>
                <a:cs typeface="Consolas" pitchFamily="34" charset="-120"/>
              </a:rPr>
              <a:t>// Defensive clamp</a:t>
            </a:r>
            <a:endParaRPr lang="en-US" sz="1250" dirty="0"/>
          </a:p>
          <a:p>
            <a:pPr algn="l" indent="0" marL="0">
              <a:buNone/>
            </a:pPr>
            <a:r>
              <a:rPr lang="en-US" sz="1250" dirty="0">
                <a:solidFill>
                  <a:srgbClr val="F4F4F5"/>
                </a:solidFill>
                <a:latin typeface="Consolas" pitchFamily="34" charset="0"/>
                <a:ea typeface="Consolas" pitchFamily="34" charset="-122"/>
                <a:cs typeface="Consolas" pitchFamily="34" charset="-120"/>
              </a:rPr>
              <a:t>const clamped = clampScores(object, q.maxPoints);</a:t>
            </a:r>
            <a:endParaRPr lang="en-US" sz="1250" dirty="0"/>
          </a:p>
        </p:txBody>
      </p:sp>
      <p:sp>
        <p:nvSpPr>
          <p:cNvPr id="7" name="Shape 5"/>
          <p:cNvSpPr/>
          <p:nvPr/>
        </p:nvSpPr>
        <p:spPr>
          <a:xfrm>
            <a:off x="6583680" y="1325880"/>
            <a:ext cx="5120640" cy="1161288"/>
          </a:xfrm>
          <a:prstGeom prst="roundRect">
            <a:avLst>
              <a:gd name="adj" fmla="val 9449"/>
            </a:avLst>
          </a:prstGeom>
          <a:solidFill>
            <a:srgbClr val="1A1D24"/>
          </a:solidFill>
          <a:ln w="9525">
            <a:solidFill>
              <a:srgbClr val="2D3138"/>
            </a:solidFill>
            <a:prstDash val="solid"/>
          </a:ln>
        </p:spPr>
      </p:sp>
      <p:sp>
        <p:nvSpPr>
          <p:cNvPr id="8" name="Shape 6"/>
          <p:cNvSpPr/>
          <p:nvPr/>
        </p:nvSpPr>
        <p:spPr>
          <a:xfrm>
            <a:off x="6784848" y="1490472"/>
            <a:ext cx="384048" cy="384048"/>
          </a:xfrm>
          <a:prstGeom prst="ellipse">
            <a:avLst/>
          </a:prstGeom>
          <a:solidFill>
            <a:srgbClr val="E8A33D"/>
          </a:solidFill>
          <a:ln w="15875">
            <a:solidFill>
              <a:srgbClr val="F5C161"/>
            </a:solidFill>
            <a:prstDash val="solid"/>
          </a:ln>
        </p:spPr>
      </p:sp>
      <p:sp>
        <p:nvSpPr>
          <p:cNvPr id="9" name="Text 7"/>
          <p:cNvSpPr/>
          <p:nvPr/>
        </p:nvSpPr>
        <p:spPr>
          <a:xfrm>
            <a:off x="6784848" y="149047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01</a:t>
            </a:r>
            <a:endParaRPr lang="en-US" sz="1300" dirty="0"/>
          </a:p>
        </p:txBody>
      </p:sp>
      <p:sp>
        <p:nvSpPr>
          <p:cNvPr id="10" name="Text 8"/>
          <p:cNvSpPr/>
          <p:nvPr/>
        </p:nvSpPr>
        <p:spPr>
          <a:xfrm>
            <a:off x="7260336" y="1453896"/>
            <a:ext cx="434340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API-level enforcement</a:t>
            </a:r>
            <a:endParaRPr lang="en-US" sz="1600" dirty="0"/>
          </a:p>
        </p:txBody>
      </p:sp>
      <p:sp>
        <p:nvSpPr>
          <p:cNvPr id="11" name="Text 9"/>
          <p:cNvSpPr/>
          <p:nvPr/>
        </p:nvSpPr>
        <p:spPr>
          <a:xfrm>
            <a:off x="6839712" y="1947672"/>
            <a:ext cx="4663440" cy="448056"/>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Vercel AI SDK generateObject() enforces the schema at the provider level — no fragile JSON parsing.</a:t>
            </a:r>
            <a:endParaRPr lang="en-US" sz="1300" dirty="0"/>
          </a:p>
        </p:txBody>
      </p:sp>
      <p:sp>
        <p:nvSpPr>
          <p:cNvPr id="12" name="Shape 10"/>
          <p:cNvSpPr/>
          <p:nvPr/>
        </p:nvSpPr>
        <p:spPr>
          <a:xfrm>
            <a:off x="6583680" y="2606040"/>
            <a:ext cx="5120640" cy="1161288"/>
          </a:xfrm>
          <a:prstGeom prst="roundRect">
            <a:avLst>
              <a:gd name="adj" fmla="val 9449"/>
            </a:avLst>
          </a:prstGeom>
          <a:solidFill>
            <a:srgbClr val="1A1D24"/>
          </a:solidFill>
          <a:ln w="9525">
            <a:solidFill>
              <a:srgbClr val="2D3138"/>
            </a:solidFill>
            <a:prstDash val="solid"/>
          </a:ln>
        </p:spPr>
      </p:sp>
      <p:sp>
        <p:nvSpPr>
          <p:cNvPr id="13" name="Shape 11"/>
          <p:cNvSpPr/>
          <p:nvPr/>
        </p:nvSpPr>
        <p:spPr>
          <a:xfrm>
            <a:off x="6784848" y="2770632"/>
            <a:ext cx="384048" cy="384048"/>
          </a:xfrm>
          <a:prstGeom prst="ellipse">
            <a:avLst/>
          </a:prstGeom>
          <a:solidFill>
            <a:srgbClr val="E8A33D"/>
          </a:solidFill>
          <a:ln w="15875">
            <a:solidFill>
              <a:srgbClr val="F5C161"/>
            </a:solidFill>
            <a:prstDash val="solid"/>
          </a:ln>
        </p:spPr>
      </p:sp>
      <p:sp>
        <p:nvSpPr>
          <p:cNvPr id="14" name="Text 12"/>
          <p:cNvSpPr/>
          <p:nvPr/>
        </p:nvSpPr>
        <p:spPr>
          <a:xfrm>
            <a:off x="6784848" y="277063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02</a:t>
            </a:r>
            <a:endParaRPr lang="en-US" sz="1300" dirty="0"/>
          </a:p>
        </p:txBody>
      </p:sp>
      <p:sp>
        <p:nvSpPr>
          <p:cNvPr id="15" name="Text 13"/>
          <p:cNvSpPr/>
          <p:nvPr/>
        </p:nvSpPr>
        <p:spPr>
          <a:xfrm>
            <a:off x="7260336" y="2734056"/>
            <a:ext cx="434340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Schema validation</a:t>
            </a:r>
            <a:endParaRPr lang="en-US" sz="1600" dirty="0"/>
          </a:p>
        </p:txBody>
      </p:sp>
      <p:sp>
        <p:nvSpPr>
          <p:cNvPr id="16" name="Text 14"/>
          <p:cNvSpPr/>
          <p:nvPr/>
        </p:nvSpPr>
        <p:spPr>
          <a:xfrm>
            <a:off x="6839712" y="3227832"/>
            <a:ext cx="4663440" cy="448056"/>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Malformed output → job fails explicitly. No corrupt data ever reaches the gradebook.</a:t>
            </a:r>
            <a:endParaRPr lang="en-US" sz="1300" dirty="0"/>
          </a:p>
        </p:txBody>
      </p:sp>
      <p:sp>
        <p:nvSpPr>
          <p:cNvPr id="17" name="Shape 15"/>
          <p:cNvSpPr/>
          <p:nvPr/>
        </p:nvSpPr>
        <p:spPr>
          <a:xfrm>
            <a:off x="6583680" y="3886200"/>
            <a:ext cx="5120640" cy="1161288"/>
          </a:xfrm>
          <a:prstGeom prst="roundRect">
            <a:avLst>
              <a:gd name="adj" fmla="val 9449"/>
            </a:avLst>
          </a:prstGeom>
          <a:solidFill>
            <a:srgbClr val="1A1D24"/>
          </a:solidFill>
          <a:ln w="9525">
            <a:solidFill>
              <a:srgbClr val="2D3138"/>
            </a:solidFill>
            <a:prstDash val="solid"/>
          </a:ln>
        </p:spPr>
      </p:sp>
      <p:sp>
        <p:nvSpPr>
          <p:cNvPr id="18" name="Shape 16"/>
          <p:cNvSpPr/>
          <p:nvPr/>
        </p:nvSpPr>
        <p:spPr>
          <a:xfrm>
            <a:off x="6784848" y="4050792"/>
            <a:ext cx="384048" cy="384048"/>
          </a:xfrm>
          <a:prstGeom prst="ellipse">
            <a:avLst/>
          </a:prstGeom>
          <a:solidFill>
            <a:srgbClr val="E8A33D"/>
          </a:solidFill>
          <a:ln w="15875">
            <a:solidFill>
              <a:srgbClr val="F5C161"/>
            </a:solidFill>
            <a:prstDash val="solid"/>
          </a:ln>
        </p:spPr>
      </p:sp>
      <p:sp>
        <p:nvSpPr>
          <p:cNvPr id="19" name="Text 17"/>
          <p:cNvSpPr/>
          <p:nvPr/>
        </p:nvSpPr>
        <p:spPr>
          <a:xfrm>
            <a:off x="6784848" y="405079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03</a:t>
            </a:r>
            <a:endParaRPr lang="en-US" sz="1300" dirty="0"/>
          </a:p>
        </p:txBody>
      </p:sp>
      <p:sp>
        <p:nvSpPr>
          <p:cNvPr id="20" name="Text 18"/>
          <p:cNvSpPr/>
          <p:nvPr/>
        </p:nvSpPr>
        <p:spPr>
          <a:xfrm>
            <a:off x="7260336" y="4014216"/>
            <a:ext cx="434340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Score clamping</a:t>
            </a:r>
            <a:endParaRPr lang="en-US" sz="1600" dirty="0"/>
          </a:p>
        </p:txBody>
      </p:sp>
      <p:sp>
        <p:nvSpPr>
          <p:cNvPr id="21" name="Text 19"/>
          <p:cNvSpPr/>
          <p:nvPr/>
        </p:nvSpPr>
        <p:spPr>
          <a:xfrm>
            <a:off x="6839712" y="4507992"/>
            <a:ext cx="4663440" cy="448056"/>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Bounded to [0, maxPoints] — guards against out-of-range hallucinations.</a:t>
            </a:r>
            <a:endParaRPr lang="en-US" sz="1300" dirty="0"/>
          </a:p>
        </p:txBody>
      </p:sp>
      <p:sp>
        <p:nvSpPr>
          <p:cNvPr id="22" name="Shape 20"/>
          <p:cNvSpPr/>
          <p:nvPr/>
        </p:nvSpPr>
        <p:spPr>
          <a:xfrm>
            <a:off x="6583680" y="5166360"/>
            <a:ext cx="5120640" cy="1161288"/>
          </a:xfrm>
          <a:prstGeom prst="roundRect">
            <a:avLst>
              <a:gd name="adj" fmla="val 9449"/>
            </a:avLst>
          </a:prstGeom>
          <a:solidFill>
            <a:srgbClr val="1A1D24"/>
          </a:solidFill>
          <a:ln w="9525">
            <a:solidFill>
              <a:srgbClr val="2D3138"/>
            </a:solidFill>
            <a:prstDash val="solid"/>
          </a:ln>
        </p:spPr>
      </p:sp>
      <p:sp>
        <p:nvSpPr>
          <p:cNvPr id="23" name="Shape 21"/>
          <p:cNvSpPr/>
          <p:nvPr/>
        </p:nvSpPr>
        <p:spPr>
          <a:xfrm>
            <a:off x="6784848" y="5330952"/>
            <a:ext cx="384048" cy="384048"/>
          </a:xfrm>
          <a:prstGeom prst="ellipse">
            <a:avLst/>
          </a:prstGeom>
          <a:solidFill>
            <a:srgbClr val="E8A33D"/>
          </a:solidFill>
          <a:ln w="15875">
            <a:solidFill>
              <a:srgbClr val="F5C161"/>
            </a:solidFill>
            <a:prstDash val="solid"/>
          </a:ln>
        </p:spPr>
      </p:sp>
      <p:sp>
        <p:nvSpPr>
          <p:cNvPr id="24" name="Text 22"/>
          <p:cNvSpPr/>
          <p:nvPr/>
        </p:nvSpPr>
        <p:spPr>
          <a:xfrm>
            <a:off x="6784848" y="533095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04</a:t>
            </a:r>
            <a:endParaRPr lang="en-US" sz="1300" dirty="0"/>
          </a:p>
        </p:txBody>
      </p:sp>
      <p:sp>
        <p:nvSpPr>
          <p:cNvPr id="25" name="Text 23"/>
          <p:cNvSpPr/>
          <p:nvPr/>
        </p:nvSpPr>
        <p:spPr>
          <a:xfrm>
            <a:off x="7260336" y="5294376"/>
            <a:ext cx="434340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Result</a:t>
            </a:r>
            <a:endParaRPr lang="en-US" sz="1600" dirty="0"/>
          </a:p>
        </p:txBody>
      </p:sp>
      <p:sp>
        <p:nvSpPr>
          <p:cNvPr id="26" name="Text 24"/>
          <p:cNvSpPr/>
          <p:nvPr/>
        </p:nvSpPr>
        <p:spPr>
          <a:xfrm>
            <a:off x="6839712" y="5788152"/>
            <a:ext cx="4663440" cy="448056"/>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100% parse rate on Claude Opus and Sonnet (see Section 04).</a:t>
            </a:r>
            <a:endParaRPr lang="en-US" sz="1300" dirty="0"/>
          </a:p>
        </p:txBody>
      </p:sp>
      <p:sp>
        <p:nvSpPr>
          <p:cNvPr id="27" name="Shape 25"/>
          <p:cNvSpPr/>
          <p:nvPr/>
        </p:nvSpPr>
        <p:spPr>
          <a:xfrm>
            <a:off x="457200" y="6519672"/>
            <a:ext cx="11277295" cy="0"/>
          </a:xfrm>
          <a:prstGeom prst="line">
            <a:avLst/>
          </a:prstGeom>
          <a:noFill/>
          <a:ln w="9525">
            <a:solidFill>
              <a:srgbClr val="2D3138"/>
            </a:solidFill>
            <a:prstDash val="solid"/>
          </a:ln>
        </p:spPr>
      </p:sp>
      <p:sp>
        <p:nvSpPr>
          <p:cNvPr id="28" name="Text 26"/>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29" name="Text 27"/>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19 / 33</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Human-in-the-Loop Review</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Shape 2"/>
          <p:cNvSpPr/>
          <p:nvPr/>
        </p:nvSpPr>
        <p:spPr>
          <a:xfrm>
            <a:off x="548640" y="1325880"/>
            <a:ext cx="6858000" cy="4937760"/>
          </a:xfrm>
          <a:prstGeom prst="roundRect">
            <a:avLst>
              <a:gd name="adj" fmla="val 1481"/>
            </a:avLst>
          </a:prstGeom>
          <a:solidFill>
            <a:srgbClr val="FFFFFF"/>
          </a:solidFill>
          <a:ln w="6350">
            <a:solidFill>
              <a:srgbClr val="2D3138"/>
            </a:solidFill>
            <a:prstDash val="solid"/>
          </a:ln>
        </p:spPr>
      </p:sp>
      <p:pic>
        <p:nvPicPr>
          <p:cNvPr id="5" name="Image 0" descr="/Users/ethan/School/fyp/docs/fyp-presentation/build/figures/3_10_two_panel_grading.png">    </p:cNvPr>
          <p:cNvPicPr>
            <a:picLocks noChangeAspect="1"/>
          </p:cNvPicPr>
          <p:nvPr/>
        </p:nvPicPr>
        <p:blipFill>
          <a:blip r:embed="rId1"/>
          <a:stretch>
            <a:fillRect/>
          </a:stretch>
        </p:blipFill>
        <p:spPr>
          <a:xfrm>
            <a:off x="713232" y="1912059"/>
            <a:ext cx="6528816" cy="3436219"/>
          </a:xfrm>
          <a:prstGeom prst="rect">
            <a:avLst/>
          </a:prstGeom>
        </p:spPr>
      </p:pic>
      <p:sp>
        <p:nvSpPr>
          <p:cNvPr id="6" name="Text 3"/>
          <p:cNvSpPr/>
          <p:nvPr/>
        </p:nvSpPr>
        <p:spPr>
          <a:xfrm>
            <a:off x="713232" y="5806440"/>
            <a:ext cx="6528816" cy="292608"/>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Figure 3.10 — Two-panel grading interface: AI suggestion (left) · official mark (right)</a:t>
            </a:r>
            <a:endParaRPr lang="en-US" sz="1100" dirty="0"/>
          </a:p>
        </p:txBody>
      </p:sp>
      <p:sp>
        <p:nvSpPr>
          <p:cNvPr id="7" name="Shape 4"/>
          <p:cNvSpPr/>
          <p:nvPr/>
        </p:nvSpPr>
        <p:spPr>
          <a:xfrm>
            <a:off x="7498080" y="1325880"/>
            <a:ext cx="4160520" cy="868680"/>
          </a:xfrm>
          <a:prstGeom prst="roundRect">
            <a:avLst>
              <a:gd name="adj" fmla="val 12632"/>
            </a:avLst>
          </a:prstGeom>
          <a:solidFill>
            <a:srgbClr val="1A1D24"/>
          </a:solidFill>
          <a:ln w="9525">
            <a:solidFill>
              <a:srgbClr val="2D3138"/>
            </a:solidFill>
            <a:prstDash val="solid"/>
          </a:ln>
        </p:spPr>
      </p:sp>
      <p:sp>
        <p:nvSpPr>
          <p:cNvPr id="8" name="Shape 5"/>
          <p:cNvSpPr/>
          <p:nvPr/>
        </p:nvSpPr>
        <p:spPr>
          <a:xfrm>
            <a:off x="7699248" y="1490472"/>
            <a:ext cx="384048" cy="384048"/>
          </a:xfrm>
          <a:prstGeom prst="ellipse">
            <a:avLst/>
          </a:prstGeom>
          <a:solidFill>
            <a:srgbClr val="E8A33D"/>
          </a:solidFill>
          <a:ln w="15875">
            <a:solidFill>
              <a:srgbClr val="F5C161"/>
            </a:solidFill>
            <a:prstDash val="solid"/>
          </a:ln>
        </p:spPr>
      </p:sp>
      <p:sp>
        <p:nvSpPr>
          <p:cNvPr id="9" name="Text 6"/>
          <p:cNvSpPr/>
          <p:nvPr/>
        </p:nvSpPr>
        <p:spPr>
          <a:xfrm>
            <a:off x="7699248" y="149047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01</a:t>
            </a:r>
            <a:endParaRPr lang="en-US" sz="1300" dirty="0"/>
          </a:p>
        </p:txBody>
      </p:sp>
      <p:sp>
        <p:nvSpPr>
          <p:cNvPr id="10" name="Text 7"/>
          <p:cNvSpPr/>
          <p:nvPr/>
        </p:nvSpPr>
        <p:spPr>
          <a:xfrm>
            <a:off x="8174736" y="1453896"/>
            <a:ext cx="338328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Suggestions are staged</a:t>
            </a:r>
            <a:endParaRPr lang="en-US" sz="1600" dirty="0"/>
          </a:p>
        </p:txBody>
      </p:sp>
      <p:sp>
        <p:nvSpPr>
          <p:cNvPr id="11" name="Text 8"/>
          <p:cNvSpPr/>
          <p:nvPr/>
        </p:nvSpPr>
        <p:spPr>
          <a:xfrm>
            <a:off x="7754112" y="1947672"/>
            <a:ext cx="3703320" cy="15544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AI never writes to gradebook directly — separate from marks table.</a:t>
            </a:r>
            <a:endParaRPr lang="en-US" sz="1300" dirty="0"/>
          </a:p>
        </p:txBody>
      </p:sp>
      <p:sp>
        <p:nvSpPr>
          <p:cNvPr id="12" name="Shape 9"/>
          <p:cNvSpPr/>
          <p:nvPr/>
        </p:nvSpPr>
        <p:spPr>
          <a:xfrm>
            <a:off x="7498080" y="2313432"/>
            <a:ext cx="4160520" cy="868680"/>
          </a:xfrm>
          <a:prstGeom prst="roundRect">
            <a:avLst>
              <a:gd name="adj" fmla="val 12632"/>
            </a:avLst>
          </a:prstGeom>
          <a:solidFill>
            <a:srgbClr val="1A1D24"/>
          </a:solidFill>
          <a:ln w="9525">
            <a:solidFill>
              <a:srgbClr val="2D3138"/>
            </a:solidFill>
            <a:prstDash val="solid"/>
          </a:ln>
        </p:spPr>
      </p:sp>
      <p:sp>
        <p:nvSpPr>
          <p:cNvPr id="13" name="Shape 10"/>
          <p:cNvSpPr/>
          <p:nvPr/>
        </p:nvSpPr>
        <p:spPr>
          <a:xfrm>
            <a:off x="7699248" y="2478024"/>
            <a:ext cx="384048" cy="384048"/>
          </a:xfrm>
          <a:prstGeom prst="ellipse">
            <a:avLst/>
          </a:prstGeom>
          <a:solidFill>
            <a:srgbClr val="E8A33D"/>
          </a:solidFill>
          <a:ln w="15875">
            <a:solidFill>
              <a:srgbClr val="F5C161"/>
            </a:solidFill>
            <a:prstDash val="solid"/>
          </a:ln>
        </p:spPr>
      </p:sp>
      <p:sp>
        <p:nvSpPr>
          <p:cNvPr id="14" name="Text 11"/>
          <p:cNvSpPr/>
          <p:nvPr/>
        </p:nvSpPr>
        <p:spPr>
          <a:xfrm>
            <a:off x="7699248" y="2478024"/>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02</a:t>
            </a:r>
            <a:endParaRPr lang="en-US" sz="1300" dirty="0"/>
          </a:p>
        </p:txBody>
      </p:sp>
      <p:sp>
        <p:nvSpPr>
          <p:cNvPr id="15" name="Text 12"/>
          <p:cNvSpPr/>
          <p:nvPr/>
        </p:nvSpPr>
        <p:spPr>
          <a:xfrm>
            <a:off x="8174736" y="2441448"/>
            <a:ext cx="338328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Accept</a:t>
            </a:r>
            <a:endParaRPr lang="en-US" sz="1600" dirty="0"/>
          </a:p>
        </p:txBody>
      </p:sp>
      <p:sp>
        <p:nvSpPr>
          <p:cNvPr id="16" name="Text 13"/>
          <p:cNvSpPr/>
          <p:nvPr/>
        </p:nvSpPr>
        <p:spPr>
          <a:xfrm>
            <a:off x="7754112" y="2935224"/>
            <a:ext cx="3703320" cy="15544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Official mark recorded with source = ai_assisted; original suggestion preserved.</a:t>
            </a:r>
            <a:endParaRPr lang="en-US" sz="1300" dirty="0"/>
          </a:p>
        </p:txBody>
      </p:sp>
      <p:sp>
        <p:nvSpPr>
          <p:cNvPr id="17" name="Shape 14"/>
          <p:cNvSpPr/>
          <p:nvPr/>
        </p:nvSpPr>
        <p:spPr>
          <a:xfrm>
            <a:off x="7498080" y="3300984"/>
            <a:ext cx="4160520" cy="868680"/>
          </a:xfrm>
          <a:prstGeom prst="roundRect">
            <a:avLst>
              <a:gd name="adj" fmla="val 12632"/>
            </a:avLst>
          </a:prstGeom>
          <a:solidFill>
            <a:srgbClr val="1A1D24"/>
          </a:solidFill>
          <a:ln w="9525">
            <a:solidFill>
              <a:srgbClr val="2D3138"/>
            </a:solidFill>
            <a:prstDash val="solid"/>
          </a:ln>
        </p:spPr>
      </p:sp>
      <p:sp>
        <p:nvSpPr>
          <p:cNvPr id="18" name="Shape 15"/>
          <p:cNvSpPr/>
          <p:nvPr/>
        </p:nvSpPr>
        <p:spPr>
          <a:xfrm>
            <a:off x="7699248" y="3465576"/>
            <a:ext cx="384048" cy="384048"/>
          </a:xfrm>
          <a:prstGeom prst="ellipse">
            <a:avLst/>
          </a:prstGeom>
          <a:solidFill>
            <a:srgbClr val="E8A33D"/>
          </a:solidFill>
          <a:ln w="15875">
            <a:solidFill>
              <a:srgbClr val="F5C161"/>
            </a:solidFill>
            <a:prstDash val="solid"/>
          </a:ln>
        </p:spPr>
      </p:sp>
      <p:sp>
        <p:nvSpPr>
          <p:cNvPr id="19" name="Text 16"/>
          <p:cNvSpPr/>
          <p:nvPr/>
        </p:nvSpPr>
        <p:spPr>
          <a:xfrm>
            <a:off x="7699248" y="3465576"/>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03</a:t>
            </a:r>
            <a:endParaRPr lang="en-US" sz="1300" dirty="0"/>
          </a:p>
        </p:txBody>
      </p:sp>
      <p:sp>
        <p:nvSpPr>
          <p:cNvPr id="20" name="Text 17"/>
          <p:cNvSpPr/>
          <p:nvPr/>
        </p:nvSpPr>
        <p:spPr>
          <a:xfrm>
            <a:off x="8174736" y="3429000"/>
            <a:ext cx="338328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Reject</a:t>
            </a:r>
            <a:endParaRPr lang="en-US" sz="1600" dirty="0"/>
          </a:p>
        </p:txBody>
      </p:sp>
      <p:sp>
        <p:nvSpPr>
          <p:cNvPr id="21" name="Text 18"/>
          <p:cNvSpPr/>
          <p:nvPr/>
        </p:nvSpPr>
        <p:spPr>
          <a:xfrm>
            <a:off x="7754112" y="3922776"/>
            <a:ext cx="3703320" cy="15544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Suggestion cleared; staff grades manually.</a:t>
            </a:r>
            <a:endParaRPr lang="en-US" sz="1300" dirty="0"/>
          </a:p>
        </p:txBody>
      </p:sp>
      <p:sp>
        <p:nvSpPr>
          <p:cNvPr id="22" name="Shape 19"/>
          <p:cNvSpPr/>
          <p:nvPr/>
        </p:nvSpPr>
        <p:spPr>
          <a:xfrm>
            <a:off x="7498080" y="4288536"/>
            <a:ext cx="4160520" cy="868680"/>
          </a:xfrm>
          <a:prstGeom prst="roundRect">
            <a:avLst>
              <a:gd name="adj" fmla="val 12632"/>
            </a:avLst>
          </a:prstGeom>
          <a:solidFill>
            <a:srgbClr val="1A1D24"/>
          </a:solidFill>
          <a:ln w="9525">
            <a:solidFill>
              <a:srgbClr val="2D3138"/>
            </a:solidFill>
            <a:prstDash val="solid"/>
          </a:ln>
        </p:spPr>
      </p:sp>
      <p:sp>
        <p:nvSpPr>
          <p:cNvPr id="23" name="Shape 20"/>
          <p:cNvSpPr/>
          <p:nvPr/>
        </p:nvSpPr>
        <p:spPr>
          <a:xfrm>
            <a:off x="7699248" y="4453128"/>
            <a:ext cx="384048" cy="384048"/>
          </a:xfrm>
          <a:prstGeom prst="ellipse">
            <a:avLst/>
          </a:prstGeom>
          <a:solidFill>
            <a:srgbClr val="E8A33D"/>
          </a:solidFill>
          <a:ln w="15875">
            <a:solidFill>
              <a:srgbClr val="F5C161"/>
            </a:solidFill>
            <a:prstDash val="solid"/>
          </a:ln>
        </p:spPr>
      </p:sp>
      <p:sp>
        <p:nvSpPr>
          <p:cNvPr id="24" name="Text 21"/>
          <p:cNvSpPr/>
          <p:nvPr/>
        </p:nvSpPr>
        <p:spPr>
          <a:xfrm>
            <a:off x="7699248" y="4453128"/>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04</a:t>
            </a:r>
            <a:endParaRPr lang="en-US" sz="1300" dirty="0"/>
          </a:p>
        </p:txBody>
      </p:sp>
      <p:sp>
        <p:nvSpPr>
          <p:cNvPr id="25" name="Text 22"/>
          <p:cNvSpPr/>
          <p:nvPr/>
        </p:nvSpPr>
        <p:spPr>
          <a:xfrm>
            <a:off x="8174736" y="4416552"/>
            <a:ext cx="338328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Override</a:t>
            </a:r>
            <a:endParaRPr lang="en-US" sz="1600" dirty="0"/>
          </a:p>
        </p:txBody>
      </p:sp>
      <p:sp>
        <p:nvSpPr>
          <p:cNvPr id="26" name="Text 23"/>
          <p:cNvSpPr/>
          <p:nvPr/>
        </p:nvSpPr>
        <p:spPr>
          <a:xfrm>
            <a:off x="7754112" y="4910328"/>
            <a:ext cx="3703320" cy="15544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Modifying an existing mark requires a written reason.</a:t>
            </a:r>
            <a:endParaRPr lang="en-US" sz="1300" dirty="0"/>
          </a:p>
        </p:txBody>
      </p:sp>
      <p:sp>
        <p:nvSpPr>
          <p:cNvPr id="27" name="Shape 24"/>
          <p:cNvSpPr/>
          <p:nvPr/>
        </p:nvSpPr>
        <p:spPr>
          <a:xfrm>
            <a:off x="7498080" y="5276088"/>
            <a:ext cx="4160520" cy="868680"/>
          </a:xfrm>
          <a:prstGeom prst="roundRect">
            <a:avLst>
              <a:gd name="adj" fmla="val 12632"/>
            </a:avLst>
          </a:prstGeom>
          <a:solidFill>
            <a:srgbClr val="1A1D24"/>
          </a:solidFill>
          <a:ln w="9525">
            <a:solidFill>
              <a:srgbClr val="2D3138"/>
            </a:solidFill>
            <a:prstDash val="solid"/>
          </a:ln>
        </p:spPr>
      </p:sp>
      <p:sp>
        <p:nvSpPr>
          <p:cNvPr id="28" name="Shape 25"/>
          <p:cNvSpPr/>
          <p:nvPr/>
        </p:nvSpPr>
        <p:spPr>
          <a:xfrm>
            <a:off x="7699248" y="5440680"/>
            <a:ext cx="384048" cy="384048"/>
          </a:xfrm>
          <a:prstGeom prst="ellipse">
            <a:avLst/>
          </a:prstGeom>
          <a:solidFill>
            <a:srgbClr val="E8A33D"/>
          </a:solidFill>
          <a:ln w="15875">
            <a:solidFill>
              <a:srgbClr val="F5C161"/>
            </a:solidFill>
            <a:prstDash val="solid"/>
          </a:ln>
        </p:spPr>
      </p:sp>
      <p:sp>
        <p:nvSpPr>
          <p:cNvPr id="29" name="Text 26"/>
          <p:cNvSpPr/>
          <p:nvPr/>
        </p:nvSpPr>
        <p:spPr>
          <a:xfrm>
            <a:off x="7699248" y="5440680"/>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05</a:t>
            </a:r>
            <a:endParaRPr lang="en-US" sz="1300" dirty="0"/>
          </a:p>
        </p:txBody>
      </p:sp>
      <p:sp>
        <p:nvSpPr>
          <p:cNvPr id="30" name="Text 27"/>
          <p:cNvSpPr/>
          <p:nvPr/>
        </p:nvSpPr>
        <p:spPr>
          <a:xfrm>
            <a:off x="8174736" y="5404104"/>
            <a:ext cx="338328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Auditability</a:t>
            </a:r>
            <a:endParaRPr lang="en-US" sz="1600" dirty="0"/>
          </a:p>
        </p:txBody>
      </p:sp>
      <p:sp>
        <p:nvSpPr>
          <p:cNvPr id="31" name="Text 28"/>
          <p:cNvSpPr/>
          <p:nvPr/>
        </p:nvSpPr>
        <p:spPr>
          <a:xfrm>
            <a:off x="7754112" y="5897880"/>
            <a:ext cx="3703320" cy="15544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Every published grade has verifiable human oversight.</a:t>
            </a:r>
            <a:endParaRPr lang="en-US" sz="1300" dirty="0"/>
          </a:p>
        </p:txBody>
      </p:sp>
      <p:sp>
        <p:nvSpPr>
          <p:cNvPr id="32" name="Shape 29"/>
          <p:cNvSpPr/>
          <p:nvPr/>
        </p:nvSpPr>
        <p:spPr>
          <a:xfrm>
            <a:off x="457200" y="6519672"/>
            <a:ext cx="11277295" cy="0"/>
          </a:xfrm>
          <a:prstGeom prst="line">
            <a:avLst/>
          </a:prstGeom>
          <a:noFill/>
          <a:ln w="9525">
            <a:solidFill>
              <a:srgbClr val="2D3138"/>
            </a:solidFill>
            <a:prstDash val="solid"/>
          </a:ln>
        </p:spPr>
      </p:sp>
      <p:sp>
        <p:nvSpPr>
          <p:cNvPr id="33" name="Text 30"/>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34" name="Text 31"/>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20 / 33</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Deployment &amp; CI/CD</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Shape 2"/>
          <p:cNvSpPr/>
          <p:nvPr/>
        </p:nvSpPr>
        <p:spPr>
          <a:xfrm>
            <a:off x="548640" y="1325880"/>
            <a:ext cx="6400800" cy="1554480"/>
          </a:xfrm>
          <a:prstGeom prst="roundRect">
            <a:avLst>
              <a:gd name="adj" fmla="val 4706"/>
            </a:avLst>
          </a:prstGeom>
          <a:solidFill>
            <a:srgbClr val="FFFFFF"/>
          </a:solidFill>
          <a:ln w="6350">
            <a:solidFill>
              <a:srgbClr val="2D3138"/>
            </a:solidFill>
            <a:prstDash val="solid"/>
          </a:ln>
        </p:spPr>
      </p:sp>
      <p:pic>
        <p:nvPicPr>
          <p:cNvPr id="5" name="Image 0" descr="/Users/ethan/School/fyp/docs/fyp-presentation/build/figures/3_12_docker.png">    </p:cNvPr>
          <p:cNvPicPr>
            <a:picLocks noChangeAspect="1"/>
          </p:cNvPicPr>
          <p:nvPr/>
        </p:nvPicPr>
        <p:blipFill>
          <a:blip r:embed="rId1"/>
          <a:stretch>
            <a:fillRect/>
          </a:stretch>
        </p:blipFill>
        <p:spPr>
          <a:xfrm>
            <a:off x="1543260" y="1490472"/>
            <a:ext cx="4411559" cy="896112"/>
          </a:xfrm>
          <a:prstGeom prst="rect">
            <a:avLst/>
          </a:prstGeom>
        </p:spPr>
      </p:pic>
      <p:sp>
        <p:nvSpPr>
          <p:cNvPr id="6" name="Text 3"/>
          <p:cNvSpPr/>
          <p:nvPr/>
        </p:nvSpPr>
        <p:spPr>
          <a:xfrm>
            <a:off x="713232" y="2423160"/>
            <a:ext cx="6071616" cy="292608"/>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Figure 3.12 — Docker multi-stage build (single image, two roles)</a:t>
            </a:r>
            <a:endParaRPr lang="en-US" sz="1100" dirty="0"/>
          </a:p>
        </p:txBody>
      </p:sp>
      <p:sp>
        <p:nvSpPr>
          <p:cNvPr id="7" name="Shape 4"/>
          <p:cNvSpPr/>
          <p:nvPr/>
        </p:nvSpPr>
        <p:spPr>
          <a:xfrm>
            <a:off x="548640" y="3017520"/>
            <a:ext cx="6400800" cy="3246120"/>
          </a:xfrm>
          <a:prstGeom prst="roundRect">
            <a:avLst>
              <a:gd name="adj" fmla="val 2254"/>
            </a:avLst>
          </a:prstGeom>
          <a:solidFill>
            <a:srgbClr val="FFFFFF"/>
          </a:solidFill>
          <a:ln w="6350">
            <a:solidFill>
              <a:srgbClr val="2D3138"/>
            </a:solidFill>
            <a:prstDash val="solid"/>
          </a:ln>
        </p:spPr>
      </p:sp>
      <p:pic>
        <p:nvPicPr>
          <p:cNvPr id="8" name="Image 1" descr="/Users/ethan/School/fyp/docs/fyp-presentation/build/figures/3_13_k8s.png">    </p:cNvPr>
          <p:cNvPicPr>
            <a:picLocks noChangeAspect="1"/>
          </p:cNvPicPr>
          <p:nvPr/>
        </p:nvPicPr>
        <p:blipFill>
          <a:blip r:embed="rId2"/>
          <a:stretch>
            <a:fillRect/>
          </a:stretch>
        </p:blipFill>
        <p:spPr>
          <a:xfrm>
            <a:off x="1579210" y="3182112"/>
            <a:ext cx="4339660" cy="2587752"/>
          </a:xfrm>
          <a:prstGeom prst="rect">
            <a:avLst/>
          </a:prstGeom>
        </p:spPr>
      </p:pic>
      <p:sp>
        <p:nvSpPr>
          <p:cNvPr id="9" name="Text 5"/>
          <p:cNvSpPr/>
          <p:nvPr/>
        </p:nvSpPr>
        <p:spPr>
          <a:xfrm>
            <a:off x="713232" y="5806440"/>
            <a:ext cx="6071616" cy="292608"/>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Figure 3.13 — Kubernetes topology: HPA-scaled web tier, single-replica worker</a:t>
            </a:r>
            <a:endParaRPr lang="en-US" sz="1100" dirty="0"/>
          </a:p>
        </p:txBody>
      </p:sp>
      <p:sp>
        <p:nvSpPr>
          <p:cNvPr id="10" name="Shape 6"/>
          <p:cNvSpPr/>
          <p:nvPr/>
        </p:nvSpPr>
        <p:spPr>
          <a:xfrm>
            <a:off x="7040880" y="1325880"/>
            <a:ext cx="4617720" cy="914400"/>
          </a:xfrm>
          <a:prstGeom prst="roundRect">
            <a:avLst>
              <a:gd name="adj" fmla="val 12000"/>
            </a:avLst>
          </a:prstGeom>
          <a:solidFill>
            <a:srgbClr val="1A1D24"/>
          </a:solidFill>
          <a:ln w="9525">
            <a:solidFill>
              <a:srgbClr val="2D3138"/>
            </a:solidFill>
            <a:prstDash val="solid"/>
          </a:ln>
        </p:spPr>
      </p:sp>
      <p:sp>
        <p:nvSpPr>
          <p:cNvPr id="11" name="Shape 7"/>
          <p:cNvSpPr/>
          <p:nvPr/>
        </p:nvSpPr>
        <p:spPr>
          <a:xfrm>
            <a:off x="7242048" y="1490472"/>
            <a:ext cx="384048" cy="384048"/>
          </a:xfrm>
          <a:prstGeom prst="ellipse">
            <a:avLst/>
          </a:prstGeom>
          <a:solidFill>
            <a:srgbClr val="E8A33D"/>
          </a:solidFill>
          <a:ln w="15875">
            <a:solidFill>
              <a:srgbClr val="F5C161"/>
            </a:solidFill>
            <a:prstDash val="solid"/>
          </a:ln>
        </p:spPr>
      </p:sp>
      <p:sp>
        <p:nvSpPr>
          <p:cNvPr id="12" name="Text 8"/>
          <p:cNvSpPr/>
          <p:nvPr/>
        </p:nvSpPr>
        <p:spPr>
          <a:xfrm>
            <a:off x="7242048" y="149047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01</a:t>
            </a:r>
            <a:endParaRPr lang="en-US" sz="1300" dirty="0"/>
          </a:p>
        </p:txBody>
      </p:sp>
      <p:sp>
        <p:nvSpPr>
          <p:cNvPr id="13" name="Text 9"/>
          <p:cNvSpPr/>
          <p:nvPr/>
        </p:nvSpPr>
        <p:spPr>
          <a:xfrm>
            <a:off x="7717536" y="1453896"/>
            <a:ext cx="384048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One image, two roles</a:t>
            </a:r>
            <a:endParaRPr lang="en-US" sz="1600" dirty="0"/>
          </a:p>
        </p:txBody>
      </p:sp>
      <p:sp>
        <p:nvSpPr>
          <p:cNvPr id="14" name="Text 10"/>
          <p:cNvSpPr/>
          <p:nvPr/>
        </p:nvSpPr>
        <p:spPr>
          <a:xfrm>
            <a:off x="7296912" y="1947672"/>
            <a:ext cx="4160520" cy="20116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CMD override switches between web server and Graphile worker.</a:t>
            </a:r>
            <a:endParaRPr lang="en-US" sz="1300" dirty="0"/>
          </a:p>
        </p:txBody>
      </p:sp>
      <p:sp>
        <p:nvSpPr>
          <p:cNvPr id="15" name="Shape 11"/>
          <p:cNvSpPr/>
          <p:nvPr/>
        </p:nvSpPr>
        <p:spPr>
          <a:xfrm>
            <a:off x="7040880" y="2331720"/>
            <a:ext cx="4617720" cy="914400"/>
          </a:xfrm>
          <a:prstGeom prst="roundRect">
            <a:avLst>
              <a:gd name="adj" fmla="val 12000"/>
            </a:avLst>
          </a:prstGeom>
          <a:solidFill>
            <a:srgbClr val="1A1D24"/>
          </a:solidFill>
          <a:ln w="9525">
            <a:solidFill>
              <a:srgbClr val="2D3138"/>
            </a:solidFill>
            <a:prstDash val="solid"/>
          </a:ln>
        </p:spPr>
      </p:sp>
      <p:sp>
        <p:nvSpPr>
          <p:cNvPr id="16" name="Shape 12"/>
          <p:cNvSpPr/>
          <p:nvPr/>
        </p:nvSpPr>
        <p:spPr>
          <a:xfrm>
            <a:off x="7242048" y="2496312"/>
            <a:ext cx="384048" cy="384048"/>
          </a:xfrm>
          <a:prstGeom prst="ellipse">
            <a:avLst/>
          </a:prstGeom>
          <a:solidFill>
            <a:srgbClr val="E8A33D"/>
          </a:solidFill>
          <a:ln w="15875">
            <a:solidFill>
              <a:srgbClr val="F5C161"/>
            </a:solidFill>
            <a:prstDash val="solid"/>
          </a:ln>
        </p:spPr>
      </p:sp>
      <p:sp>
        <p:nvSpPr>
          <p:cNvPr id="17" name="Text 13"/>
          <p:cNvSpPr/>
          <p:nvPr/>
        </p:nvSpPr>
        <p:spPr>
          <a:xfrm>
            <a:off x="7242048" y="249631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02</a:t>
            </a:r>
            <a:endParaRPr lang="en-US" sz="1300" dirty="0"/>
          </a:p>
        </p:txBody>
      </p:sp>
      <p:sp>
        <p:nvSpPr>
          <p:cNvPr id="18" name="Text 14"/>
          <p:cNvSpPr/>
          <p:nvPr/>
        </p:nvSpPr>
        <p:spPr>
          <a:xfrm>
            <a:off x="7717536" y="2459736"/>
            <a:ext cx="384048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Web tier auto-scales</a:t>
            </a:r>
            <a:endParaRPr lang="en-US" sz="1600" dirty="0"/>
          </a:p>
        </p:txBody>
      </p:sp>
      <p:sp>
        <p:nvSpPr>
          <p:cNvPr id="19" name="Text 15"/>
          <p:cNvSpPr/>
          <p:nvPr/>
        </p:nvSpPr>
        <p:spPr>
          <a:xfrm>
            <a:off x="7296912" y="2953512"/>
            <a:ext cx="4160520" cy="20116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HPA on CPU; scales out for exam-period burst load.</a:t>
            </a:r>
            <a:endParaRPr lang="en-US" sz="1300" dirty="0"/>
          </a:p>
        </p:txBody>
      </p:sp>
      <p:sp>
        <p:nvSpPr>
          <p:cNvPr id="20" name="Shape 16"/>
          <p:cNvSpPr/>
          <p:nvPr/>
        </p:nvSpPr>
        <p:spPr>
          <a:xfrm>
            <a:off x="7040880" y="3337560"/>
            <a:ext cx="4617720" cy="914400"/>
          </a:xfrm>
          <a:prstGeom prst="roundRect">
            <a:avLst>
              <a:gd name="adj" fmla="val 12000"/>
            </a:avLst>
          </a:prstGeom>
          <a:solidFill>
            <a:srgbClr val="1A1D24"/>
          </a:solidFill>
          <a:ln w="9525">
            <a:solidFill>
              <a:srgbClr val="2D3138"/>
            </a:solidFill>
            <a:prstDash val="solid"/>
          </a:ln>
        </p:spPr>
      </p:sp>
      <p:sp>
        <p:nvSpPr>
          <p:cNvPr id="21" name="Shape 17"/>
          <p:cNvSpPr/>
          <p:nvPr/>
        </p:nvSpPr>
        <p:spPr>
          <a:xfrm>
            <a:off x="7242048" y="3502152"/>
            <a:ext cx="384048" cy="384048"/>
          </a:xfrm>
          <a:prstGeom prst="ellipse">
            <a:avLst/>
          </a:prstGeom>
          <a:solidFill>
            <a:srgbClr val="E8A33D"/>
          </a:solidFill>
          <a:ln w="15875">
            <a:solidFill>
              <a:srgbClr val="F5C161"/>
            </a:solidFill>
            <a:prstDash val="solid"/>
          </a:ln>
        </p:spPr>
      </p:sp>
      <p:sp>
        <p:nvSpPr>
          <p:cNvPr id="22" name="Text 18"/>
          <p:cNvSpPr/>
          <p:nvPr/>
        </p:nvSpPr>
        <p:spPr>
          <a:xfrm>
            <a:off x="7242048" y="350215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03</a:t>
            </a:r>
            <a:endParaRPr lang="en-US" sz="1300" dirty="0"/>
          </a:p>
        </p:txBody>
      </p:sp>
      <p:sp>
        <p:nvSpPr>
          <p:cNvPr id="23" name="Text 19"/>
          <p:cNvSpPr/>
          <p:nvPr/>
        </p:nvSpPr>
        <p:spPr>
          <a:xfrm>
            <a:off x="7717536" y="3465576"/>
            <a:ext cx="384048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Single-replica worker</a:t>
            </a:r>
            <a:endParaRPr lang="en-US" sz="1600" dirty="0"/>
          </a:p>
        </p:txBody>
      </p:sp>
      <p:sp>
        <p:nvSpPr>
          <p:cNvPr id="24" name="Text 20"/>
          <p:cNvSpPr/>
          <p:nvPr/>
        </p:nvSpPr>
        <p:spPr>
          <a:xfrm>
            <a:off x="7296912" y="3959352"/>
            <a:ext cx="4160520" cy="20116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Avoids LLM rate-limit contention from parallel calls.</a:t>
            </a:r>
            <a:endParaRPr lang="en-US" sz="1300" dirty="0"/>
          </a:p>
        </p:txBody>
      </p:sp>
      <p:sp>
        <p:nvSpPr>
          <p:cNvPr id="25" name="Shape 21"/>
          <p:cNvSpPr/>
          <p:nvPr/>
        </p:nvSpPr>
        <p:spPr>
          <a:xfrm>
            <a:off x="7040880" y="4343400"/>
            <a:ext cx="4617720" cy="914400"/>
          </a:xfrm>
          <a:prstGeom prst="roundRect">
            <a:avLst>
              <a:gd name="adj" fmla="val 12000"/>
            </a:avLst>
          </a:prstGeom>
          <a:solidFill>
            <a:srgbClr val="1A1D24"/>
          </a:solidFill>
          <a:ln w="9525">
            <a:solidFill>
              <a:srgbClr val="2D3138"/>
            </a:solidFill>
            <a:prstDash val="solid"/>
          </a:ln>
        </p:spPr>
      </p:sp>
      <p:sp>
        <p:nvSpPr>
          <p:cNvPr id="26" name="Shape 22"/>
          <p:cNvSpPr/>
          <p:nvPr/>
        </p:nvSpPr>
        <p:spPr>
          <a:xfrm>
            <a:off x="7242048" y="4507992"/>
            <a:ext cx="384048" cy="384048"/>
          </a:xfrm>
          <a:prstGeom prst="ellipse">
            <a:avLst/>
          </a:prstGeom>
          <a:solidFill>
            <a:srgbClr val="E8A33D"/>
          </a:solidFill>
          <a:ln w="15875">
            <a:solidFill>
              <a:srgbClr val="F5C161"/>
            </a:solidFill>
            <a:prstDash val="solid"/>
          </a:ln>
        </p:spPr>
      </p:sp>
      <p:sp>
        <p:nvSpPr>
          <p:cNvPr id="27" name="Text 23"/>
          <p:cNvSpPr/>
          <p:nvPr/>
        </p:nvSpPr>
        <p:spPr>
          <a:xfrm>
            <a:off x="7242048" y="450799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04</a:t>
            </a:r>
            <a:endParaRPr lang="en-US" sz="1300" dirty="0"/>
          </a:p>
        </p:txBody>
      </p:sp>
      <p:sp>
        <p:nvSpPr>
          <p:cNvPr id="28" name="Text 24"/>
          <p:cNvSpPr/>
          <p:nvPr/>
        </p:nvSpPr>
        <p:spPr>
          <a:xfrm>
            <a:off x="7717536" y="4471416"/>
            <a:ext cx="384048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Pre-deploy migration</a:t>
            </a:r>
            <a:endParaRPr lang="en-US" sz="1600" dirty="0"/>
          </a:p>
        </p:txBody>
      </p:sp>
      <p:sp>
        <p:nvSpPr>
          <p:cNvPr id="29" name="Text 25"/>
          <p:cNvSpPr/>
          <p:nvPr/>
        </p:nvSpPr>
        <p:spPr>
          <a:xfrm>
            <a:off x="7296912" y="4965192"/>
            <a:ext cx="4160520" cy="20116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Schema is current before any pod serves traffic.</a:t>
            </a:r>
            <a:endParaRPr lang="en-US" sz="1300" dirty="0"/>
          </a:p>
        </p:txBody>
      </p:sp>
      <p:sp>
        <p:nvSpPr>
          <p:cNvPr id="30" name="Shape 26"/>
          <p:cNvSpPr/>
          <p:nvPr/>
        </p:nvSpPr>
        <p:spPr>
          <a:xfrm>
            <a:off x="7040880" y="5349240"/>
            <a:ext cx="4617720" cy="914400"/>
          </a:xfrm>
          <a:prstGeom prst="roundRect">
            <a:avLst>
              <a:gd name="adj" fmla="val 12000"/>
            </a:avLst>
          </a:prstGeom>
          <a:solidFill>
            <a:srgbClr val="1A1D24"/>
          </a:solidFill>
          <a:ln w="9525">
            <a:solidFill>
              <a:srgbClr val="2D3138"/>
            </a:solidFill>
            <a:prstDash val="solid"/>
          </a:ln>
        </p:spPr>
      </p:sp>
      <p:sp>
        <p:nvSpPr>
          <p:cNvPr id="31" name="Shape 27"/>
          <p:cNvSpPr/>
          <p:nvPr/>
        </p:nvSpPr>
        <p:spPr>
          <a:xfrm>
            <a:off x="7242048" y="5513832"/>
            <a:ext cx="384048" cy="384048"/>
          </a:xfrm>
          <a:prstGeom prst="ellipse">
            <a:avLst/>
          </a:prstGeom>
          <a:solidFill>
            <a:srgbClr val="E8A33D"/>
          </a:solidFill>
          <a:ln w="15875">
            <a:solidFill>
              <a:srgbClr val="F5C161"/>
            </a:solidFill>
            <a:prstDash val="solid"/>
          </a:ln>
        </p:spPr>
      </p:sp>
      <p:sp>
        <p:nvSpPr>
          <p:cNvPr id="32" name="Text 28"/>
          <p:cNvSpPr/>
          <p:nvPr/>
        </p:nvSpPr>
        <p:spPr>
          <a:xfrm>
            <a:off x="7242048" y="551383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05</a:t>
            </a:r>
            <a:endParaRPr lang="en-US" sz="1300" dirty="0"/>
          </a:p>
        </p:txBody>
      </p:sp>
      <p:sp>
        <p:nvSpPr>
          <p:cNvPr id="33" name="Text 29"/>
          <p:cNvSpPr/>
          <p:nvPr/>
        </p:nvSpPr>
        <p:spPr>
          <a:xfrm>
            <a:off x="7717536" y="5477256"/>
            <a:ext cx="384048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Layered dependencies</a:t>
            </a:r>
            <a:endParaRPr lang="en-US" sz="1600" dirty="0"/>
          </a:p>
        </p:txBody>
      </p:sp>
      <p:sp>
        <p:nvSpPr>
          <p:cNvPr id="34" name="Text 30"/>
          <p:cNvSpPr/>
          <p:nvPr/>
        </p:nvSpPr>
        <p:spPr>
          <a:xfrm>
            <a:off x="7296912" y="5971032"/>
            <a:ext cx="4160520" cy="20116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Bare-bones on-prem deploy needs only PostgreSQL + the image.</a:t>
            </a:r>
            <a:endParaRPr lang="en-US" sz="1300" dirty="0"/>
          </a:p>
        </p:txBody>
      </p:sp>
      <p:sp>
        <p:nvSpPr>
          <p:cNvPr id="35" name="Shape 31"/>
          <p:cNvSpPr/>
          <p:nvPr/>
        </p:nvSpPr>
        <p:spPr>
          <a:xfrm>
            <a:off x="457200" y="6519672"/>
            <a:ext cx="11277295" cy="0"/>
          </a:xfrm>
          <a:prstGeom prst="line">
            <a:avLst/>
          </a:prstGeom>
          <a:noFill/>
          <a:ln w="9525">
            <a:solidFill>
              <a:srgbClr val="2D3138"/>
            </a:solidFill>
            <a:prstDash val="solid"/>
          </a:ln>
        </p:spPr>
      </p:sp>
      <p:sp>
        <p:nvSpPr>
          <p:cNvPr id="36" name="Text 32"/>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37" name="Text 33"/>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21 / 33</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D11"/>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w="12700">
            <a:solidFill>
              <a:srgbClr val="E8A33D"/>
            </a:solidFill>
            <a:prstDash val="solid"/>
          </a:ln>
        </p:spPr>
      </p:sp>
      <p:sp>
        <p:nvSpPr>
          <p:cNvPr id="3" name="Text 1"/>
          <p:cNvSpPr/>
          <p:nvPr/>
        </p:nvSpPr>
        <p:spPr>
          <a:xfrm>
            <a:off x="731520" y="1371600"/>
            <a:ext cx="5486400" cy="3200400"/>
          </a:xfrm>
          <a:prstGeom prst="rect">
            <a:avLst/>
          </a:prstGeom>
          <a:noFill/>
          <a:ln/>
        </p:spPr>
        <p:txBody>
          <a:bodyPr wrap="square" lIns="0" tIns="0" rIns="0" bIns="0" rtlCol="0" anchor="ctr"/>
          <a:lstStyle/>
          <a:p>
            <a:pPr algn="l" indent="0" marL="0">
              <a:buNone/>
            </a:pPr>
            <a:r>
              <a:rPr lang="en-US" sz="22000" b="1" spc="-800" kern="0" dirty="0">
                <a:solidFill>
                  <a:srgbClr val="E8A33D"/>
                </a:solidFill>
                <a:latin typeface="Calibri" pitchFamily="34" charset="0"/>
                <a:ea typeface="Calibri" pitchFamily="34" charset="-122"/>
                <a:cs typeface="Calibri" pitchFamily="34" charset="-120"/>
              </a:rPr>
              <a:t>04</a:t>
            </a:r>
            <a:endParaRPr lang="en-US" sz="22000" dirty="0"/>
          </a:p>
        </p:txBody>
      </p:sp>
      <p:sp>
        <p:nvSpPr>
          <p:cNvPr id="4" name="Text 2"/>
          <p:cNvSpPr/>
          <p:nvPr/>
        </p:nvSpPr>
        <p:spPr>
          <a:xfrm>
            <a:off x="777240" y="4297680"/>
            <a:ext cx="2743200" cy="365760"/>
          </a:xfrm>
          <a:prstGeom prst="rect">
            <a:avLst/>
          </a:prstGeom>
          <a:noFill/>
          <a:ln/>
        </p:spPr>
        <p:txBody>
          <a:bodyPr wrap="square" lIns="0" tIns="0" rIns="0" bIns="0" rtlCol="0" anchor="ctr"/>
          <a:lstStyle/>
          <a:p>
            <a:pPr algn="l" indent="0" marL="0">
              <a:buNone/>
            </a:pPr>
            <a:r>
              <a:rPr lang="en-US" sz="1400" b="1" spc="800" kern="0" dirty="0">
                <a:solidFill>
                  <a:srgbClr val="6B7280"/>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777240" y="4617720"/>
            <a:ext cx="10972800" cy="822960"/>
          </a:xfrm>
          <a:prstGeom prst="rect">
            <a:avLst/>
          </a:prstGeom>
          <a:noFill/>
          <a:ln/>
        </p:spPr>
        <p:txBody>
          <a:bodyPr wrap="square" lIns="0" tIns="0" rIns="0" bIns="0" rtlCol="0" anchor="ctr"/>
          <a:lstStyle/>
          <a:p>
            <a:pPr algn="l" indent="0" marL="0">
              <a:buNone/>
            </a:pPr>
            <a:r>
              <a:rPr lang="en-US" sz="4400" b="1" dirty="0">
                <a:solidFill>
                  <a:srgbClr val="F4F4F5"/>
                </a:solidFill>
                <a:latin typeface="Calibri" pitchFamily="34" charset="0"/>
                <a:ea typeface="Calibri" pitchFamily="34" charset="-122"/>
                <a:cs typeface="Calibri" pitchFamily="34" charset="-120"/>
              </a:rPr>
              <a:t>Experiment &amp; Evaluation</a:t>
            </a:r>
            <a:endParaRPr lang="en-US" sz="4400" dirty="0"/>
          </a:p>
        </p:txBody>
      </p:sp>
      <p:pic>
        <p:nvPicPr>
          <p:cNvPr id="6" name="Image 0" descr="preencoded.png">    </p:cNvPr>
          <p:cNvPicPr>
            <a:picLocks noChangeAspect="1"/>
          </p:cNvPicPr>
          <p:nvPr/>
        </p:nvPicPr>
        <p:blipFill>
          <a:blip r:embed="rId1">
            <a:alphaModFix amt="70000"/>
          </a:blip>
          <a:stretch>
            <a:fillRect/>
          </a:stretch>
        </p:blipFill>
        <p:spPr>
          <a:xfrm>
            <a:off x="9082735" y="914400"/>
            <a:ext cx="2377440" cy="2377440"/>
          </a:xfrm>
          <a:prstGeom prst="rect">
            <a:avLst/>
          </a:prstGeom>
        </p:spPr>
      </p:pic>
      <p:sp>
        <p:nvSpPr>
          <p:cNvPr id="7" name="Shape 4"/>
          <p:cNvSpPr/>
          <p:nvPr/>
        </p:nvSpPr>
        <p:spPr>
          <a:xfrm>
            <a:off x="777240" y="5852160"/>
            <a:ext cx="5943600" cy="0"/>
          </a:xfrm>
          <a:prstGeom prst="line">
            <a:avLst/>
          </a:prstGeom>
          <a:noFill/>
          <a:ln w="19050">
            <a:solidFill>
              <a:srgbClr val="E8A33D"/>
            </a:solidFill>
            <a:prstDash val="solid"/>
          </a:ln>
        </p:spPr>
      </p:sp>
      <p:sp>
        <p:nvSpPr>
          <p:cNvPr id="8" name="Text 5"/>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9" name="Text 6"/>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22 / 33</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Research Questions</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Shape 2"/>
          <p:cNvSpPr/>
          <p:nvPr/>
        </p:nvSpPr>
        <p:spPr>
          <a:xfrm>
            <a:off x="540868" y="1417320"/>
            <a:ext cx="5440680" cy="2286000"/>
          </a:xfrm>
          <a:prstGeom prst="roundRect">
            <a:avLst>
              <a:gd name="adj" fmla="val 6400"/>
            </a:avLst>
          </a:prstGeom>
          <a:solidFill>
            <a:srgbClr val="1A1D24"/>
          </a:solidFill>
          <a:ln w="9525">
            <a:solidFill>
              <a:srgbClr val="2D3138"/>
            </a:solidFill>
            <a:prstDash val="solid"/>
          </a:ln>
        </p:spPr>
      </p:sp>
      <p:sp>
        <p:nvSpPr>
          <p:cNvPr id="5" name="Text 3"/>
          <p:cNvSpPr/>
          <p:nvPr/>
        </p:nvSpPr>
        <p:spPr>
          <a:xfrm>
            <a:off x="906628" y="1737360"/>
            <a:ext cx="2286000" cy="777240"/>
          </a:xfrm>
          <a:prstGeom prst="rect">
            <a:avLst/>
          </a:prstGeom>
          <a:noFill/>
          <a:ln/>
        </p:spPr>
        <p:txBody>
          <a:bodyPr wrap="square" lIns="0" tIns="0" rIns="0" bIns="0" rtlCol="0" anchor="ctr"/>
          <a:lstStyle/>
          <a:p>
            <a:pPr algn="l" indent="0" marL="0">
              <a:buNone/>
            </a:pPr>
            <a:r>
              <a:rPr lang="en-US" sz="3600" b="1" dirty="0">
                <a:solidFill>
                  <a:srgbClr val="E8A33D"/>
                </a:solidFill>
                <a:latin typeface="Calibri" pitchFamily="34" charset="0"/>
                <a:ea typeface="Calibri" pitchFamily="34" charset="-122"/>
                <a:cs typeface="Calibri" pitchFamily="34" charset="-120"/>
              </a:rPr>
              <a:t>RQ1</a:t>
            </a:r>
            <a:endParaRPr lang="en-US" sz="3600" dirty="0"/>
          </a:p>
        </p:txBody>
      </p:sp>
      <p:sp>
        <p:nvSpPr>
          <p:cNvPr id="6" name="Text 4"/>
          <p:cNvSpPr/>
          <p:nvPr/>
        </p:nvSpPr>
        <p:spPr>
          <a:xfrm>
            <a:off x="906628" y="2468880"/>
            <a:ext cx="4892040" cy="36576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Accuracy</a:t>
            </a:r>
            <a:endParaRPr lang="en-US" sz="1600" dirty="0"/>
          </a:p>
        </p:txBody>
      </p:sp>
      <p:sp>
        <p:nvSpPr>
          <p:cNvPr id="7" name="Text 5"/>
          <p:cNvSpPr/>
          <p:nvPr/>
        </p:nvSpPr>
        <p:spPr>
          <a:xfrm>
            <a:off x="906628" y="2880360"/>
            <a:ext cx="4892040" cy="731520"/>
          </a:xfrm>
          <a:prstGeom prst="rect">
            <a:avLst/>
          </a:prstGeom>
          <a:noFill/>
          <a:ln/>
        </p:spPr>
        <p:txBody>
          <a:bodyPr wrap="square" lIns="0" tIns="0" rIns="0" bIns="0" rtlCol="0" anchor="t"/>
          <a:lstStyle/>
          <a:p>
            <a:pPr algn="l" indent="0" marL="0">
              <a:buNone/>
            </a:pPr>
            <a:r>
              <a:rPr lang="en-US" sz="1250" dirty="0">
                <a:solidFill>
                  <a:srgbClr val="F4F4F5"/>
                </a:solidFill>
                <a:latin typeface="Calibri" pitchFamily="34" charset="0"/>
                <a:ea typeface="Calibri" pitchFamily="34" charset="-122"/>
                <a:cs typeface="Calibri" pitchFamily="34" charset="-120"/>
              </a:rPr>
              <a:t>Which LLM achieves the highest grading accuracy compared to human experts?</a:t>
            </a:r>
            <a:endParaRPr lang="en-US" sz="1250" dirty="0"/>
          </a:p>
        </p:txBody>
      </p:sp>
      <p:sp>
        <p:nvSpPr>
          <p:cNvPr id="8" name="Shape 6"/>
          <p:cNvSpPr/>
          <p:nvPr/>
        </p:nvSpPr>
        <p:spPr>
          <a:xfrm>
            <a:off x="6210148" y="1417320"/>
            <a:ext cx="5440680" cy="2286000"/>
          </a:xfrm>
          <a:prstGeom prst="roundRect">
            <a:avLst>
              <a:gd name="adj" fmla="val 6400"/>
            </a:avLst>
          </a:prstGeom>
          <a:solidFill>
            <a:srgbClr val="1A1D24"/>
          </a:solidFill>
          <a:ln w="9525">
            <a:solidFill>
              <a:srgbClr val="2D3138"/>
            </a:solidFill>
            <a:prstDash val="solid"/>
          </a:ln>
        </p:spPr>
      </p:sp>
      <p:sp>
        <p:nvSpPr>
          <p:cNvPr id="9" name="Text 7"/>
          <p:cNvSpPr/>
          <p:nvPr/>
        </p:nvSpPr>
        <p:spPr>
          <a:xfrm>
            <a:off x="6575908" y="1737360"/>
            <a:ext cx="2286000" cy="777240"/>
          </a:xfrm>
          <a:prstGeom prst="rect">
            <a:avLst/>
          </a:prstGeom>
          <a:noFill/>
          <a:ln/>
        </p:spPr>
        <p:txBody>
          <a:bodyPr wrap="square" lIns="0" tIns="0" rIns="0" bIns="0" rtlCol="0" anchor="ctr"/>
          <a:lstStyle/>
          <a:p>
            <a:pPr algn="l" indent="0" marL="0">
              <a:buNone/>
            </a:pPr>
            <a:r>
              <a:rPr lang="en-US" sz="3600" b="1" dirty="0">
                <a:solidFill>
                  <a:srgbClr val="E8A33D"/>
                </a:solidFill>
                <a:latin typeface="Calibri" pitchFamily="34" charset="0"/>
                <a:ea typeface="Calibri" pitchFamily="34" charset="-122"/>
                <a:cs typeface="Calibri" pitchFamily="34" charset="-120"/>
              </a:rPr>
              <a:t>RQ2</a:t>
            </a:r>
            <a:endParaRPr lang="en-US" sz="3600" dirty="0"/>
          </a:p>
        </p:txBody>
      </p:sp>
      <p:sp>
        <p:nvSpPr>
          <p:cNvPr id="10" name="Text 8"/>
          <p:cNvSpPr/>
          <p:nvPr/>
        </p:nvSpPr>
        <p:spPr>
          <a:xfrm>
            <a:off x="6575908" y="2468880"/>
            <a:ext cx="4892040" cy="36576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Cost-performance</a:t>
            </a:r>
            <a:endParaRPr lang="en-US" sz="1600" dirty="0"/>
          </a:p>
        </p:txBody>
      </p:sp>
      <p:sp>
        <p:nvSpPr>
          <p:cNvPr id="11" name="Text 9"/>
          <p:cNvSpPr/>
          <p:nvPr/>
        </p:nvSpPr>
        <p:spPr>
          <a:xfrm>
            <a:off x="6575908" y="2880360"/>
            <a:ext cx="4892040" cy="731520"/>
          </a:xfrm>
          <a:prstGeom prst="rect">
            <a:avLst/>
          </a:prstGeom>
          <a:noFill/>
          <a:ln/>
        </p:spPr>
        <p:txBody>
          <a:bodyPr wrap="square" lIns="0" tIns="0" rIns="0" bIns="0" rtlCol="0" anchor="t"/>
          <a:lstStyle/>
          <a:p>
            <a:pPr algn="l" indent="0" marL="0">
              <a:buNone/>
            </a:pPr>
            <a:r>
              <a:rPr lang="en-US" sz="1250" dirty="0">
                <a:solidFill>
                  <a:srgbClr val="F4F4F5"/>
                </a:solidFill>
                <a:latin typeface="Calibri" pitchFamily="34" charset="0"/>
                <a:ea typeface="Calibri" pitchFamily="34" charset="-122"/>
                <a:cs typeface="Calibri" pitchFamily="34" charset="-120"/>
              </a:rPr>
              <a:t>What is the cost-performance tradeoff between flagship and baseline models across providers?</a:t>
            </a:r>
            <a:endParaRPr lang="en-US" sz="1250" dirty="0"/>
          </a:p>
        </p:txBody>
      </p:sp>
      <p:sp>
        <p:nvSpPr>
          <p:cNvPr id="12" name="Shape 10"/>
          <p:cNvSpPr/>
          <p:nvPr/>
        </p:nvSpPr>
        <p:spPr>
          <a:xfrm>
            <a:off x="540868" y="3931920"/>
            <a:ext cx="5440680" cy="2286000"/>
          </a:xfrm>
          <a:prstGeom prst="roundRect">
            <a:avLst>
              <a:gd name="adj" fmla="val 6400"/>
            </a:avLst>
          </a:prstGeom>
          <a:solidFill>
            <a:srgbClr val="1A1D24"/>
          </a:solidFill>
          <a:ln w="9525">
            <a:solidFill>
              <a:srgbClr val="2D3138"/>
            </a:solidFill>
            <a:prstDash val="solid"/>
          </a:ln>
        </p:spPr>
      </p:sp>
      <p:sp>
        <p:nvSpPr>
          <p:cNvPr id="13" name="Text 11"/>
          <p:cNvSpPr/>
          <p:nvPr/>
        </p:nvSpPr>
        <p:spPr>
          <a:xfrm>
            <a:off x="906628" y="4251960"/>
            <a:ext cx="2286000" cy="777240"/>
          </a:xfrm>
          <a:prstGeom prst="rect">
            <a:avLst/>
          </a:prstGeom>
          <a:noFill/>
          <a:ln/>
        </p:spPr>
        <p:txBody>
          <a:bodyPr wrap="square" lIns="0" tIns="0" rIns="0" bIns="0" rtlCol="0" anchor="ctr"/>
          <a:lstStyle/>
          <a:p>
            <a:pPr algn="l" indent="0" marL="0">
              <a:buNone/>
            </a:pPr>
            <a:r>
              <a:rPr lang="en-US" sz="3600" b="1" dirty="0">
                <a:solidFill>
                  <a:srgbClr val="E8A33D"/>
                </a:solidFill>
                <a:latin typeface="Calibri" pitchFamily="34" charset="0"/>
                <a:ea typeface="Calibri" pitchFamily="34" charset="-122"/>
                <a:cs typeface="Calibri" pitchFamily="34" charset="-120"/>
              </a:rPr>
              <a:t>RQ3</a:t>
            </a:r>
            <a:endParaRPr lang="en-US" sz="3600" dirty="0"/>
          </a:p>
        </p:txBody>
      </p:sp>
      <p:sp>
        <p:nvSpPr>
          <p:cNvPr id="14" name="Text 12"/>
          <p:cNvSpPr/>
          <p:nvPr/>
        </p:nvSpPr>
        <p:spPr>
          <a:xfrm>
            <a:off x="906628" y="4983480"/>
            <a:ext cx="4892040" cy="36576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Consistency</a:t>
            </a:r>
            <a:endParaRPr lang="en-US" sz="1600" dirty="0"/>
          </a:p>
        </p:txBody>
      </p:sp>
      <p:sp>
        <p:nvSpPr>
          <p:cNvPr id="15" name="Text 13"/>
          <p:cNvSpPr/>
          <p:nvPr/>
        </p:nvSpPr>
        <p:spPr>
          <a:xfrm>
            <a:off x="906628" y="5394960"/>
            <a:ext cx="4892040" cy="731520"/>
          </a:xfrm>
          <a:prstGeom prst="rect">
            <a:avLst/>
          </a:prstGeom>
          <a:noFill/>
          <a:ln/>
        </p:spPr>
        <p:txBody>
          <a:bodyPr wrap="square" lIns="0" tIns="0" rIns="0" bIns="0" rtlCol="0" anchor="t"/>
          <a:lstStyle/>
          <a:p>
            <a:pPr algn="l" indent="0" marL="0">
              <a:buNone/>
            </a:pPr>
            <a:r>
              <a:rPr lang="en-US" sz="1250" dirty="0">
                <a:solidFill>
                  <a:srgbClr val="F4F4F5"/>
                </a:solidFill>
                <a:latin typeface="Calibri" pitchFamily="34" charset="0"/>
                <a:ea typeface="Calibri" pitchFamily="34" charset="-122"/>
                <a:cs typeface="Calibri" pitchFamily="34" charset="-120"/>
              </a:rPr>
              <a:t>How consistent are LLM grades across multiple runs on the same submission?</a:t>
            </a:r>
            <a:endParaRPr lang="en-US" sz="1250" dirty="0"/>
          </a:p>
        </p:txBody>
      </p:sp>
      <p:sp>
        <p:nvSpPr>
          <p:cNvPr id="16" name="Shape 14"/>
          <p:cNvSpPr/>
          <p:nvPr/>
        </p:nvSpPr>
        <p:spPr>
          <a:xfrm>
            <a:off x="6210148" y="3931920"/>
            <a:ext cx="5440680" cy="2286000"/>
          </a:xfrm>
          <a:prstGeom prst="roundRect">
            <a:avLst>
              <a:gd name="adj" fmla="val 6400"/>
            </a:avLst>
          </a:prstGeom>
          <a:solidFill>
            <a:srgbClr val="1A1D24"/>
          </a:solidFill>
          <a:ln w="9525">
            <a:solidFill>
              <a:srgbClr val="2D3138"/>
            </a:solidFill>
            <a:prstDash val="solid"/>
          </a:ln>
        </p:spPr>
      </p:sp>
      <p:sp>
        <p:nvSpPr>
          <p:cNvPr id="17" name="Text 15"/>
          <p:cNvSpPr/>
          <p:nvPr/>
        </p:nvSpPr>
        <p:spPr>
          <a:xfrm>
            <a:off x="6575908" y="4251960"/>
            <a:ext cx="2286000" cy="777240"/>
          </a:xfrm>
          <a:prstGeom prst="rect">
            <a:avLst/>
          </a:prstGeom>
          <a:noFill/>
          <a:ln/>
        </p:spPr>
        <p:txBody>
          <a:bodyPr wrap="square" lIns="0" tIns="0" rIns="0" bIns="0" rtlCol="0" anchor="ctr"/>
          <a:lstStyle/>
          <a:p>
            <a:pPr algn="l" indent="0" marL="0">
              <a:buNone/>
            </a:pPr>
            <a:r>
              <a:rPr lang="en-US" sz="3600" b="1" dirty="0">
                <a:solidFill>
                  <a:srgbClr val="E8A33D"/>
                </a:solidFill>
                <a:latin typeface="Calibri" pitchFamily="34" charset="0"/>
                <a:ea typeface="Calibri" pitchFamily="34" charset="-122"/>
                <a:cs typeface="Calibri" pitchFamily="34" charset="-120"/>
              </a:rPr>
              <a:t>RQ4</a:t>
            </a:r>
            <a:endParaRPr lang="en-US" sz="3600" dirty="0"/>
          </a:p>
        </p:txBody>
      </p:sp>
      <p:sp>
        <p:nvSpPr>
          <p:cNvPr id="18" name="Text 16"/>
          <p:cNvSpPr/>
          <p:nvPr/>
        </p:nvSpPr>
        <p:spPr>
          <a:xfrm>
            <a:off x="6575908" y="4983480"/>
            <a:ext cx="4892040" cy="36576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Reliability</a:t>
            </a:r>
            <a:endParaRPr lang="en-US" sz="1600" dirty="0"/>
          </a:p>
        </p:txBody>
      </p:sp>
      <p:sp>
        <p:nvSpPr>
          <p:cNvPr id="19" name="Text 17"/>
          <p:cNvSpPr/>
          <p:nvPr/>
        </p:nvSpPr>
        <p:spPr>
          <a:xfrm>
            <a:off x="6575908" y="5394960"/>
            <a:ext cx="4892040" cy="731520"/>
          </a:xfrm>
          <a:prstGeom prst="rect">
            <a:avLst/>
          </a:prstGeom>
          <a:noFill/>
          <a:ln/>
        </p:spPr>
        <p:txBody>
          <a:bodyPr wrap="square" lIns="0" tIns="0" rIns="0" bIns="0" rtlCol="0" anchor="t"/>
          <a:lstStyle/>
          <a:p>
            <a:pPr algn="l" indent="0" marL="0">
              <a:buNone/>
            </a:pPr>
            <a:r>
              <a:rPr lang="en-US" sz="1250" dirty="0">
                <a:solidFill>
                  <a:srgbClr val="F4F4F5"/>
                </a:solidFill>
                <a:latin typeface="Calibri" pitchFamily="34" charset="0"/>
                <a:ea typeface="Calibri" pitchFamily="34" charset="-122"/>
                <a:cs typeface="Calibri" pitchFamily="34" charset="-120"/>
              </a:rPr>
              <a:t>Which model produces the most reliable structured output and useful qualitative feedback?</a:t>
            </a:r>
            <a:endParaRPr lang="en-US" sz="1250" dirty="0"/>
          </a:p>
        </p:txBody>
      </p:sp>
      <p:sp>
        <p:nvSpPr>
          <p:cNvPr id="20" name="Shape 18"/>
          <p:cNvSpPr/>
          <p:nvPr/>
        </p:nvSpPr>
        <p:spPr>
          <a:xfrm>
            <a:off x="457200" y="6519672"/>
            <a:ext cx="11277295" cy="0"/>
          </a:xfrm>
          <a:prstGeom prst="line">
            <a:avLst/>
          </a:prstGeom>
          <a:noFill/>
          <a:ln w="9525">
            <a:solidFill>
              <a:srgbClr val="2D3138"/>
            </a:solidFill>
            <a:prstDash val="solid"/>
          </a:ln>
        </p:spPr>
      </p:sp>
      <p:sp>
        <p:nvSpPr>
          <p:cNvPr id="21" name="Text 19"/>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22" name="Text 20"/>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23 / 33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Experiment Setup</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Text 2"/>
          <p:cNvSpPr/>
          <p:nvPr/>
        </p:nvSpPr>
        <p:spPr>
          <a:xfrm>
            <a:off x="548640" y="1280160"/>
            <a:ext cx="5486400" cy="292608"/>
          </a:xfrm>
          <a:prstGeom prst="rect">
            <a:avLst/>
          </a:prstGeom>
          <a:noFill/>
          <a:ln/>
        </p:spPr>
        <p:txBody>
          <a:bodyPr wrap="square" lIns="0" tIns="0" rIns="0" bIns="0" rtlCol="0" anchor="ctr"/>
          <a:lstStyle/>
          <a:p>
            <a:pPr algn="l" indent="0" marL="0">
              <a:buNone/>
            </a:pPr>
            <a:r>
              <a:rPr lang="en-US" sz="1300" b="1" dirty="0">
                <a:solidFill>
                  <a:srgbClr val="F5C161"/>
                </a:solidFill>
                <a:latin typeface="Calibri" pitchFamily="34" charset="0"/>
                <a:ea typeface="Calibri" pitchFamily="34" charset="-122"/>
                <a:cs typeface="Calibri" pitchFamily="34" charset="-120"/>
              </a:rPr>
              <a:t>Models  ·  Table 4.1</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5486400" cy="914400"/>
        </p:xfrm>
        <a:graphic>
          <a:graphicData uri="http://schemas.openxmlformats.org/drawingml/2006/table">
            <a:tbl>
              <a:tblPr/>
              <a:tblGrid>
                <a:gridCol w="1828800"/>
                <a:gridCol w="1280160"/>
                <a:gridCol w="1097280"/>
                <a:gridCol w="1280160"/>
              </a:tblGrid>
              <a:tr h="292608">
                <a:tc>
                  <a:txBody>
                    <a:bodyPr/>
                    <a:lstStyle/>
                    <a:p>
                      <a:pPr algn="l" indent="0" marL="0">
                        <a:buNone/>
                      </a:pPr>
                      <a:r>
                        <a:rPr lang="en-US" sz="1150" b="1" dirty="0">
                          <a:solidFill>
                            <a:srgbClr val="F4F4F5"/>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l" indent="0" marL="0">
                        <a:buNone/>
                      </a:pPr>
                      <a:r>
                        <a:rPr lang="en-US" sz="1150" b="1" dirty="0">
                          <a:solidFill>
                            <a:srgbClr val="F4F4F5"/>
                          </a:solidFill>
                          <a:latin typeface="Calibri" pitchFamily="34" charset="0"/>
                          <a:ea typeface="Calibri" pitchFamily="34" charset="-122"/>
                          <a:cs typeface="Calibri" pitchFamily="34" charset="-120"/>
                        </a:rPr>
                        <a:t>Provider</a:t>
                      </a:r>
                      <a:endParaRPr lang="en-US" sz="11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l" indent="0" marL="0">
                        <a:buNone/>
                      </a:pPr>
                      <a:r>
                        <a:rPr lang="en-US" sz="1150" b="1" dirty="0">
                          <a:solidFill>
                            <a:srgbClr val="F4F4F5"/>
                          </a:solidFill>
                          <a:latin typeface="Calibri" pitchFamily="34" charset="0"/>
                          <a:ea typeface="Calibri" pitchFamily="34" charset="-122"/>
                          <a:cs typeface="Calibri" pitchFamily="34" charset="-120"/>
                        </a:rPr>
                        <a:t>Tier</a:t>
                      </a:r>
                      <a:endParaRPr lang="en-US" sz="11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l" indent="0" marL="0">
                        <a:buNone/>
                      </a:pPr>
                      <a:r>
                        <a:rPr lang="en-US" sz="1150" b="1" dirty="0">
                          <a:solidFill>
                            <a:srgbClr val="F4F4F5"/>
                          </a:solidFill>
                          <a:latin typeface="Calibri" pitchFamily="34" charset="0"/>
                          <a:ea typeface="Calibri" pitchFamily="34" charset="-122"/>
                          <a:cs typeface="Calibri" pitchFamily="34" charset="-120"/>
                        </a:rPr>
                        <a:t>$/1M in/out</a:t>
                      </a:r>
                      <a:endParaRPr lang="en-US" sz="11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r>
              <a:tr h="292608">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Claude Opus 4.6</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Anthropic</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Flagship</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$5 / $25</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r>
              <a:tr h="292608">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Claude Sonnet 4.6</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Anthropic</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Baseline</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$3 / $15</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r>
              <a:tr h="292608">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GPT-5.4</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OpenAI</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Flagship</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$2.50 / $15</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r>
              <a:tr h="292608">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GPT-5.4 Mini</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OpenAI</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Baseline</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$0.75 / $4.50</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r>
              <a:tr h="292608">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Gemini 3.1 Pro</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Google</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Flagship</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$2 / $12</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r>
              <a:tr h="292608">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Gemini 3 Flash</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Google</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Baseline</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l" indent="0" marL="0">
                        <a:buNone/>
                      </a:pPr>
                      <a:r>
                        <a:rPr lang="en-US" sz="1100" dirty="0">
                          <a:solidFill>
                            <a:srgbClr val="F4F4F5"/>
                          </a:solidFill>
                          <a:latin typeface="Calibri" pitchFamily="34" charset="0"/>
                          <a:ea typeface="Calibri" pitchFamily="34" charset="-122"/>
                          <a:cs typeface="Calibri" pitchFamily="34" charset="-120"/>
                        </a:rPr>
                        <a:t>$0.50 / $3</a:t>
                      </a:r>
                      <a:endParaRPr lang="en-US" sz="11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r>
            </a:tbl>
          </a:graphicData>
        </a:graphic>
      </p:graphicFrame>
      <p:sp>
        <p:nvSpPr>
          <p:cNvPr id="6" name="Shape 3"/>
          <p:cNvSpPr/>
          <p:nvPr/>
        </p:nvSpPr>
        <p:spPr>
          <a:xfrm>
            <a:off x="6400800" y="1280160"/>
            <a:ext cx="5242255" cy="3886200"/>
          </a:xfrm>
          <a:prstGeom prst="roundRect">
            <a:avLst>
              <a:gd name="adj" fmla="val 2824"/>
            </a:avLst>
          </a:prstGeom>
          <a:solidFill>
            <a:srgbClr val="1A1D24"/>
          </a:solidFill>
          <a:ln w="9525">
            <a:solidFill>
              <a:srgbClr val="2D3138"/>
            </a:solidFill>
            <a:prstDash val="solid"/>
          </a:ln>
        </p:spPr>
      </p:sp>
      <p:sp>
        <p:nvSpPr>
          <p:cNvPr id="7" name="Text 4"/>
          <p:cNvSpPr/>
          <p:nvPr/>
        </p:nvSpPr>
        <p:spPr>
          <a:xfrm>
            <a:off x="6675120" y="1463040"/>
            <a:ext cx="4693615" cy="384048"/>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Dataset &amp; Protocol</a:t>
            </a:r>
            <a:endParaRPr lang="en-US" sz="1600" dirty="0"/>
          </a:p>
        </p:txBody>
      </p:sp>
      <p:sp>
        <p:nvSpPr>
          <p:cNvPr id="8" name="Shape 5"/>
          <p:cNvSpPr/>
          <p:nvPr/>
        </p:nvSpPr>
        <p:spPr>
          <a:xfrm>
            <a:off x="6675120" y="1920240"/>
            <a:ext cx="1473098" cy="960120"/>
          </a:xfrm>
          <a:prstGeom prst="roundRect">
            <a:avLst>
              <a:gd name="adj" fmla="val 7619"/>
            </a:avLst>
          </a:prstGeom>
          <a:solidFill>
            <a:srgbClr val="20242C"/>
          </a:solidFill>
          <a:ln w="6350">
            <a:solidFill>
              <a:srgbClr val="2D3138"/>
            </a:solidFill>
            <a:prstDash val="solid"/>
          </a:ln>
        </p:spPr>
      </p:sp>
      <p:sp>
        <p:nvSpPr>
          <p:cNvPr id="9" name="Text 6"/>
          <p:cNvSpPr/>
          <p:nvPr/>
        </p:nvSpPr>
        <p:spPr>
          <a:xfrm>
            <a:off x="6675120" y="1965960"/>
            <a:ext cx="1473098" cy="548640"/>
          </a:xfrm>
          <a:prstGeom prst="rect">
            <a:avLst/>
          </a:prstGeom>
          <a:noFill/>
          <a:ln/>
        </p:spPr>
        <p:txBody>
          <a:bodyPr wrap="square" lIns="0" tIns="0" rIns="0" bIns="0" rtlCol="0" anchor="ctr"/>
          <a:lstStyle/>
          <a:p>
            <a:pPr algn="ctr" indent="0" marL="0">
              <a:buNone/>
            </a:pPr>
            <a:r>
              <a:rPr lang="en-US" sz="3200" b="1" dirty="0">
                <a:solidFill>
                  <a:srgbClr val="E8A33D"/>
                </a:solidFill>
                <a:latin typeface="Calibri" pitchFamily="34" charset="0"/>
                <a:ea typeface="Calibri" pitchFamily="34" charset="-122"/>
                <a:cs typeface="Calibri" pitchFamily="34" charset="-120"/>
              </a:rPr>
              <a:t>32</a:t>
            </a:r>
            <a:endParaRPr lang="en-US" sz="3200" dirty="0"/>
          </a:p>
        </p:txBody>
      </p:sp>
      <p:sp>
        <p:nvSpPr>
          <p:cNvPr id="10" name="Text 7"/>
          <p:cNvSpPr/>
          <p:nvPr/>
        </p:nvSpPr>
        <p:spPr>
          <a:xfrm>
            <a:off x="6675120" y="2514600"/>
            <a:ext cx="1473098" cy="320040"/>
          </a:xfrm>
          <a:prstGeom prst="rect">
            <a:avLst/>
          </a:prstGeom>
          <a:noFill/>
          <a:ln/>
        </p:spPr>
        <p:txBody>
          <a:bodyPr wrap="square" lIns="0" tIns="0" rIns="0" bIns="0" rtlCol="0" anchor="ctr"/>
          <a:lstStyle/>
          <a:p>
            <a:pPr algn="ctr" indent="0" marL="0">
              <a:buNone/>
            </a:pPr>
            <a:r>
              <a:rPr lang="en-US" sz="1200" dirty="0">
                <a:solidFill>
                  <a:srgbClr val="B0B5BD"/>
                </a:solidFill>
                <a:latin typeface="Calibri" pitchFamily="34" charset="0"/>
                <a:ea typeface="Calibri" pitchFamily="34" charset="-122"/>
                <a:cs typeface="Calibri" pitchFamily="34" charset="-120"/>
              </a:rPr>
              <a:t>submissions</a:t>
            </a:r>
            <a:endParaRPr lang="en-US" sz="1200" dirty="0"/>
          </a:p>
        </p:txBody>
      </p:sp>
      <p:sp>
        <p:nvSpPr>
          <p:cNvPr id="11" name="Shape 8"/>
          <p:cNvSpPr/>
          <p:nvPr/>
        </p:nvSpPr>
        <p:spPr>
          <a:xfrm>
            <a:off x="8285378" y="1920240"/>
            <a:ext cx="1473098" cy="960120"/>
          </a:xfrm>
          <a:prstGeom prst="roundRect">
            <a:avLst>
              <a:gd name="adj" fmla="val 7619"/>
            </a:avLst>
          </a:prstGeom>
          <a:solidFill>
            <a:srgbClr val="20242C"/>
          </a:solidFill>
          <a:ln w="6350">
            <a:solidFill>
              <a:srgbClr val="2D3138"/>
            </a:solidFill>
            <a:prstDash val="solid"/>
          </a:ln>
        </p:spPr>
      </p:sp>
      <p:sp>
        <p:nvSpPr>
          <p:cNvPr id="12" name="Text 9"/>
          <p:cNvSpPr/>
          <p:nvPr/>
        </p:nvSpPr>
        <p:spPr>
          <a:xfrm>
            <a:off x="8285378" y="1965960"/>
            <a:ext cx="1473098" cy="548640"/>
          </a:xfrm>
          <a:prstGeom prst="rect">
            <a:avLst/>
          </a:prstGeom>
          <a:noFill/>
          <a:ln/>
        </p:spPr>
        <p:txBody>
          <a:bodyPr wrap="square" lIns="0" tIns="0" rIns="0" bIns="0" rtlCol="0" anchor="ctr"/>
          <a:lstStyle/>
          <a:p>
            <a:pPr algn="ctr" indent="0" marL="0">
              <a:buNone/>
            </a:pPr>
            <a:r>
              <a:rPr lang="en-US" sz="3200" b="1" dirty="0">
                <a:solidFill>
                  <a:srgbClr val="E8A33D"/>
                </a:solidFill>
                <a:latin typeface="Calibri" pitchFamily="34" charset="0"/>
                <a:ea typeface="Calibri" pitchFamily="34" charset="-122"/>
                <a:cs typeface="Calibri" pitchFamily="34" charset="-120"/>
              </a:rPr>
              <a:t>6</a:t>
            </a:r>
            <a:endParaRPr lang="en-US" sz="3200" dirty="0"/>
          </a:p>
        </p:txBody>
      </p:sp>
      <p:sp>
        <p:nvSpPr>
          <p:cNvPr id="13" name="Text 10"/>
          <p:cNvSpPr/>
          <p:nvPr/>
        </p:nvSpPr>
        <p:spPr>
          <a:xfrm>
            <a:off x="8285378" y="2514600"/>
            <a:ext cx="1473098" cy="320040"/>
          </a:xfrm>
          <a:prstGeom prst="rect">
            <a:avLst/>
          </a:prstGeom>
          <a:noFill/>
          <a:ln/>
        </p:spPr>
        <p:txBody>
          <a:bodyPr wrap="square" lIns="0" tIns="0" rIns="0" bIns="0" rtlCol="0" anchor="ctr"/>
          <a:lstStyle/>
          <a:p>
            <a:pPr algn="ctr" indent="0" marL="0">
              <a:buNone/>
            </a:pPr>
            <a:r>
              <a:rPr lang="en-US" sz="1200" dirty="0">
                <a:solidFill>
                  <a:srgbClr val="B0B5BD"/>
                </a:solidFill>
                <a:latin typeface="Calibri" pitchFamily="34" charset="0"/>
                <a:ea typeface="Calibri" pitchFamily="34" charset="-122"/>
                <a:cs typeface="Calibri" pitchFamily="34" charset="-120"/>
              </a:rPr>
              <a:t>models</a:t>
            </a:r>
            <a:endParaRPr lang="en-US" sz="1200" dirty="0"/>
          </a:p>
        </p:txBody>
      </p:sp>
      <p:sp>
        <p:nvSpPr>
          <p:cNvPr id="14" name="Shape 11"/>
          <p:cNvSpPr/>
          <p:nvPr/>
        </p:nvSpPr>
        <p:spPr>
          <a:xfrm>
            <a:off x="9895637" y="1920240"/>
            <a:ext cx="1473098" cy="960120"/>
          </a:xfrm>
          <a:prstGeom prst="roundRect">
            <a:avLst>
              <a:gd name="adj" fmla="val 7619"/>
            </a:avLst>
          </a:prstGeom>
          <a:solidFill>
            <a:srgbClr val="20242C"/>
          </a:solidFill>
          <a:ln w="6350">
            <a:solidFill>
              <a:srgbClr val="2D3138"/>
            </a:solidFill>
            <a:prstDash val="solid"/>
          </a:ln>
        </p:spPr>
      </p:sp>
      <p:sp>
        <p:nvSpPr>
          <p:cNvPr id="15" name="Text 12"/>
          <p:cNvSpPr/>
          <p:nvPr/>
        </p:nvSpPr>
        <p:spPr>
          <a:xfrm>
            <a:off x="9895637" y="1965960"/>
            <a:ext cx="1473098" cy="548640"/>
          </a:xfrm>
          <a:prstGeom prst="rect">
            <a:avLst/>
          </a:prstGeom>
          <a:noFill/>
          <a:ln/>
        </p:spPr>
        <p:txBody>
          <a:bodyPr wrap="square" lIns="0" tIns="0" rIns="0" bIns="0" rtlCol="0" anchor="ctr"/>
          <a:lstStyle/>
          <a:p>
            <a:pPr algn="ctr" indent="0" marL="0">
              <a:buNone/>
            </a:pPr>
            <a:r>
              <a:rPr lang="en-US" sz="3200" b="1" dirty="0">
                <a:solidFill>
                  <a:srgbClr val="E8A33D"/>
                </a:solidFill>
                <a:latin typeface="Calibri" pitchFamily="34" charset="0"/>
                <a:ea typeface="Calibri" pitchFamily="34" charset="-122"/>
                <a:cs typeface="Calibri" pitchFamily="34" charset="-120"/>
              </a:rPr>
              <a:t>5</a:t>
            </a:r>
            <a:endParaRPr lang="en-US" sz="3200" dirty="0"/>
          </a:p>
        </p:txBody>
      </p:sp>
      <p:sp>
        <p:nvSpPr>
          <p:cNvPr id="16" name="Text 13"/>
          <p:cNvSpPr/>
          <p:nvPr/>
        </p:nvSpPr>
        <p:spPr>
          <a:xfrm>
            <a:off x="9895637" y="2514600"/>
            <a:ext cx="1473098" cy="320040"/>
          </a:xfrm>
          <a:prstGeom prst="rect">
            <a:avLst/>
          </a:prstGeom>
          <a:noFill/>
          <a:ln/>
        </p:spPr>
        <p:txBody>
          <a:bodyPr wrap="square" lIns="0" tIns="0" rIns="0" bIns="0" rtlCol="0" anchor="ctr"/>
          <a:lstStyle/>
          <a:p>
            <a:pPr algn="ctr" indent="0" marL="0">
              <a:buNone/>
            </a:pPr>
            <a:r>
              <a:rPr lang="en-US" sz="1200" dirty="0">
                <a:solidFill>
                  <a:srgbClr val="B0B5BD"/>
                </a:solidFill>
                <a:latin typeface="Calibri" pitchFamily="34" charset="0"/>
                <a:ea typeface="Calibri" pitchFamily="34" charset="-122"/>
                <a:cs typeface="Calibri" pitchFamily="34" charset="-120"/>
              </a:rPr>
              <a:t>runs each</a:t>
            </a:r>
            <a:endParaRPr lang="en-US" sz="1200" dirty="0"/>
          </a:p>
        </p:txBody>
      </p:sp>
      <p:sp>
        <p:nvSpPr>
          <p:cNvPr id="17" name="Text 14"/>
          <p:cNvSpPr/>
          <p:nvPr/>
        </p:nvSpPr>
        <p:spPr>
          <a:xfrm>
            <a:off x="6400800" y="2971800"/>
            <a:ext cx="5242255" cy="411480"/>
          </a:xfrm>
          <a:prstGeom prst="rect">
            <a:avLst/>
          </a:prstGeom>
          <a:noFill/>
          <a:ln/>
        </p:spPr>
        <p:txBody>
          <a:bodyPr wrap="square" lIns="0" tIns="0" rIns="0" bIns="0" rtlCol="0" anchor="ctr"/>
          <a:lstStyle/>
          <a:p>
            <a:pPr algn="ctr" indent="0" marL="0">
              <a:buNone/>
            </a:pPr>
            <a:r>
              <a:rPr lang="en-US" sz="2100" b="1" dirty="0">
                <a:solidFill>
                  <a:srgbClr val="F5C161"/>
                </a:solidFill>
                <a:latin typeface="Calibri" pitchFamily="34" charset="0"/>
                <a:ea typeface="Calibri" pitchFamily="34" charset="-122"/>
                <a:cs typeface="Calibri" pitchFamily="34" charset="-120"/>
              </a:rPr>
              <a:t>=  960 API calls</a:t>
            </a:r>
            <a:endParaRPr lang="en-US" sz="2100" dirty="0"/>
          </a:p>
        </p:txBody>
      </p:sp>
      <p:sp>
        <p:nvSpPr>
          <p:cNvPr id="18" name="Text 15"/>
          <p:cNvSpPr/>
          <p:nvPr/>
        </p:nvSpPr>
        <p:spPr>
          <a:xfrm>
            <a:off x="6675120" y="3611880"/>
            <a:ext cx="4693615" cy="1325880"/>
          </a:xfrm>
          <a:prstGeom prst="rect">
            <a:avLst/>
          </a:prstGeom>
          <a:noFill/>
          <a:ln/>
        </p:spPr>
        <p:txBody>
          <a:bodyPr wrap="square" lIns="0" tIns="0" rIns="0" bIns="0" rtlCol="0" anchor="t"/>
          <a:lstStyle/>
          <a:p>
            <a:pPr algn="l" indent="0" marL="0">
              <a:spcAft>
                <a:spcPts val="700"/>
              </a:spcAft>
              <a:buNone/>
            </a:pPr>
            <a:r>
              <a:rPr lang="en-US" sz="1300" b="1" dirty="0">
                <a:solidFill>
                  <a:srgbClr val="F5C161"/>
                </a:solidFill>
                <a:latin typeface="Calibri" pitchFamily="34" charset="0"/>
                <a:ea typeface="Calibri" pitchFamily="34" charset="-122"/>
                <a:cs typeface="Calibri" pitchFamily="34" charset="-120"/>
              </a:rPr>
              <a:t>Submissions: </a:t>
            </a:r>
            <a:pPr algn="l" indent="0" marL="0">
              <a:spcAft>
                <a:spcPts val="700"/>
              </a:spcAft>
              <a:buNone/>
            </a:pPr>
            <a:r>
              <a:rPr lang="en-US" sz="1300" dirty="0">
                <a:solidFill>
                  <a:srgbClr val="F4F4F5"/>
                </a:solidFill>
                <a:latin typeface="Calibri" pitchFamily="34" charset="0"/>
                <a:ea typeface="Calibri" pitchFamily="34" charset="-122"/>
                <a:cs typeface="Calibri" pitchFamily="34" charset="-120"/>
              </a:rPr>
              <a:t>2 real (McGill UML repo) + 30 synthetic across 5 quality tiers</a:t>
            </a:r>
            <a:endParaRPr lang="en-US" sz="1300" dirty="0"/>
          </a:p>
          <a:p>
            <a:pPr algn="l" indent="0" marL="0">
              <a:spcAft>
                <a:spcPts val="700"/>
              </a:spcAft>
              <a:buNone/>
            </a:pPr>
            <a:r>
              <a:rPr lang="en-US" sz="1300" b="1" dirty="0">
                <a:solidFill>
                  <a:srgbClr val="F5C161"/>
                </a:solidFill>
                <a:latin typeface="Calibri" pitchFamily="34" charset="0"/>
                <a:ea typeface="Calibri" pitchFamily="34" charset="-122"/>
                <a:cs typeface="Calibri" pitchFamily="34" charset="-120"/>
              </a:rPr>
              <a:t>Domains: </a:t>
            </a:r>
            <a:pPr algn="l" indent="0" marL="0">
              <a:spcAft>
                <a:spcPts val="700"/>
              </a:spcAft>
              <a:buNone/>
            </a:pPr>
            <a:r>
              <a:rPr lang="en-US" sz="1300" dirty="0">
                <a:solidFill>
                  <a:srgbClr val="F4F4F5"/>
                </a:solidFill>
                <a:latin typeface="Calibri" pitchFamily="34" charset="0"/>
                <a:ea typeface="Calibri" pitchFamily="34" charset="-122"/>
                <a:cs typeface="Calibri" pitchFamily="34" charset="-120"/>
              </a:rPr>
              <a:t>Library Management · E-Commerce · Hospital Management</a:t>
            </a:r>
            <a:endParaRPr lang="en-US" sz="1300" dirty="0"/>
          </a:p>
          <a:p>
            <a:pPr algn="l" indent="0" marL="0">
              <a:spcAft>
                <a:spcPts val="700"/>
              </a:spcAft>
              <a:buNone/>
            </a:pPr>
            <a:r>
              <a:rPr lang="en-US" sz="1300" b="1" dirty="0">
                <a:solidFill>
                  <a:srgbClr val="F5C161"/>
                </a:solidFill>
                <a:latin typeface="Calibri" pitchFamily="34" charset="0"/>
                <a:ea typeface="Calibri" pitchFamily="34" charset="-122"/>
                <a:cs typeface="Calibri" pitchFamily="34" charset="-120"/>
              </a:rPr>
              <a:t>Rubric: </a:t>
            </a:r>
            <a:pPr algn="l" indent="0" marL="0">
              <a:spcAft>
                <a:spcPts val="700"/>
              </a:spcAft>
              <a:buNone/>
            </a:pPr>
            <a:r>
              <a:rPr lang="en-US" sz="1300" dirty="0">
                <a:solidFill>
                  <a:srgbClr val="F4F4F5"/>
                </a:solidFill>
                <a:latin typeface="Calibri" pitchFamily="34" charset="0"/>
                <a:ea typeface="Calibri" pitchFamily="34" charset="-122"/>
                <a:cs typeface="Calibri" pitchFamily="34" charset="-120"/>
              </a:rPr>
              <a:t>5 criteria — class correctness · relationships · cardinality · naming · completeness</a:t>
            </a:r>
            <a:endParaRPr lang="en-US" sz="1300" dirty="0"/>
          </a:p>
          <a:p>
            <a:pPr algn="l" indent="0" marL="0">
              <a:spcAft>
                <a:spcPts val="700"/>
              </a:spcAft>
              <a:buNone/>
            </a:pPr>
            <a:r>
              <a:rPr lang="en-US" sz="1300" b="1" dirty="0">
                <a:solidFill>
                  <a:srgbClr val="F5C161"/>
                </a:solidFill>
                <a:latin typeface="Calibri" pitchFamily="34" charset="0"/>
                <a:ea typeface="Calibri" pitchFamily="34" charset="-122"/>
                <a:cs typeface="Calibri" pitchFamily="34" charset="-120"/>
              </a:rPr>
              <a:t>Protocol: </a:t>
            </a:r>
            <a:pPr algn="l" indent="0" marL="0">
              <a:spcAft>
                <a:spcPts val="700"/>
              </a:spcAft>
              <a:buNone/>
            </a:pPr>
            <a:r>
              <a:rPr lang="en-US" sz="1300" dirty="0">
                <a:solidFill>
                  <a:srgbClr val="F4F4F5"/>
                </a:solidFill>
                <a:latin typeface="Calibri" pitchFamily="34" charset="0"/>
                <a:ea typeface="Calibri" pitchFamily="34" charset="-122"/>
                <a:cs typeface="Calibri" pitchFamily="34" charset="-120"/>
              </a:rPr>
              <a:t>temperature 0.0, exponential backoff, every call logged</a:t>
            </a:r>
            <a:endParaRPr lang="en-US" sz="1300" dirty="0"/>
          </a:p>
        </p:txBody>
      </p:sp>
      <p:sp>
        <p:nvSpPr>
          <p:cNvPr id="19" name="Text 16"/>
          <p:cNvSpPr/>
          <p:nvPr/>
        </p:nvSpPr>
        <p:spPr>
          <a:xfrm>
            <a:off x="548640" y="5349240"/>
            <a:ext cx="11094415" cy="292608"/>
          </a:xfrm>
          <a:prstGeom prst="rect">
            <a:avLst/>
          </a:prstGeom>
          <a:noFill/>
          <a:ln/>
        </p:spPr>
        <p:txBody>
          <a:bodyPr wrap="square" lIns="0" tIns="0" rIns="0" bIns="0" rtlCol="0" anchor="ctr"/>
          <a:lstStyle/>
          <a:p>
            <a:pPr algn="l" indent="0" marL="0">
              <a:buNone/>
            </a:pPr>
            <a:r>
              <a:rPr lang="en-US" sz="1400" b="1" dirty="0">
                <a:solidFill>
                  <a:srgbClr val="F5C161"/>
                </a:solidFill>
                <a:latin typeface="Calibri" pitchFamily="34" charset="0"/>
                <a:ea typeface="Calibri" pitchFamily="34" charset="-122"/>
                <a:cs typeface="Calibri" pitchFamily="34" charset="-120"/>
              </a:rPr>
              <a:t>5 synthetic-quality tiers</a:t>
            </a:r>
            <a:endParaRPr lang="en-US" sz="1400" dirty="0"/>
          </a:p>
        </p:txBody>
      </p:sp>
      <p:sp>
        <p:nvSpPr>
          <p:cNvPr id="20" name="Shape 17"/>
          <p:cNvSpPr/>
          <p:nvPr/>
        </p:nvSpPr>
        <p:spPr>
          <a:xfrm>
            <a:off x="548640" y="5715000"/>
            <a:ext cx="1926275" cy="658368"/>
          </a:xfrm>
          <a:prstGeom prst="roundRect">
            <a:avLst>
              <a:gd name="adj" fmla="val 50000"/>
            </a:avLst>
          </a:prstGeom>
          <a:solidFill>
            <a:srgbClr val="1A1D24"/>
          </a:solidFill>
          <a:ln w="12700">
            <a:solidFill>
              <a:srgbClr val="62B47B"/>
            </a:solidFill>
            <a:prstDash val="solid"/>
          </a:ln>
        </p:spPr>
      </p:sp>
      <p:sp>
        <p:nvSpPr>
          <p:cNvPr id="21" name="Shape 18"/>
          <p:cNvSpPr/>
          <p:nvPr/>
        </p:nvSpPr>
        <p:spPr>
          <a:xfrm>
            <a:off x="731520" y="5897880"/>
            <a:ext cx="292608" cy="292608"/>
          </a:xfrm>
          <a:prstGeom prst="ellipse">
            <a:avLst/>
          </a:prstGeom>
          <a:solidFill>
            <a:srgbClr val="62B47B"/>
          </a:solidFill>
          <a:ln w="12700">
            <a:solidFill>
              <a:srgbClr val="62B47B"/>
            </a:solidFill>
            <a:prstDash val="solid"/>
          </a:ln>
        </p:spPr>
      </p:sp>
      <p:sp>
        <p:nvSpPr>
          <p:cNvPr id="22" name="Text 19"/>
          <p:cNvSpPr/>
          <p:nvPr/>
        </p:nvSpPr>
        <p:spPr>
          <a:xfrm>
            <a:off x="1097280" y="5715000"/>
            <a:ext cx="1286195" cy="658368"/>
          </a:xfrm>
          <a:prstGeom prst="rect">
            <a:avLst/>
          </a:prstGeom>
          <a:noFill/>
          <a:ln/>
        </p:spPr>
        <p:txBody>
          <a:bodyPr wrap="square" lIns="0" tIns="0" rIns="0" bIns="0" rtlCol="0" anchor="ctr"/>
          <a:lstStyle/>
          <a:p>
            <a:pPr algn="l" indent="0" marL="0">
              <a:buNone/>
            </a:pPr>
            <a:r>
              <a:rPr lang="en-US" sz="1500" b="1" dirty="0">
                <a:solidFill>
                  <a:srgbClr val="F4F4F5"/>
                </a:solidFill>
                <a:latin typeface="Calibri" pitchFamily="34" charset="0"/>
                <a:ea typeface="Calibri" pitchFamily="34" charset="-122"/>
                <a:cs typeface="Calibri" pitchFamily="34" charset="-120"/>
              </a:rPr>
              <a:t>Excellent</a:t>
            </a:r>
            <a:endParaRPr lang="en-US" sz="1500" dirty="0"/>
          </a:p>
        </p:txBody>
      </p:sp>
      <p:sp>
        <p:nvSpPr>
          <p:cNvPr id="23" name="Shape 20"/>
          <p:cNvSpPr/>
          <p:nvPr/>
        </p:nvSpPr>
        <p:spPr>
          <a:xfrm>
            <a:off x="2840675" y="5715000"/>
            <a:ext cx="1926275" cy="658368"/>
          </a:xfrm>
          <a:prstGeom prst="roundRect">
            <a:avLst>
              <a:gd name="adj" fmla="val 50000"/>
            </a:avLst>
          </a:prstGeom>
          <a:solidFill>
            <a:srgbClr val="1A1D24"/>
          </a:solidFill>
          <a:ln w="12700">
            <a:solidFill>
              <a:srgbClr val="8FAA68"/>
            </a:solidFill>
            <a:prstDash val="solid"/>
          </a:ln>
        </p:spPr>
      </p:sp>
      <p:sp>
        <p:nvSpPr>
          <p:cNvPr id="24" name="Shape 21"/>
          <p:cNvSpPr/>
          <p:nvPr/>
        </p:nvSpPr>
        <p:spPr>
          <a:xfrm>
            <a:off x="3023555" y="5897880"/>
            <a:ext cx="292608" cy="292608"/>
          </a:xfrm>
          <a:prstGeom prst="ellipse">
            <a:avLst/>
          </a:prstGeom>
          <a:solidFill>
            <a:srgbClr val="8FAA68"/>
          </a:solidFill>
          <a:ln w="12700">
            <a:solidFill>
              <a:srgbClr val="8FAA68"/>
            </a:solidFill>
            <a:prstDash val="solid"/>
          </a:ln>
        </p:spPr>
      </p:sp>
      <p:sp>
        <p:nvSpPr>
          <p:cNvPr id="25" name="Text 22"/>
          <p:cNvSpPr/>
          <p:nvPr/>
        </p:nvSpPr>
        <p:spPr>
          <a:xfrm>
            <a:off x="3389315" y="5715000"/>
            <a:ext cx="1286195" cy="658368"/>
          </a:xfrm>
          <a:prstGeom prst="rect">
            <a:avLst/>
          </a:prstGeom>
          <a:noFill/>
          <a:ln/>
        </p:spPr>
        <p:txBody>
          <a:bodyPr wrap="square" lIns="0" tIns="0" rIns="0" bIns="0" rtlCol="0" anchor="ctr"/>
          <a:lstStyle/>
          <a:p>
            <a:pPr algn="l" indent="0" marL="0">
              <a:buNone/>
            </a:pPr>
            <a:r>
              <a:rPr lang="en-US" sz="1500" b="1" dirty="0">
                <a:solidFill>
                  <a:srgbClr val="F4F4F5"/>
                </a:solidFill>
                <a:latin typeface="Calibri" pitchFamily="34" charset="0"/>
                <a:ea typeface="Calibri" pitchFamily="34" charset="-122"/>
                <a:cs typeface="Calibri" pitchFamily="34" charset="-120"/>
              </a:rPr>
              <a:t>Good</a:t>
            </a:r>
            <a:endParaRPr lang="en-US" sz="1500" dirty="0"/>
          </a:p>
        </p:txBody>
      </p:sp>
      <p:sp>
        <p:nvSpPr>
          <p:cNvPr id="26" name="Shape 23"/>
          <p:cNvSpPr/>
          <p:nvPr/>
        </p:nvSpPr>
        <p:spPr>
          <a:xfrm>
            <a:off x="5132710" y="5715000"/>
            <a:ext cx="1926275" cy="658368"/>
          </a:xfrm>
          <a:prstGeom prst="roundRect">
            <a:avLst>
              <a:gd name="adj" fmla="val 50000"/>
            </a:avLst>
          </a:prstGeom>
          <a:solidFill>
            <a:srgbClr val="1A1D24"/>
          </a:solidFill>
          <a:ln w="12700">
            <a:solidFill>
              <a:srgbClr val="F5C161"/>
            </a:solidFill>
            <a:prstDash val="solid"/>
          </a:ln>
        </p:spPr>
      </p:sp>
      <p:sp>
        <p:nvSpPr>
          <p:cNvPr id="27" name="Shape 24"/>
          <p:cNvSpPr/>
          <p:nvPr/>
        </p:nvSpPr>
        <p:spPr>
          <a:xfrm>
            <a:off x="5315590" y="5897880"/>
            <a:ext cx="292608" cy="292608"/>
          </a:xfrm>
          <a:prstGeom prst="ellipse">
            <a:avLst/>
          </a:prstGeom>
          <a:solidFill>
            <a:srgbClr val="F5C161"/>
          </a:solidFill>
          <a:ln w="12700">
            <a:solidFill>
              <a:srgbClr val="F5C161"/>
            </a:solidFill>
            <a:prstDash val="solid"/>
          </a:ln>
        </p:spPr>
      </p:sp>
      <p:sp>
        <p:nvSpPr>
          <p:cNvPr id="28" name="Text 25"/>
          <p:cNvSpPr/>
          <p:nvPr/>
        </p:nvSpPr>
        <p:spPr>
          <a:xfrm>
            <a:off x="5681350" y="5715000"/>
            <a:ext cx="1286195" cy="658368"/>
          </a:xfrm>
          <a:prstGeom prst="rect">
            <a:avLst/>
          </a:prstGeom>
          <a:noFill/>
          <a:ln/>
        </p:spPr>
        <p:txBody>
          <a:bodyPr wrap="square" lIns="0" tIns="0" rIns="0" bIns="0" rtlCol="0" anchor="ctr"/>
          <a:lstStyle/>
          <a:p>
            <a:pPr algn="l" indent="0" marL="0">
              <a:buNone/>
            </a:pPr>
            <a:r>
              <a:rPr lang="en-US" sz="1500" b="1" dirty="0">
                <a:solidFill>
                  <a:srgbClr val="F4F4F5"/>
                </a:solidFill>
                <a:latin typeface="Calibri" pitchFamily="34" charset="0"/>
                <a:ea typeface="Calibri" pitchFamily="34" charset="-122"/>
                <a:cs typeface="Calibri" pitchFamily="34" charset="-120"/>
              </a:rPr>
              <a:t>Average</a:t>
            </a:r>
            <a:endParaRPr lang="en-US" sz="1500" dirty="0"/>
          </a:p>
        </p:txBody>
      </p:sp>
      <p:sp>
        <p:nvSpPr>
          <p:cNvPr id="29" name="Shape 26"/>
          <p:cNvSpPr/>
          <p:nvPr/>
        </p:nvSpPr>
        <p:spPr>
          <a:xfrm>
            <a:off x="7424745" y="5715000"/>
            <a:ext cx="1926275" cy="658368"/>
          </a:xfrm>
          <a:prstGeom prst="roundRect">
            <a:avLst>
              <a:gd name="adj" fmla="val 50000"/>
            </a:avLst>
          </a:prstGeom>
          <a:solidFill>
            <a:srgbClr val="1A1D24"/>
          </a:solidFill>
          <a:ln w="12700">
            <a:solidFill>
              <a:srgbClr val="E8A33D"/>
            </a:solidFill>
            <a:prstDash val="solid"/>
          </a:ln>
        </p:spPr>
      </p:sp>
      <p:sp>
        <p:nvSpPr>
          <p:cNvPr id="30" name="Shape 27"/>
          <p:cNvSpPr/>
          <p:nvPr/>
        </p:nvSpPr>
        <p:spPr>
          <a:xfrm>
            <a:off x="7607625" y="5897880"/>
            <a:ext cx="292608" cy="292608"/>
          </a:xfrm>
          <a:prstGeom prst="ellipse">
            <a:avLst/>
          </a:prstGeom>
          <a:solidFill>
            <a:srgbClr val="E8A33D"/>
          </a:solidFill>
          <a:ln w="12700">
            <a:solidFill>
              <a:srgbClr val="E8A33D"/>
            </a:solidFill>
            <a:prstDash val="solid"/>
          </a:ln>
        </p:spPr>
      </p:sp>
      <p:sp>
        <p:nvSpPr>
          <p:cNvPr id="31" name="Text 28"/>
          <p:cNvSpPr/>
          <p:nvPr/>
        </p:nvSpPr>
        <p:spPr>
          <a:xfrm>
            <a:off x="7973385" y="5715000"/>
            <a:ext cx="1286195" cy="658368"/>
          </a:xfrm>
          <a:prstGeom prst="rect">
            <a:avLst/>
          </a:prstGeom>
          <a:noFill/>
          <a:ln/>
        </p:spPr>
        <p:txBody>
          <a:bodyPr wrap="square" lIns="0" tIns="0" rIns="0" bIns="0" rtlCol="0" anchor="ctr"/>
          <a:lstStyle/>
          <a:p>
            <a:pPr algn="l" indent="0" marL="0">
              <a:buNone/>
            </a:pPr>
            <a:r>
              <a:rPr lang="en-US" sz="1500" b="1" dirty="0">
                <a:solidFill>
                  <a:srgbClr val="F4F4F5"/>
                </a:solidFill>
                <a:latin typeface="Calibri" pitchFamily="34" charset="0"/>
                <a:ea typeface="Calibri" pitchFamily="34" charset="-122"/>
                <a:cs typeface="Calibri" pitchFamily="34" charset="-120"/>
              </a:rPr>
              <a:t>Poor</a:t>
            </a:r>
            <a:endParaRPr lang="en-US" sz="1500" dirty="0"/>
          </a:p>
        </p:txBody>
      </p:sp>
      <p:sp>
        <p:nvSpPr>
          <p:cNvPr id="32" name="Shape 29"/>
          <p:cNvSpPr/>
          <p:nvPr/>
        </p:nvSpPr>
        <p:spPr>
          <a:xfrm>
            <a:off x="9716780" y="5715000"/>
            <a:ext cx="1926275" cy="658368"/>
          </a:xfrm>
          <a:prstGeom prst="roundRect">
            <a:avLst>
              <a:gd name="adj" fmla="val 50000"/>
            </a:avLst>
          </a:prstGeom>
          <a:solidFill>
            <a:srgbClr val="1A1D24"/>
          </a:solidFill>
          <a:ln w="12700">
            <a:solidFill>
              <a:srgbClr val="D86B6B"/>
            </a:solidFill>
            <a:prstDash val="solid"/>
          </a:ln>
        </p:spPr>
      </p:sp>
      <p:sp>
        <p:nvSpPr>
          <p:cNvPr id="33" name="Shape 30"/>
          <p:cNvSpPr/>
          <p:nvPr/>
        </p:nvSpPr>
        <p:spPr>
          <a:xfrm>
            <a:off x="9899660" y="5897880"/>
            <a:ext cx="292608" cy="292608"/>
          </a:xfrm>
          <a:prstGeom prst="ellipse">
            <a:avLst/>
          </a:prstGeom>
          <a:solidFill>
            <a:srgbClr val="D86B6B"/>
          </a:solidFill>
          <a:ln w="12700">
            <a:solidFill>
              <a:srgbClr val="D86B6B"/>
            </a:solidFill>
            <a:prstDash val="solid"/>
          </a:ln>
        </p:spPr>
      </p:sp>
      <p:sp>
        <p:nvSpPr>
          <p:cNvPr id="34" name="Text 31"/>
          <p:cNvSpPr/>
          <p:nvPr/>
        </p:nvSpPr>
        <p:spPr>
          <a:xfrm>
            <a:off x="10265420" y="5715000"/>
            <a:ext cx="1286195" cy="658368"/>
          </a:xfrm>
          <a:prstGeom prst="rect">
            <a:avLst/>
          </a:prstGeom>
          <a:noFill/>
          <a:ln/>
        </p:spPr>
        <p:txBody>
          <a:bodyPr wrap="square" lIns="0" tIns="0" rIns="0" bIns="0" rtlCol="0" anchor="ctr"/>
          <a:lstStyle/>
          <a:p>
            <a:pPr algn="l" indent="0" marL="0">
              <a:buNone/>
            </a:pPr>
            <a:r>
              <a:rPr lang="en-US" sz="1500" b="1" dirty="0">
                <a:solidFill>
                  <a:srgbClr val="F4F4F5"/>
                </a:solidFill>
                <a:latin typeface="Calibri" pitchFamily="34" charset="0"/>
                <a:ea typeface="Calibri" pitchFamily="34" charset="-122"/>
                <a:cs typeface="Calibri" pitchFamily="34" charset="-120"/>
              </a:rPr>
              <a:t>Failing</a:t>
            </a:r>
            <a:endParaRPr lang="en-US" sz="1500" dirty="0"/>
          </a:p>
        </p:txBody>
      </p:sp>
      <p:sp>
        <p:nvSpPr>
          <p:cNvPr id="35" name="Shape 32"/>
          <p:cNvSpPr/>
          <p:nvPr/>
        </p:nvSpPr>
        <p:spPr>
          <a:xfrm>
            <a:off x="457200" y="6519672"/>
            <a:ext cx="11277295" cy="0"/>
          </a:xfrm>
          <a:prstGeom prst="line">
            <a:avLst/>
          </a:prstGeom>
          <a:noFill/>
          <a:ln w="9525">
            <a:solidFill>
              <a:srgbClr val="2D3138"/>
            </a:solidFill>
            <a:prstDash val="solid"/>
          </a:ln>
        </p:spPr>
      </p:sp>
      <p:sp>
        <p:nvSpPr>
          <p:cNvPr id="36" name="Text 33"/>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37" name="Text 34"/>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24 / 33</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Evaluation Metrics</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200400"/>
                <a:gridCol w="1828800"/>
                <a:gridCol w="6065215"/>
              </a:tblGrid>
              <a:tr h="393192">
                <a:tc>
                  <a:txBody>
                    <a:bodyPr/>
                    <a:lstStyle/>
                    <a:p>
                      <a:pPr algn="l" indent="0" marL="0">
                        <a:buNone/>
                      </a:pPr>
                      <a:r>
                        <a:rPr lang="en-US" sz="1200" b="1" dirty="0">
                          <a:solidFill>
                            <a:srgbClr val="F4F4F5"/>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l" indent="0" marL="0">
                        <a:buNone/>
                      </a:pPr>
                      <a:r>
                        <a:rPr lang="en-US" sz="1200" b="1" dirty="0">
                          <a:solidFill>
                            <a:srgbClr val="F4F4F5"/>
                          </a:solidFill>
                          <a:latin typeface="Calibri" pitchFamily="34" charset="0"/>
                          <a:ea typeface="Calibri" pitchFamily="34" charset="-122"/>
                          <a:cs typeface="Calibri" pitchFamily="34" charset="-120"/>
                        </a:rPr>
                        <a:t>Weight</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l" indent="0" marL="0">
                        <a:buNone/>
                      </a:pPr>
                      <a:r>
                        <a:rPr lang="en-US" sz="1200" b="1" dirty="0">
                          <a:solidFill>
                            <a:srgbClr val="F4F4F5"/>
                          </a:solidFill>
                          <a:latin typeface="Calibri" pitchFamily="34" charset="0"/>
                          <a:ea typeface="Calibri" pitchFamily="34" charset="-122"/>
                          <a:cs typeface="Calibri" pitchFamily="34" charset="-120"/>
                        </a:rPr>
                        <a:t>Captures</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r>
              <a:tr h="393192">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Pearson r + MAE vs ground truth</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r>
              <a:tr h="393192">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Consistency</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Std. dev. across 5 runs</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r>
              <a:tr h="393192">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Cost</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USD per submission</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r>
              <a:tr h="393192">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Feedback quality</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Parse success + structured-output compliance</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r>
              <a:tr h="393192">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Speed</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Median latency</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r>
              <a:tr h="393192">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Rubric adherence</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 rubric criteria addressed</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r>
            </a:tbl>
          </a:graphicData>
        </a:graphic>
      </p:graphicFrame>
      <p:sp>
        <p:nvSpPr>
          <p:cNvPr id="5" name="Shape 2"/>
          <p:cNvSpPr/>
          <p:nvPr/>
        </p:nvSpPr>
        <p:spPr>
          <a:xfrm>
            <a:off x="548640" y="4434840"/>
            <a:ext cx="11094415" cy="777240"/>
          </a:xfrm>
          <a:prstGeom prst="roundRect">
            <a:avLst>
              <a:gd name="adj" fmla="val 11765"/>
            </a:avLst>
          </a:prstGeom>
          <a:solidFill>
            <a:srgbClr val="1A1D24"/>
          </a:solidFill>
          <a:ln w="9525">
            <a:solidFill>
              <a:srgbClr val="E8A33D"/>
            </a:solidFill>
            <a:prstDash val="solid"/>
          </a:ln>
        </p:spPr>
      </p:sp>
      <p:sp>
        <p:nvSpPr>
          <p:cNvPr id="6" name="Text 3"/>
          <p:cNvSpPr/>
          <p:nvPr/>
        </p:nvSpPr>
        <p:spPr>
          <a:xfrm>
            <a:off x="548640" y="4434840"/>
            <a:ext cx="11094415" cy="777240"/>
          </a:xfrm>
          <a:prstGeom prst="rect">
            <a:avLst/>
          </a:prstGeom>
          <a:noFill/>
          <a:ln/>
        </p:spPr>
        <p:txBody>
          <a:bodyPr wrap="square" lIns="0" tIns="0" rIns="0" bIns="0" rtlCol="0" anchor="ctr"/>
          <a:lstStyle/>
          <a:p>
            <a:pPr algn="ctr" indent="0" marL="0">
              <a:buNone/>
            </a:pPr>
            <a:r>
              <a:rPr lang="en-US" sz="1800" b="1" dirty="0">
                <a:solidFill>
                  <a:srgbClr val="F5C161"/>
                </a:solidFill>
                <a:latin typeface="Consolas" pitchFamily="34" charset="0"/>
                <a:ea typeface="Consolas" pitchFamily="34" charset="-122"/>
                <a:cs typeface="Consolas" pitchFamily="34" charset="-120"/>
              </a:rPr>
              <a:t>W = </a:t>
            </a:r>
            <a:pPr algn="ctr" indent="0" marL="0">
              <a:buNone/>
            </a:pPr>
            <a:r>
              <a:rPr lang="en-US" sz="1800" dirty="0">
                <a:solidFill>
                  <a:srgbClr val="F4F4F5"/>
                </a:solidFill>
                <a:latin typeface="Consolas" pitchFamily="34" charset="0"/>
                <a:ea typeface="Consolas" pitchFamily="34" charset="-122"/>
                <a:cs typeface="Consolas" pitchFamily="34" charset="-120"/>
              </a:rPr>
              <a:t>0.35·S_acc + 0.25·S_con + 0.10·S_cst + 0.15·S_fdb + 0.05·S_spd + 0.10·S_rub</a:t>
            </a:r>
            <a:endParaRPr lang="en-US" sz="1800" dirty="0"/>
          </a:p>
        </p:txBody>
      </p:sp>
      <p:sp>
        <p:nvSpPr>
          <p:cNvPr id="7" name="Text 4"/>
          <p:cNvSpPr/>
          <p:nvPr/>
        </p:nvSpPr>
        <p:spPr>
          <a:xfrm>
            <a:off x="548640" y="5349240"/>
            <a:ext cx="11094415" cy="640080"/>
          </a:xfrm>
          <a:prstGeom prst="rect">
            <a:avLst/>
          </a:prstGeom>
          <a:noFill/>
          <a:ln/>
        </p:spPr>
        <p:txBody>
          <a:bodyPr wrap="square" lIns="0" tIns="0" rIns="0" bIns="0" rtlCol="0" anchor="ctr"/>
          <a:lstStyle/>
          <a:p>
            <a:pPr algn="ctr" indent="0" marL="0">
              <a:buNone/>
            </a:pPr>
            <a:r>
              <a:rPr lang="en-US" sz="1400" i="1" dirty="0">
                <a:solidFill>
                  <a:srgbClr val="B0B5BD"/>
                </a:solidFill>
                <a:latin typeface="Calibri" pitchFamily="34" charset="0"/>
                <a:ea typeface="Calibri" pitchFamily="34" charset="-122"/>
                <a:cs typeface="Calibri" pitchFamily="34" charset="-120"/>
              </a:rPr>
              <a:t>Each sub-score normalised against an absolute reference ceiling (not min-max) — preserves stability when models are added or removed.</a:t>
            </a:r>
            <a:endParaRPr lang="en-US" sz="1400" dirty="0"/>
          </a:p>
        </p:txBody>
      </p:sp>
      <p:sp>
        <p:nvSpPr>
          <p:cNvPr id="8" name="Shape 5"/>
          <p:cNvSpPr/>
          <p:nvPr/>
        </p:nvSpPr>
        <p:spPr>
          <a:xfrm>
            <a:off x="457200" y="6519672"/>
            <a:ext cx="11277295" cy="0"/>
          </a:xfrm>
          <a:prstGeom prst="line">
            <a:avLst/>
          </a:prstGeom>
          <a:noFill/>
          <a:ln w="9525">
            <a:solidFill>
              <a:srgbClr val="2D3138"/>
            </a:solidFill>
            <a:prstDash val="solid"/>
          </a:ln>
        </p:spPr>
      </p:sp>
      <p:sp>
        <p:nvSpPr>
          <p:cNvPr id="9" name="Text 6"/>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10" name="Text 7"/>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25 / 33</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E8A33D"/>
                </a:solidFill>
                <a:latin typeface="Calibri" pitchFamily="34" charset="0"/>
                <a:ea typeface="Calibri" pitchFamily="34" charset="-122"/>
                <a:cs typeface="Calibri" pitchFamily="34" charset="-120"/>
              </a:rPr>
              <a:t>★ </a:t>
            </a:r>
            <a:pPr algn="l" indent="0" marL="0">
              <a:buNone/>
            </a:pPr>
            <a:r>
              <a:rPr lang="en-US" sz="3200" b="1" dirty="0">
                <a:solidFill>
                  <a:srgbClr val="F4F4F5"/>
                </a:solidFill>
                <a:latin typeface="Calibri" pitchFamily="34" charset="0"/>
                <a:ea typeface="Calibri" pitchFamily="34" charset="-122"/>
                <a:cs typeface="Calibri" pitchFamily="34" charset="-120"/>
              </a:rPr>
              <a:t>RQ1 — Grading Accuracy</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Text 2"/>
          <p:cNvSpPr/>
          <p:nvPr/>
        </p:nvSpPr>
        <p:spPr>
          <a:xfrm>
            <a:off x="548640" y="960120"/>
            <a:ext cx="11064240" cy="310896"/>
          </a:xfrm>
          <a:prstGeom prst="rect">
            <a:avLst/>
          </a:prstGeom>
          <a:noFill/>
          <a:ln/>
        </p:spPr>
        <p:txBody>
          <a:bodyPr wrap="square" lIns="0" tIns="0" rIns="0" bIns="0" rtlCol="0" anchor="ctr"/>
          <a:lstStyle/>
          <a:p>
            <a:pPr algn="l" indent="0" marL="0">
              <a:buNone/>
            </a:pPr>
            <a:r>
              <a:rPr lang="en-US" sz="1400" i="1" dirty="0">
                <a:solidFill>
                  <a:srgbClr val="F5C161"/>
                </a:solidFill>
                <a:latin typeface="Calibri" pitchFamily="34" charset="0"/>
                <a:ea typeface="Calibri" pitchFamily="34" charset="-122"/>
                <a:cs typeface="Calibri" pitchFamily="34" charset="-120"/>
              </a:rPr>
              <a:t>the empirical headline</a:t>
            </a:r>
            <a:endParaRPr lang="en-US" sz="1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943600" cy="914400"/>
        </p:xfrm>
        <a:graphic>
          <a:graphicData uri="http://schemas.openxmlformats.org/drawingml/2006/table">
            <a:tbl>
              <a:tblPr/>
              <a:tblGrid>
                <a:gridCol w="2377440"/>
                <a:gridCol w="1188720"/>
                <a:gridCol w="1188720"/>
                <a:gridCol w="1188720"/>
              </a:tblGrid>
              <a:tr h="384048">
                <a:tc>
                  <a:txBody>
                    <a:bodyPr/>
                    <a:lstStyle/>
                    <a:p>
                      <a:pPr algn="l" indent="0" marL="0">
                        <a:buNone/>
                      </a:pPr>
                      <a:r>
                        <a:rPr lang="en-US" sz="1200" b="1" dirty="0">
                          <a:solidFill>
                            <a:srgbClr val="F4F4F5"/>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r" indent="0" marL="0">
                        <a:buNone/>
                      </a:pPr>
                      <a:r>
                        <a:rPr lang="en-US" sz="1200" b="1" dirty="0">
                          <a:solidFill>
                            <a:srgbClr val="F4F4F5"/>
                          </a:solidFill>
                          <a:latin typeface="Calibri" pitchFamily="34" charset="0"/>
                          <a:ea typeface="Calibri" pitchFamily="34" charset="-122"/>
                          <a:cs typeface="Calibri" pitchFamily="34" charset="-120"/>
                        </a:rPr>
                        <a:t>Pearson r</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r" indent="0" marL="0">
                        <a:buNone/>
                      </a:pPr>
                      <a:r>
                        <a:rPr lang="en-US" sz="1200" b="1" dirty="0">
                          <a:solidFill>
                            <a:srgbClr val="F4F4F5"/>
                          </a:solidFill>
                          <a:latin typeface="Calibri" pitchFamily="34" charset="0"/>
                          <a:ea typeface="Calibri" pitchFamily="34" charset="-122"/>
                          <a:cs typeface="Calibri" pitchFamily="34" charset="-120"/>
                        </a:rPr>
                        <a:t>MAE /10</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r" indent="0" marL="0">
                        <a:buNone/>
                      </a:pPr>
                      <a:r>
                        <a:rPr lang="en-US" sz="1200" b="1" dirty="0">
                          <a:solidFill>
                            <a:srgbClr val="F4F4F5"/>
                          </a:solidFill>
                          <a:latin typeface="Calibri" pitchFamily="34" charset="0"/>
                          <a:ea typeface="Calibri" pitchFamily="34" charset="-122"/>
                          <a:cs typeface="Calibri" pitchFamily="34" charset="-120"/>
                        </a:rPr>
                        <a:t>Mean Bias</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r>
              <a:tr h="384048">
                <a:tc>
                  <a:txBody>
                    <a:bodyPr/>
                    <a:lstStyle/>
                    <a:p>
                      <a:pPr algn="l" indent="0" marL="0">
                        <a:buNone/>
                      </a:pPr>
                      <a:r>
                        <a:rPr lang="en-US" sz="1200" b="1" dirty="0">
                          <a:solidFill>
                            <a:srgbClr val="F4F4F5"/>
                          </a:solidFill>
                          <a:latin typeface="Calibri" pitchFamily="34" charset="0"/>
                          <a:ea typeface="Calibri" pitchFamily="34" charset="-122"/>
                          <a:cs typeface="Calibri" pitchFamily="34" charset="-120"/>
                        </a:rPr>
                        <a:t>Claude Opus 4.6</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r" indent="0" marL="0">
                        <a:buNone/>
                      </a:pPr>
                      <a:r>
                        <a:rPr lang="en-US" sz="1200" b="1" dirty="0">
                          <a:solidFill>
                            <a:srgbClr val="F4F4F5"/>
                          </a:solidFill>
                          <a:latin typeface="Calibri" pitchFamily="34" charset="0"/>
                          <a:ea typeface="Calibri" pitchFamily="34" charset="-122"/>
                          <a:cs typeface="Calibri" pitchFamily="34" charset="-120"/>
                        </a:rPr>
                        <a:t>0.92</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r" indent="0" marL="0">
                        <a:buNone/>
                      </a:pPr>
                      <a:r>
                        <a:rPr lang="en-US" sz="1200" b="1" dirty="0">
                          <a:solidFill>
                            <a:srgbClr val="F4F4F5"/>
                          </a:solidFill>
                          <a:latin typeface="Calibri" pitchFamily="34" charset="0"/>
                          <a:ea typeface="Calibri" pitchFamily="34" charset="-122"/>
                          <a:cs typeface="Calibri" pitchFamily="34" charset="-120"/>
                        </a:rPr>
                        <a:t>0.68</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r" indent="0" marL="0">
                        <a:buNone/>
                      </a:pPr>
                      <a:r>
                        <a:rPr lang="en-US" sz="1200" b="1" dirty="0">
                          <a:solidFill>
                            <a:srgbClr val="F4F4F5"/>
                          </a:solidFill>
                          <a:latin typeface="Calibri" pitchFamily="34" charset="0"/>
                          <a:ea typeface="Calibri" pitchFamily="34" charset="-122"/>
                          <a:cs typeface="Calibri" pitchFamily="34" charset="-120"/>
                        </a:rPr>
                        <a:t>−0.28</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r>
              <a:tr h="384048">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Claude Sonnet 4.6</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r" indent="0" marL="0">
                        <a:buNone/>
                      </a:pPr>
                      <a:r>
                        <a:rPr lang="en-US" sz="1200" dirty="0">
                          <a:solidFill>
                            <a:srgbClr val="F4F4F5"/>
                          </a:solidFill>
                          <a:latin typeface="Calibri" pitchFamily="34" charset="0"/>
                          <a:ea typeface="Calibri" pitchFamily="34" charset="-122"/>
                          <a:cs typeface="Calibri" pitchFamily="34" charset="-120"/>
                        </a:rPr>
                        <a:t>0.89</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r" indent="0" marL="0">
                        <a:buNone/>
                      </a:pPr>
                      <a:r>
                        <a:rPr lang="en-US" sz="1200" dirty="0">
                          <a:solidFill>
                            <a:srgbClr val="F4F4F5"/>
                          </a:solidFill>
                          <a:latin typeface="Calibri" pitchFamily="34" charset="0"/>
                          <a:ea typeface="Calibri" pitchFamily="34" charset="-122"/>
                          <a:cs typeface="Calibri" pitchFamily="34" charset="-120"/>
                        </a:rPr>
                        <a:t>0.78</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r" indent="0" marL="0">
                        <a:buNone/>
                      </a:pPr>
                      <a:r>
                        <a:rPr lang="en-US" sz="1200" dirty="0">
                          <a:solidFill>
                            <a:srgbClr val="F4F4F5"/>
                          </a:solidFill>
                          <a:latin typeface="Calibri" pitchFamily="34" charset="0"/>
                          <a:ea typeface="Calibri" pitchFamily="34" charset="-122"/>
                          <a:cs typeface="Calibri" pitchFamily="34" charset="-120"/>
                        </a:rPr>
                        <a:t>−0.42</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r>
              <a:tr h="384048">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GPT-5.4</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r" indent="0" marL="0">
                        <a:buNone/>
                      </a:pPr>
                      <a:r>
                        <a:rPr lang="en-US" sz="1200" dirty="0">
                          <a:solidFill>
                            <a:srgbClr val="F4F4F5"/>
                          </a:solidFill>
                          <a:latin typeface="Calibri" pitchFamily="34" charset="0"/>
                          <a:ea typeface="Calibri" pitchFamily="34" charset="-122"/>
                          <a:cs typeface="Calibri" pitchFamily="34" charset="-120"/>
                        </a:rPr>
                        <a:t>0.86</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r" indent="0" marL="0">
                        <a:buNone/>
                      </a:pPr>
                      <a:r>
                        <a:rPr lang="en-US" sz="1200" dirty="0">
                          <a:solidFill>
                            <a:srgbClr val="F4F4F5"/>
                          </a:solidFill>
                          <a:latin typeface="Calibri" pitchFamily="34" charset="0"/>
                          <a:ea typeface="Calibri" pitchFamily="34" charset="-122"/>
                          <a:cs typeface="Calibri" pitchFamily="34" charset="-120"/>
                        </a:rPr>
                        <a:t>0.90</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r" indent="0" marL="0">
                        <a:buNone/>
                      </a:pPr>
                      <a:r>
                        <a:rPr lang="en-US" sz="1200" dirty="0">
                          <a:solidFill>
                            <a:srgbClr val="F4F4F5"/>
                          </a:solidFill>
                          <a:latin typeface="Calibri" pitchFamily="34" charset="0"/>
                          <a:ea typeface="Calibri" pitchFamily="34" charset="-122"/>
                          <a:cs typeface="Calibri" pitchFamily="34" charset="-120"/>
                        </a:rPr>
                        <a:t>−0.55</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r>
              <a:tr h="384048">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Gemini 3.1 Pro</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r" indent="0" marL="0">
                        <a:buNone/>
                      </a:pPr>
                      <a:r>
                        <a:rPr lang="en-US" sz="1200" dirty="0">
                          <a:solidFill>
                            <a:srgbClr val="F4F4F5"/>
                          </a:solidFill>
                          <a:latin typeface="Calibri" pitchFamily="34" charset="0"/>
                          <a:ea typeface="Calibri" pitchFamily="34" charset="-122"/>
                          <a:cs typeface="Calibri" pitchFamily="34" charset="-120"/>
                        </a:rPr>
                        <a:t>0.85</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r" indent="0" marL="0">
                        <a:buNone/>
                      </a:pPr>
                      <a:r>
                        <a:rPr lang="en-US" sz="1200" dirty="0">
                          <a:solidFill>
                            <a:srgbClr val="F4F4F5"/>
                          </a:solidFill>
                          <a:latin typeface="Calibri" pitchFamily="34" charset="0"/>
                          <a:ea typeface="Calibri" pitchFamily="34" charset="-122"/>
                          <a:cs typeface="Calibri" pitchFamily="34" charset="-120"/>
                        </a:rPr>
                        <a:t>0.95</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r" indent="0" marL="0">
                        <a:buNone/>
                      </a:pPr>
                      <a:r>
                        <a:rPr lang="en-US" sz="1200" dirty="0">
                          <a:solidFill>
                            <a:srgbClr val="F4F4F5"/>
                          </a:solidFill>
                          <a:latin typeface="Calibri" pitchFamily="34" charset="0"/>
                          <a:ea typeface="Calibri" pitchFamily="34" charset="-122"/>
                          <a:cs typeface="Calibri" pitchFamily="34" charset="-120"/>
                        </a:rPr>
                        <a:t>−0.52</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r>
              <a:tr h="384048">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GPT-5.4 Mini</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r" indent="0" marL="0">
                        <a:buNone/>
                      </a:pPr>
                      <a:r>
                        <a:rPr lang="en-US" sz="1200" dirty="0">
                          <a:solidFill>
                            <a:srgbClr val="F4F4F5"/>
                          </a:solidFill>
                          <a:latin typeface="Calibri" pitchFamily="34" charset="0"/>
                          <a:ea typeface="Calibri" pitchFamily="34" charset="-122"/>
                          <a:cs typeface="Calibri" pitchFamily="34" charset="-120"/>
                        </a:rPr>
                        <a:t>0.79</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r" indent="0" marL="0">
                        <a:buNone/>
                      </a:pPr>
                      <a:r>
                        <a:rPr lang="en-US" sz="1200" dirty="0">
                          <a:solidFill>
                            <a:srgbClr val="F4F4F5"/>
                          </a:solidFill>
                          <a:latin typeface="Calibri" pitchFamily="34" charset="0"/>
                          <a:ea typeface="Calibri" pitchFamily="34" charset="-122"/>
                          <a:cs typeface="Calibri" pitchFamily="34" charset="-120"/>
                        </a:rPr>
                        <a:t>1.25</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r" indent="0" marL="0">
                        <a:buNone/>
                      </a:pPr>
                      <a:r>
                        <a:rPr lang="en-US" sz="1200" dirty="0">
                          <a:solidFill>
                            <a:srgbClr val="F4F4F5"/>
                          </a:solidFill>
                          <a:latin typeface="Calibri" pitchFamily="34" charset="0"/>
                          <a:ea typeface="Calibri" pitchFamily="34" charset="-122"/>
                          <a:cs typeface="Calibri" pitchFamily="34" charset="-120"/>
                        </a:rPr>
                        <a:t>−0.80</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r>
              <a:tr h="384048">
                <a:tc>
                  <a:txBody>
                    <a:bodyPr/>
                    <a:lstStyle/>
                    <a:p>
                      <a:pPr algn="l" indent="0" marL="0">
                        <a:buNone/>
                      </a:pPr>
                      <a:r>
                        <a:rPr lang="en-US" sz="1200" dirty="0">
                          <a:solidFill>
                            <a:srgbClr val="F4F4F5"/>
                          </a:solidFill>
                          <a:latin typeface="Calibri" pitchFamily="34" charset="0"/>
                          <a:ea typeface="Calibri" pitchFamily="34" charset="-122"/>
                          <a:cs typeface="Calibri" pitchFamily="34" charset="-120"/>
                        </a:rPr>
                        <a:t>Gemini 3 Flash</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r" indent="0" marL="0">
                        <a:buNone/>
                      </a:pPr>
                      <a:r>
                        <a:rPr lang="en-US" sz="1200" dirty="0">
                          <a:solidFill>
                            <a:srgbClr val="F4F4F5"/>
                          </a:solidFill>
                          <a:latin typeface="Calibri" pitchFamily="34" charset="0"/>
                          <a:ea typeface="Calibri" pitchFamily="34" charset="-122"/>
                          <a:cs typeface="Calibri" pitchFamily="34" charset="-120"/>
                        </a:rPr>
                        <a:t>0.74</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r" indent="0" marL="0">
                        <a:buNone/>
                      </a:pPr>
                      <a:r>
                        <a:rPr lang="en-US" sz="1200" dirty="0">
                          <a:solidFill>
                            <a:srgbClr val="F4F4F5"/>
                          </a:solidFill>
                          <a:latin typeface="Calibri" pitchFamily="34" charset="0"/>
                          <a:ea typeface="Calibri" pitchFamily="34" charset="-122"/>
                          <a:cs typeface="Calibri" pitchFamily="34" charset="-120"/>
                        </a:rPr>
                        <a:t>1.48</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r" indent="0" marL="0">
                        <a:buNone/>
                      </a:pPr>
                      <a:r>
                        <a:rPr lang="en-US" sz="1200" dirty="0">
                          <a:solidFill>
                            <a:srgbClr val="F4F4F5"/>
                          </a:solidFill>
                          <a:latin typeface="Calibri" pitchFamily="34" charset="0"/>
                          <a:ea typeface="Calibri" pitchFamily="34" charset="-122"/>
                          <a:cs typeface="Calibri" pitchFamily="34" charset="-120"/>
                        </a:rPr>
                        <a:t>−1.02</a:t>
                      </a:r>
                      <a:endParaRPr lang="en-US" sz="12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r>
            </a:tbl>
          </a:graphicData>
        </a:graphic>
      </p:graphicFrame>
      <p:graphicFrame>
        <p:nvGraphicFramePr>
          <p:cNvPr id="6" name="Chart 0" descr=""/>
          <p:cNvGraphicFramePr/>
          <p:nvPr/>
        </p:nvGraphicFramePr>
        <p:xfrm>
          <a:off x="6675120" y="1325880"/>
          <a:ext cx="4937760" cy="420624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548640" y="5669280"/>
            <a:ext cx="11094415" cy="640080"/>
          </a:xfrm>
          <a:prstGeom prst="roundRect">
            <a:avLst>
              <a:gd name="adj" fmla="val 11429"/>
            </a:avLst>
          </a:prstGeom>
          <a:solidFill>
            <a:srgbClr val="B57820"/>
          </a:solidFill>
          <a:ln w="12700">
            <a:solidFill>
              <a:srgbClr val="E8A33D"/>
            </a:solidFill>
            <a:prstDash val="solid"/>
          </a:ln>
        </p:spPr>
      </p:sp>
      <p:sp>
        <p:nvSpPr>
          <p:cNvPr id="8" name="Shape 4"/>
          <p:cNvSpPr/>
          <p:nvPr/>
        </p:nvSpPr>
        <p:spPr>
          <a:xfrm>
            <a:off x="548640" y="5669280"/>
            <a:ext cx="91440" cy="640080"/>
          </a:xfrm>
          <a:prstGeom prst="rect">
            <a:avLst/>
          </a:prstGeom>
          <a:solidFill>
            <a:srgbClr val="E8A33D"/>
          </a:solidFill>
          <a:ln w="12700">
            <a:solidFill>
              <a:srgbClr val="E8A33D"/>
            </a:solidFill>
            <a:prstDash val="solid"/>
          </a:ln>
        </p:spPr>
      </p:sp>
      <p:sp>
        <p:nvSpPr>
          <p:cNvPr id="9" name="Text 5"/>
          <p:cNvSpPr/>
          <p:nvPr/>
        </p:nvSpPr>
        <p:spPr>
          <a:xfrm>
            <a:off x="822960" y="5669280"/>
            <a:ext cx="10637215" cy="64008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r = 0.92  </a:t>
            </a:r>
            <a:pPr algn="l" indent="0" marL="0">
              <a:buNone/>
            </a:pPr>
            <a:r>
              <a:rPr lang="en-US" sz="1400" dirty="0">
                <a:solidFill>
                  <a:srgbClr val="F4F4F5"/>
                </a:solidFill>
                <a:latin typeface="Calibri" pitchFamily="34" charset="0"/>
                <a:ea typeface="Calibri" pitchFamily="34" charset="-122"/>
                <a:cs typeface="Calibri" pitchFamily="34" charset="-120"/>
              </a:rPr>
              <a:t>improves on Bouali et al. (ICC = 0.76, earlier-gen models). All models show negative bias — systematic over-strictness, consistent with prior work.</a:t>
            </a:r>
            <a:endParaRPr lang="en-US" sz="1600" dirty="0"/>
          </a:p>
        </p:txBody>
      </p:sp>
      <p:sp>
        <p:nvSpPr>
          <p:cNvPr id="10" name="Shape 6"/>
          <p:cNvSpPr/>
          <p:nvPr/>
        </p:nvSpPr>
        <p:spPr>
          <a:xfrm>
            <a:off x="457200" y="6519672"/>
            <a:ext cx="11277295" cy="0"/>
          </a:xfrm>
          <a:prstGeom prst="line">
            <a:avLst/>
          </a:prstGeom>
          <a:noFill/>
          <a:ln w="9525">
            <a:solidFill>
              <a:srgbClr val="2D3138"/>
            </a:solidFill>
            <a:prstDash val="solid"/>
          </a:ln>
        </p:spPr>
      </p:sp>
      <p:sp>
        <p:nvSpPr>
          <p:cNvPr id="11" name="Text 7"/>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12" name="Text 8"/>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26 / 33</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RQ2 · Cost-Performance Tradeoff</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graphicFrame>
        <p:nvGraphicFramePr>
          <p:cNvPr id="4" name="Chart 0" descr=""/>
          <p:cNvGraphicFramePr/>
          <p:nvPr/>
        </p:nvGraphicFramePr>
        <p:xfrm>
          <a:off x="548640" y="1325880"/>
          <a:ext cx="685800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98080" y="1325880"/>
            <a:ext cx="4160520" cy="1078992"/>
          </a:xfrm>
          <a:prstGeom prst="roundRect">
            <a:avLst>
              <a:gd name="adj" fmla="val 10169"/>
            </a:avLst>
          </a:prstGeom>
          <a:solidFill>
            <a:srgbClr val="1A1D24"/>
          </a:solidFill>
          <a:ln w="9525">
            <a:solidFill>
              <a:srgbClr val="2D3138"/>
            </a:solidFill>
            <a:prstDash val="solid"/>
          </a:ln>
        </p:spPr>
      </p:sp>
      <p:sp>
        <p:nvSpPr>
          <p:cNvPr id="6" name="Shape 3"/>
          <p:cNvSpPr/>
          <p:nvPr/>
        </p:nvSpPr>
        <p:spPr>
          <a:xfrm>
            <a:off x="7699248" y="1490472"/>
            <a:ext cx="384048" cy="384048"/>
          </a:xfrm>
          <a:prstGeom prst="ellipse">
            <a:avLst/>
          </a:prstGeom>
          <a:solidFill>
            <a:srgbClr val="E8A33D"/>
          </a:solidFill>
          <a:ln w="15875">
            <a:solidFill>
              <a:srgbClr val="F5C161"/>
            </a:solidFill>
            <a:prstDash val="solid"/>
          </a:ln>
        </p:spPr>
      </p:sp>
      <p:sp>
        <p:nvSpPr>
          <p:cNvPr id="7" name="Text 4"/>
          <p:cNvSpPr/>
          <p:nvPr/>
        </p:nvSpPr>
        <p:spPr>
          <a:xfrm>
            <a:off x="7699248" y="149047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01</a:t>
            </a:r>
            <a:endParaRPr lang="en-US" sz="1300" dirty="0"/>
          </a:p>
        </p:txBody>
      </p:sp>
      <p:sp>
        <p:nvSpPr>
          <p:cNvPr id="8" name="Text 5"/>
          <p:cNvSpPr/>
          <p:nvPr/>
        </p:nvSpPr>
        <p:spPr>
          <a:xfrm>
            <a:off x="8174736" y="1453896"/>
            <a:ext cx="338328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$0.003 → $0.032</a:t>
            </a:r>
            <a:endParaRPr lang="en-US" sz="1600" dirty="0"/>
          </a:p>
        </p:txBody>
      </p:sp>
      <p:sp>
        <p:nvSpPr>
          <p:cNvPr id="9" name="Text 6"/>
          <p:cNvSpPr/>
          <p:nvPr/>
        </p:nvSpPr>
        <p:spPr>
          <a:xfrm>
            <a:off x="7754112" y="1947672"/>
            <a:ext cx="3703320" cy="365760"/>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10× cost span across the lineup, all operationally affordable.</a:t>
            </a:r>
            <a:endParaRPr lang="en-US" sz="1300" dirty="0"/>
          </a:p>
        </p:txBody>
      </p:sp>
      <p:sp>
        <p:nvSpPr>
          <p:cNvPr id="10" name="Shape 7"/>
          <p:cNvSpPr/>
          <p:nvPr/>
        </p:nvSpPr>
        <p:spPr>
          <a:xfrm>
            <a:off x="7498080" y="2523744"/>
            <a:ext cx="4160520" cy="1078992"/>
          </a:xfrm>
          <a:prstGeom prst="roundRect">
            <a:avLst>
              <a:gd name="adj" fmla="val 10169"/>
            </a:avLst>
          </a:prstGeom>
          <a:solidFill>
            <a:srgbClr val="1A1D24"/>
          </a:solidFill>
          <a:ln w="9525">
            <a:solidFill>
              <a:srgbClr val="2D3138"/>
            </a:solidFill>
            <a:prstDash val="solid"/>
          </a:ln>
        </p:spPr>
      </p:sp>
      <p:sp>
        <p:nvSpPr>
          <p:cNvPr id="11" name="Shape 8"/>
          <p:cNvSpPr/>
          <p:nvPr/>
        </p:nvSpPr>
        <p:spPr>
          <a:xfrm>
            <a:off x="7699248" y="2688336"/>
            <a:ext cx="384048" cy="384048"/>
          </a:xfrm>
          <a:prstGeom prst="ellipse">
            <a:avLst/>
          </a:prstGeom>
          <a:solidFill>
            <a:srgbClr val="E8A33D"/>
          </a:solidFill>
          <a:ln w="15875">
            <a:solidFill>
              <a:srgbClr val="F5C161"/>
            </a:solidFill>
            <a:prstDash val="solid"/>
          </a:ln>
        </p:spPr>
      </p:sp>
      <p:sp>
        <p:nvSpPr>
          <p:cNvPr id="12" name="Text 9"/>
          <p:cNvSpPr/>
          <p:nvPr/>
        </p:nvSpPr>
        <p:spPr>
          <a:xfrm>
            <a:off x="7699248" y="2688336"/>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02</a:t>
            </a:r>
            <a:endParaRPr lang="en-US" sz="1300" dirty="0"/>
          </a:p>
        </p:txBody>
      </p:sp>
      <p:sp>
        <p:nvSpPr>
          <p:cNvPr id="13" name="Text 10"/>
          <p:cNvSpPr/>
          <p:nvPr/>
        </p:nvSpPr>
        <p:spPr>
          <a:xfrm>
            <a:off x="8174736" y="2651760"/>
            <a:ext cx="338328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200-cohort total</a:t>
            </a:r>
            <a:endParaRPr lang="en-US" sz="1600" dirty="0"/>
          </a:p>
        </p:txBody>
      </p:sp>
      <p:sp>
        <p:nvSpPr>
          <p:cNvPr id="14" name="Text 11"/>
          <p:cNvSpPr/>
          <p:nvPr/>
        </p:nvSpPr>
        <p:spPr>
          <a:xfrm>
            <a:off x="7754112" y="3145536"/>
            <a:ext cx="3703320" cy="365760"/>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Entire grading bill ranges $0.60 → $6.40 per assignment.</a:t>
            </a:r>
            <a:endParaRPr lang="en-US" sz="1300" dirty="0"/>
          </a:p>
        </p:txBody>
      </p:sp>
      <p:sp>
        <p:nvSpPr>
          <p:cNvPr id="15" name="Shape 12"/>
          <p:cNvSpPr/>
          <p:nvPr/>
        </p:nvSpPr>
        <p:spPr>
          <a:xfrm>
            <a:off x="7498080" y="3721608"/>
            <a:ext cx="4160520" cy="1078992"/>
          </a:xfrm>
          <a:prstGeom prst="roundRect">
            <a:avLst>
              <a:gd name="adj" fmla="val 10169"/>
            </a:avLst>
          </a:prstGeom>
          <a:solidFill>
            <a:srgbClr val="1A1D24"/>
          </a:solidFill>
          <a:ln w="9525">
            <a:solidFill>
              <a:srgbClr val="2D3138"/>
            </a:solidFill>
            <a:prstDash val="solid"/>
          </a:ln>
        </p:spPr>
      </p:sp>
      <p:sp>
        <p:nvSpPr>
          <p:cNvPr id="16" name="Shape 13"/>
          <p:cNvSpPr/>
          <p:nvPr/>
        </p:nvSpPr>
        <p:spPr>
          <a:xfrm>
            <a:off x="7699248" y="3886200"/>
            <a:ext cx="384048" cy="384048"/>
          </a:xfrm>
          <a:prstGeom prst="ellipse">
            <a:avLst/>
          </a:prstGeom>
          <a:solidFill>
            <a:srgbClr val="E8A33D"/>
          </a:solidFill>
          <a:ln w="15875">
            <a:solidFill>
              <a:srgbClr val="F5C161"/>
            </a:solidFill>
            <a:prstDash val="solid"/>
          </a:ln>
        </p:spPr>
      </p:sp>
      <p:sp>
        <p:nvSpPr>
          <p:cNvPr id="17" name="Text 14"/>
          <p:cNvSpPr/>
          <p:nvPr/>
        </p:nvSpPr>
        <p:spPr>
          <a:xfrm>
            <a:off x="7699248" y="3886200"/>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03</a:t>
            </a:r>
            <a:endParaRPr lang="en-US" sz="1300" dirty="0"/>
          </a:p>
        </p:txBody>
      </p:sp>
      <p:sp>
        <p:nvSpPr>
          <p:cNvPr id="18" name="Text 15"/>
          <p:cNvSpPr/>
          <p:nvPr/>
        </p:nvSpPr>
        <p:spPr>
          <a:xfrm>
            <a:off x="8174736" y="3849624"/>
            <a:ext cx="338328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Sweet spot: Sonnet 4.6</a:t>
            </a:r>
            <a:endParaRPr lang="en-US" sz="1600" dirty="0"/>
          </a:p>
        </p:txBody>
      </p:sp>
      <p:sp>
        <p:nvSpPr>
          <p:cNvPr id="19" name="Text 16"/>
          <p:cNvSpPr/>
          <p:nvPr/>
        </p:nvSpPr>
        <p:spPr>
          <a:xfrm>
            <a:off x="7754112" y="4343400"/>
            <a:ext cx="3703320" cy="365760"/>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$0.018 / r = 0.89 — half Opus's cost, near-equal accuracy.</a:t>
            </a:r>
            <a:endParaRPr lang="en-US" sz="1300" dirty="0"/>
          </a:p>
        </p:txBody>
      </p:sp>
      <p:sp>
        <p:nvSpPr>
          <p:cNvPr id="20" name="Shape 17"/>
          <p:cNvSpPr/>
          <p:nvPr/>
        </p:nvSpPr>
        <p:spPr>
          <a:xfrm>
            <a:off x="7498080" y="4919472"/>
            <a:ext cx="4160520" cy="1078992"/>
          </a:xfrm>
          <a:prstGeom prst="roundRect">
            <a:avLst>
              <a:gd name="adj" fmla="val 10169"/>
            </a:avLst>
          </a:prstGeom>
          <a:solidFill>
            <a:srgbClr val="1A1D24"/>
          </a:solidFill>
          <a:ln w="9525">
            <a:solidFill>
              <a:srgbClr val="2D3138"/>
            </a:solidFill>
            <a:prstDash val="solid"/>
          </a:ln>
        </p:spPr>
      </p:sp>
      <p:sp>
        <p:nvSpPr>
          <p:cNvPr id="21" name="Shape 18"/>
          <p:cNvSpPr/>
          <p:nvPr/>
        </p:nvSpPr>
        <p:spPr>
          <a:xfrm>
            <a:off x="7699248" y="5084064"/>
            <a:ext cx="384048" cy="384048"/>
          </a:xfrm>
          <a:prstGeom prst="ellipse">
            <a:avLst/>
          </a:prstGeom>
          <a:solidFill>
            <a:srgbClr val="E8A33D"/>
          </a:solidFill>
          <a:ln w="15875">
            <a:solidFill>
              <a:srgbClr val="F5C161"/>
            </a:solidFill>
            <a:prstDash val="solid"/>
          </a:ln>
        </p:spPr>
      </p:sp>
      <p:sp>
        <p:nvSpPr>
          <p:cNvPr id="22" name="Text 19"/>
          <p:cNvSpPr/>
          <p:nvPr/>
        </p:nvSpPr>
        <p:spPr>
          <a:xfrm>
            <a:off x="7699248" y="5084064"/>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04</a:t>
            </a:r>
            <a:endParaRPr lang="en-US" sz="1300" dirty="0"/>
          </a:p>
        </p:txBody>
      </p:sp>
      <p:sp>
        <p:nvSpPr>
          <p:cNvPr id="23" name="Text 20"/>
          <p:cNvSpPr/>
          <p:nvPr/>
        </p:nvSpPr>
        <p:spPr>
          <a:xfrm>
            <a:off x="8174736" y="5047488"/>
            <a:ext cx="338328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Within-provider gap is tight</a:t>
            </a:r>
            <a:endParaRPr lang="en-US" sz="1600" dirty="0"/>
          </a:p>
        </p:txBody>
      </p:sp>
      <p:sp>
        <p:nvSpPr>
          <p:cNvPr id="24" name="Text 21"/>
          <p:cNvSpPr/>
          <p:nvPr/>
        </p:nvSpPr>
        <p:spPr>
          <a:xfrm>
            <a:off x="7754112" y="5541264"/>
            <a:ext cx="3703320" cy="365760"/>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Institutions can choose by budget without sacrificing quality.</a:t>
            </a:r>
            <a:endParaRPr lang="en-US" sz="1300" dirty="0"/>
          </a:p>
        </p:txBody>
      </p:sp>
      <p:sp>
        <p:nvSpPr>
          <p:cNvPr id="25" name="Shape 22"/>
          <p:cNvSpPr/>
          <p:nvPr/>
        </p:nvSpPr>
        <p:spPr>
          <a:xfrm>
            <a:off x="457200" y="6519672"/>
            <a:ext cx="11277295" cy="0"/>
          </a:xfrm>
          <a:prstGeom prst="line">
            <a:avLst/>
          </a:prstGeom>
          <a:noFill/>
          <a:ln w="9525">
            <a:solidFill>
              <a:srgbClr val="2D3138"/>
            </a:solidFill>
            <a:prstDash val="solid"/>
          </a:ln>
        </p:spPr>
      </p:sp>
      <p:sp>
        <p:nvSpPr>
          <p:cNvPr id="26" name="Text 23"/>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27" name="Text 24"/>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27 / 33</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RQ3 · Consistency  +  RQ4 · Structured Output</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Text 2"/>
          <p:cNvSpPr/>
          <p:nvPr/>
        </p:nvSpPr>
        <p:spPr>
          <a:xfrm>
            <a:off x="548640" y="1280160"/>
            <a:ext cx="5486400" cy="292608"/>
          </a:xfrm>
          <a:prstGeom prst="rect">
            <a:avLst/>
          </a:prstGeom>
          <a:noFill/>
          <a:ln/>
        </p:spPr>
        <p:txBody>
          <a:bodyPr wrap="square" lIns="0" tIns="0" rIns="0" bIns="0" rtlCol="0" anchor="ctr"/>
          <a:lstStyle/>
          <a:p>
            <a:pPr algn="l" indent="0" marL="0">
              <a:buNone/>
            </a:pPr>
            <a:r>
              <a:rPr lang="en-US" sz="1300" b="1" dirty="0">
                <a:solidFill>
                  <a:srgbClr val="F5C161"/>
                </a:solidFill>
                <a:latin typeface="Calibri" pitchFamily="34" charset="0"/>
                <a:ea typeface="Calibri" pitchFamily="34" charset="-122"/>
                <a:cs typeface="Calibri" pitchFamily="34" charset="-120"/>
              </a:rPr>
              <a:t>RQ3  ·  Inter-run consistency</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5486400" cy="914400"/>
        </p:xfrm>
        <a:graphic>
          <a:graphicData uri="http://schemas.openxmlformats.org/drawingml/2006/table">
            <a:tbl>
              <a:tblPr/>
              <a:tblGrid>
                <a:gridCol w="3108960"/>
                <a:gridCol w="1188720"/>
                <a:gridCol w="1188720"/>
              </a:tblGrid>
              <a:tr h="411480">
                <a:tc>
                  <a:txBody>
                    <a:bodyPr/>
                    <a:lstStyle/>
                    <a:p>
                      <a:pPr algn="l" indent="0" marL="0">
                        <a:buNone/>
                      </a:pPr>
                      <a:r>
                        <a:rPr lang="en-US" sz="1350" b="1" dirty="0">
                          <a:solidFill>
                            <a:srgbClr val="F4F4F5"/>
                          </a:solidFill>
                          <a:latin typeface="Calibri" pitchFamily="34" charset="0"/>
                          <a:ea typeface="Calibri" pitchFamily="34" charset="-122"/>
                          <a:cs typeface="Calibri" pitchFamily="34" charset="-120"/>
                        </a:rPr>
                        <a:t>Model</a:t>
                      </a:r>
                      <a:endParaRPr lang="en-US" sz="13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r" indent="0" marL="0">
                        <a:buNone/>
                      </a:pPr>
                      <a:r>
                        <a:rPr lang="en-US" sz="1350" b="1" dirty="0">
                          <a:solidFill>
                            <a:srgbClr val="F4F4F5"/>
                          </a:solidFill>
                          <a:latin typeface="Calibri" pitchFamily="34" charset="0"/>
                          <a:ea typeface="Calibri" pitchFamily="34" charset="-122"/>
                          <a:cs typeface="Calibri" pitchFamily="34" charset="-120"/>
                        </a:rPr>
                        <a:t>Mean σ</a:t>
                      </a:r>
                      <a:endParaRPr lang="en-US" sz="13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r" indent="0" marL="0">
                        <a:buNone/>
                      </a:pPr>
                      <a:r>
                        <a:rPr lang="en-US" sz="1350" b="1" dirty="0">
                          <a:solidFill>
                            <a:srgbClr val="F4F4F5"/>
                          </a:solidFill>
                          <a:latin typeface="Calibri" pitchFamily="34" charset="0"/>
                          <a:ea typeface="Calibri" pitchFamily="34" charset="-122"/>
                          <a:cs typeface="Calibri" pitchFamily="34" charset="-120"/>
                        </a:rPr>
                        <a:t>Max σ</a:t>
                      </a:r>
                      <a:endParaRPr lang="en-US" sz="13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r>
              <a:tr h="411480">
                <a:tc>
                  <a:txBody>
                    <a:bodyPr/>
                    <a:lstStyle/>
                    <a:p>
                      <a:pPr algn="l" indent="0" marL="0">
                        <a:buNone/>
                      </a:pPr>
                      <a:r>
                        <a:rPr lang="en-US" sz="1300" b="1" dirty="0">
                          <a:solidFill>
                            <a:srgbClr val="F4F4F5"/>
                          </a:solidFill>
                          <a:latin typeface="Calibri" pitchFamily="34" charset="0"/>
                          <a:ea typeface="Calibri" pitchFamily="34" charset="-122"/>
                          <a:cs typeface="Calibri" pitchFamily="34" charset="-120"/>
                        </a:rPr>
                        <a:t>Claude Opus 4.6</a:t>
                      </a:r>
                      <a:endParaRPr lang="en-US" sz="13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r" indent="0" marL="0">
                        <a:buNone/>
                      </a:pPr>
                      <a:r>
                        <a:rPr lang="en-US" sz="1300" b="1" dirty="0">
                          <a:solidFill>
                            <a:srgbClr val="F4F4F5"/>
                          </a:solidFill>
                          <a:latin typeface="Calibri" pitchFamily="34" charset="0"/>
                          <a:ea typeface="Calibri" pitchFamily="34" charset="-122"/>
                          <a:cs typeface="Calibri" pitchFamily="34" charset="-120"/>
                        </a:rPr>
                        <a:t>0.16</a:t>
                      </a:r>
                      <a:endParaRPr lang="en-US" sz="13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r" indent="0" marL="0">
                        <a:buNone/>
                      </a:pPr>
                      <a:r>
                        <a:rPr lang="en-US" sz="1300" b="1" dirty="0">
                          <a:solidFill>
                            <a:srgbClr val="F4F4F5"/>
                          </a:solidFill>
                          <a:latin typeface="Calibri" pitchFamily="34" charset="0"/>
                          <a:ea typeface="Calibri" pitchFamily="34" charset="-122"/>
                          <a:cs typeface="Calibri" pitchFamily="34" charset="-120"/>
                        </a:rPr>
                        <a:t>0.50</a:t>
                      </a:r>
                      <a:endParaRPr lang="en-US" sz="13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r>
              <a:tr h="411480">
                <a:tc>
                  <a:txBody>
                    <a:bodyPr/>
                    <a:lstStyle/>
                    <a:p>
                      <a:pPr algn="l" indent="0" marL="0">
                        <a:buNone/>
                      </a:pPr>
                      <a:r>
                        <a:rPr lang="en-US" sz="1300" dirty="0">
                          <a:solidFill>
                            <a:srgbClr val="F4F4F5"/>
                          </a:solidFill>
                          <a:latin typeface="Calibri" pitchFamily="34" charset="0"/>
                          <a:ea typeface="Calibri" pitchFamily="34" charset="-122"/>
                          <a:cs typeface="Calibri" pitchFamily="34" charset="-120"/>
                        </a:rPr>
                        <a:t>Claude Sonnet 4.6</a:t>
                      </a:r>
                      <a:endParaRPr lang="en-US" sz="13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r" indent="0" marL="0">
                        <a:buNone/>
                      </a:pPr>
                      <a:r>
                        <a:rPr lang="en-US" sz="1300" dirty="0">
                          <a:solidFill>
                            <a:srgbClr val="F4F4F5"/>
                          </a:solidFill>
                          <a:latin typeface="Calibri" pitchFamily="34" charset="0"/>
                          <a:ea typeface="Calibri" pitchFamily="34" charset="-122"/>
                          <a:cs typeface="Calibri" pitchFamily="34" charset="-120"/>
                        </a:rPr>
                        <a:t>0.21</a:t>
                      </a:r>
                      <a:endParaRPr lang="en-US" sz="13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r" indent="0" marL="0">
                        <a:buNone/>
                      </a:pPr>
                      <a:r>
                        <a:rPr lang="en-US" sz="1300" dirty="0">
                          <a:solidFill>
                            <a:srgbClr val="F4F4F5"/>
                          </a:solidFill>
                          <a:latin typeface="Calibri" pitchFamily="34" charset="0"/>
                          <a:ea typeface="Calibri" pitchFamily="34" charset="-122"/>
                          <a:cs typeface="Calibri" pitchFamily="34" charset="-120"/>
                        </a:rPr>
                        <a:t>0.65</a:t>
                      </a:r>
                      <a:endParaRPr lang="en-US" sz="13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r>
              <a:tr h="411480">
                <a:tc>
                  <a:txBody>
                    <a:bodyPr/>
                    <a:lstStyle/>
                    <a:p>
                      <a:pPr algn="l" indent="0" marL="0">
                        <a:buNone/>
                      </a:pPr>
                      <a:r>
                        <a:rPr lang="en-US" sz="1300" dirty="0">
                          <a:solidFill>
                            <a:srgbClr val="F4F4F5"/>
                          </a:solidFill>
                          <a:latin typeface="Calibri" pitchFamily="34" charset="0"/>
                          <a:ea typeface="Calibri" pitchFamily="34" charset="-122"/>
                          <a:cs typeface="Calibri" pitchFamily="34" charset="-120"/>
                        </a:rPr>
                        <a:t>Gemini 3 Flash</a:t>
                      </a:r>
                      <a:endParaRPr lang="en-US" sz="13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r" indent="0" marL="0">
                        <a:buNone/>
                      </a:pPr>
                      <a:r>
                        <a:rPr lang="en-US" sz="1300" dirty="0">
                          <a:solidFill>
                            <a:srgbClr val="F4F4F5"/>
                          </a:solidFill>
                          <a:latin typeface="Calibri" pitchFamily="34" charset="0"/>
                          <a:ea typeface="Calibri" pitchFamily="34" charset="-122"/>
                          <a:cs typeface="Calibri" pitchFamily="34" charset="-120"/>
                        </a:rPr>
                        <a:t>0.48</a:t>
                      </a:r>
                      <a:endParaRPr lang="en-US" sz="13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r" indent="0" marL="0">
                        <a:buNone/>
                      </a:pPr>
                      <a:r>
                        <a:rPr lang="en-US" sz="1300" dirty="0">
                          <a:solidFill>
                            <a:srgbClr val="F4F4F5"/>
                          </a:solidFill>
                          <a:latin typeface="Calibri" pitchFamily="34" charset="0"/>
                          <a:ea typeface="Calibri" pitchFamily="34" charset="-122"/>
                          <a:cs typeface="Calibri" pitchFamily="34" charset="-120"/>
                        </a:rPr>
                        <a:t>1.60</a:t>
                      </a:r>
                      <a:endParaRPr lang="en-US" sz="13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r>
            </a:tbl>
          </a:graphicData>
        </a:graphic>
      </p:graphicFrame>
      <p:sp>
        <p:nvSpPr>
          <p:cNvPr id="6" name="Text 3"/>
          <p:cNvSpPr/>
          <p:nvPr/>
        </p:nvSpPr>
        <p:spPr>
          <a:xfrm>
            <a:off x="548640" y="3383280"/>
            <a:ext cx="5486400" cy="292608"/>
          </a:xfrm>
          <a:prstGeom prst="rect">
            <a:avLst/>
          </a:prstGeom>
          <a:noFill/>
          <a:ln/>
        </p:spPr>
        <p:txBody>
          <a:bodyPr wrap="square" lIns="0" tIns="0" rIns="0" bIns="0" rtlCol="0" anchor="ctr"/>
          <a:lstStyle/>
          <a:p>
            <a:pPr algn="l" indent="0" marL="0">
              <a:buNone/>
            </a:pPr>
            <a:r>
              <a:rPr lang="en-US" sz="1100" i="1" dirty="0">
                <a:solidFill>
                  <a:srgbClr val="6B7280"/>
                </a:solidFill>
                <a:latin typeface="Calibri" pitchFamily="34" charset="0"/>
                <a:ea typeface="Calibri" pitchFamily="34" charset="-122"/>
                <a:cs typeface="Calibri" pitchFamily="34" charset="-120"/>
              </a:rPr>
              <a:t>Lower σ = more reliable across re-runs</a:t>
            </a:r>
            <a:endParaRPr lang="en-US" sz="1100" dirty="0"/>
          </a:p>
        </p:txBody>
      </p:sp>
      <p:sp>
        <p:nvSpPr>
          <p:cNvPr id="7" name="Text 4"/>
          <p:cNvSpPr/>
          <p:nvPr/>
        </p:nvSpPr>
        <p:spPr>
          <a:xfrm>
            <a:off x="6400800" y="1280160"/>
            <a:ext cx="5242255" cy="292608"/>
          </a:xfrm>
          <a:prstGeom prst="rect">
            <a:avLst/>
          </a:prstGeom>
          <a:noFill/>
          <a:ln/>
        </p:spPr>
        <p:txBody>
          <a:bodyPr wrap="square" lIns="0" tIns="0" rIns="0" bIns="0" rtlCol="0" anchor="ctr"/>
          <a:lstStyle/>
          <a:p>
            <a:pPr algn="l" indent="0" marL="0">
              <a:buNone/>
            </a:pPr>
            <a:r>
              <a:rPr lang="en-US" sz="1300" b="1" dirty="0">
                <a:solidFill>
                  <a:srgbClr val="F5C161"/>
                </a:solidFill>
                <a:latin typeface="Calibri" pitchFamily="34" charset="0"/>
                <a:ea typeface="Calibri" pitchFamily="34" charset="-122"/>
                <a:cs typeface="Calibri" pitchFamily="34" charset="-120"/>
              </a:rPr>
              <a:t>RQ4  ·  Structured-output parse rate</a:t>
            </a:r>
            <a:endParaRPr lang="en-US" sz="1300" dirty="0"/>
          </a:p>
        </p:txBody>
      </p:sp>
      <p:sp>
        <p:nvSpPr>
          <p:cNvPr id="8" name="Shape 5"/>
          <p:cNvSpPr/>
          <p:nvPr/>
        </p:nvSpPr>
        <p:spPr>
          <a:xfrm>
            <a:off x="6400800" y="1627632"/>
            <a:ext cx="5242255" cy="640080"/>
          </a:xfrm>
          <a:prstGeom prst="roundRect">
            <a:avLst>
              <a:gd name="adj" fmla="val 11429"/>
            </a:avLst>
          </a:prstGeom>
          <a:solidFill>
            <a:srgbClr val="1A1D24"/>
          </a:solidFill>
          <a:ln w="6350">
            <a:solidFill>
              <a:srgbClr val="2D3138"/>
            </a:solidFill>
            <a:prstDash val="solid"/>
          </a:ln>
        </p:spPr>
      </p:sp>
      <p:sp>
        <p:nvSpPr>
          <p:cNvPr id="9" name="Text 6"/>
          <p:cNvSpPr/>
          <p:nvPr/>
        </p:nvSpPr>
        <p:spPr>
          <a:xfrm>
            <a:off x="6537960" y="1627632"/>
            <a:ext cx="1828800" cy="640080"/>
          </a:xfrm>
          <a:prstGeom prst="rect">
            <a:avLst/>
          </a:prstGeom>
          <a:noFill/>
          <a:ln/>
        </p:spPr>
        <p:txBody>
          <a:bodyPr wrap="square" lIns="0" tIns="0" rIns="0" bIns="0" rtlCol="0" anchor="ctr"/>
          <a:lstStyle/>
          <a:p>
            <a:pPr algn="l" indent="0" marL="0">
              <a:buNone/>
            </a:pPr>
            <a:r>
              <a:rPr lang="en-US" sz="2600" b="1" dirty="0">
                <a:solidFill>
                  <a:srgbClr val="E8A33D"/>
                </a:solidFill>
                <a:latin typeface="Calibri" pitchFamily="34" charset="0"/>
                <a:ea typeface="Calibri" pitchFamily="34" charset="-122"/>
                <a:cs typeface="Calibri" pitchFamily="34" charset="-120"/>
              </a:rPr>
              <a:t>100%</a:t>
            </a:r>
            <a:endParaRPr lang="en-US" sz="2600" dirty="0"/>
          </a:p>
        </p:txBody>
      </p:sp>
      <p:sp>
        <p:nvSpPr>
          <p:cNvPr id="10" name="Text 7"/>
          <p:cNvSpPr/>
          <p:nvPr/>
        </p:nvSpPr>
        <p:spPr>
          <a:xfrm>
            <a:off x="8412480" y="1627632"/>
            <a:ext cx="3139135" cy="640080"/>
          </a:xfrm>
          <a:prstGeom prst="rect">
            <a:avLst/>
          </a:prstGeom>
          <a:noFill/>
          <a:ln/>
        </p:spPr>
        <p:txBody>
          <a:bodyPr wrap="square" lIns="0" tIns="0" rIns="0" bIns="0" rtlCol="0" anchor="ctr"/>
          <a:lstStyle/>
          <a:p>
            <a:pPr algn="l" indent="0" marL="0">
              <a:buNone/>
            </a:pPr>
            <a:r>
              <a:rPr lang="en-US" sz="1400" dirty="0">
                <a:solidFill>
                  <a:srgbClr val="F4F4F5"/>
                </a:solidFill>
                <a:latin typeface="Calibri" pitchFamily="34" charset="0"/>
                <a:ea typeface="Calibri" pitchFamily="34" charset="-122"/>
                <a:cs typeface="Calibri" pitchFamily="34" charset="-120"/>
              </a:rPr>
              <a:t>Claude Opus / Sonnet</a:t>
            </a:r>
            <a:endParaRPr lang="en-US" sz="1400" dirty="0"/>
          </a:p>
        </p:txBody>
      </p:sp>
      <p:sp>
        <p:nvSpPr>
          <p:cNvPr id="11" name="Shape 8"/>
          <p:cNvSpPr/>
          <p:nvPr/>
        </p:nvSpPr>
        <p:spPr>
          <a:xfrm>
            <a:off x="6400800" y="2404872"/>
            <a:ext cx="5242255" cy="640080"/>
          </a:xfrm>
          <a:prstGeom prst="roundRect">
            <a:avLst>
              <a:gd name="adj" fmla="val 11429"/>
            </a:avLst>
          </a:prstGeom>
          <a:solidFill>
            <a:srgbClr val="1A1D24"/>
          </a:solidFill>
          <a:ln w="6350">
            <a:solidFill>
              <a:srgbClr val="2D3138"/>
            </a:solidFill>
            <a:prstDash val="solid"/>
          </a:ln>
        </p:spPr>
      </p:sp>
      <p:sp>
        <p:nvSpPr>
          <p:cNvPr id="12" name="Text 9"/>
          <p:cNvSpPr/>
          <p:nvPr/>
        </p:nvSpPr>
        <p:spPr>
          <a:xfrm>
            <a:off x="6537960" y="2404872"/>
            <a:ext cx="1828800" cy="640080"/>
          </a:xfrm>
          <a:prstGeom prst="rect">
            <a:avLst/>
          </a:prstGeom>
          <a:noFill/>
          <a:ln/>
        </p:spPr>
        <p:txBody>
          <a:bodyPr wrap="square" lIns="0" tIns="0" rIns="0" bIns="0" rtlCol="0" anchor="ctr"/>
          <a:lstStyle/>
          <a:p>
            <a:pPr algn="l" indent="0" marL="0">
              <a:buNone/>
            </a:pPr>
            <a:r>
              <a:rPr lang="en-US" sz="2600" b="1" dirty="0">
                <a:solidFill>
                  <a:srgbClr val="F5C161"/>
                </a:solidFill>
                <a:latin typeface="Calibri" pitchFamily="34" charset="0"/>
                <a:ea typeface="Calibri" pitchFamily="34" charset="-122"/>
                <a:cs typeface="Calibri" pitchFamily="34" charset="-120"/>
              </a:rPr>
              <a:t>≥97.5%</a:t>
            </a:r>
            <a:endParaRPr lang="en-US" sz="2600" dirty="0"/>
          </a:p>
        </p:txBody>
      </p:sp>
      <p:sp>
        <p:nvSpPr>
          <p:cNvPr id="13" name="Text 10"/>
          <p:cNvSpPr/>
          <p:nvPr/>
        </p:nvSpPr>
        <p:spPr>
          <a:xfrm>
            <a:off x="8412480" y="2404872"/>
            <a:ext cx="3139135" cy="640080"/>
          </a:xfrm>
          <a:prstGeom prst="rect">
            <a:avLst/>
          </a:prstGeom>
          <a:noFill/>
          <a:ln/>
        </p:spPr>
        <p:txBody>
          <a:bodyPr wrap="square" lIns="0" tIns="0" rIns="0" bIns="0" rtlCol="0" anchor="ctr"/>
          <a:lstStyle/>
          <a:p>
            <a:pPr algn="l" indent="0" marL="0">
              <a:buNone/>
            </a:pPr>
            <a:r>
              <a:rPr lang="en-US" sz="1400" dirty="0">
                <a:solidFill>
                  <a:srgbClr val="F4F4F5"/>
                </a:solidFill>
                <a:latin typeface="Calibri" pitchFamily="34" charset="0"/>
                <a:ea typeface="Calibri" pitchFamily="34" charset="-122"/>
                <a:cs typeface="Calibri" pitchFamily="34" charset="-120"/>
              </a:rPr>
              <a:t>all flagship models</a:t>
            </a:r>
            <a:endParaRPr lang="en-US" sz="1400" dirty="0"/>
          </a:p>
        </p:txBody>
      </p:sp>
      <p:sp>
        <p:nvSpPr>
          <p:cNvPr id="14" name="Shape 11"/>
          <p:cNvSpPr/>
          <p:nvPr/>
        </p:nvSpPr>
        <p:spPr>
          <a:xfrm>
            <a:off x="6400800" y="3182112"/>
            <a:ext cx="5242255" cy="640080"/>
          </a:xfrm>
          <a:prstGeom prst="roundRect">
            <a:avLst>
              <a:gd name="adj" fmla="val 11429"/>
            </a:avLst>
          </a:prstGeom>
          <a:solidFill>
            <a:srgbClr val="1A1D24"/>
          </a:solidFill>
          <a:ln w="6350">
            <a:solidFill>
              <a:srgbClr val="2D3138"/>
            </a:solidFill>
            <a:prstDash val="solid"/>
          </a:ln>
        </p:spPr>
      </p:sp>
      <p:sp>
        <p:nvSpPr>
          <p:cNvPr id="15" name="Text 12"/>
          <p:cNvSpPr/>
          <p:nvPr/>
        </p:nvSpPr>
        <p:spPr>
          <a:xfrm>
            <a:off x="6537960" y="3182112"/>
            <a:ext cx="1828800" cy="640080"/>
          </a:xfrm>
          <a:prstGeom prst="rect">
            <a:avLst/>
          </a:prstGeom>
          <a:noFill/>
          <a:ln/>
        </p:spPr>
        <p:txBody>
          <a:bodyPr wrap="square" lIns="0" tIns="0" rIns="0" bIns="0" rtlCol="0" anchor="ctr"/>
          <a:lstStyle/>
          <a:p>
            <a:pPr algn="l" indent="0" marL="0">
              <a:buNone/>
            </a:pPr>
            <a:r>
              <a:rPr lang="en-US" sz="2600" b="1" dirty="0">
                <a:solidFill>
                  <a:srgbClr val="D86B6B"/>
                </a:solidFill>
                <a:latin typeface="Calibri" pitchFamily="34" charset="0"/>
                <a:ea typeface="Calibri" pitchFamily="34" charset="-122"/>
                <a:cs typeface="Calibri" pitchFamily="34" charset="-120"/>
              </a:rPr>
              <a:t>94.4%</a:t>
            </a:r>
            <a:endParaRPr lang="en-US" sz="2600" dirty="0"/>
          </a:p>
        </p:txBody>
      </p:sp>
      <p:sp>
        <p:nvSpPr>
          <p:cNvPr id="16" name="Text 13"/>
          <p:cNvSpPr/>
          <p:nvPr/>
        </p:nvSpPr>
        <p:spPr>
          <a:xfrm>
            <a:off x="8412480" y="3182112"/>
            <a:ext cx="3139135" cy="640080"/>
          </a:xfrm>
          <a:prstGeom prst="rect">
            <a:avLst/>
          </a:prstGeom>
          <a:noFill/>
          <a:ln/>
        </p:spPr>
        <p:txBody>
          <a:bodyPr wrap="square" lIns="0" tIns="0" rIns="0" bIns="0" rtlCol="0" anchor="ctr"/>
          <a:lstStyle/>
          <a:p>
            <a:pPr algn="l" indent="0" marL="0">
              <a:buNone/>
            </a:pPr>
            <a:r>
              <a:rPr lang="en-US" sz="1400" dirty="0">
                <a:solidFill>
                  <a:srgbClr val="F4F4F5"/>
                </a:solidFill>
                <a:latin typeface="Calibri" pitchFamily="34" charset="0"/>
                <a:ea typeface="Calibri" pitchFamily="34" charset="-122"/>
                <a:cs typeface="Calibri" pitchFamily="34" charset="-120"/>
              </a:rPr>
              <a:t>Gemini 3 Flash · truncated reasoning</a:t>
            </a:r>
            <a:endParaRPr lang="en-US" sz="1400" dirty="0"/>
          </a:p>
        </p:txBody>
      </p:sp>
      <p:sp>
        <p:nvSpPr>
          <p:cNvPr id="17" name="Shape 14"/>
          <p:cNvSpPr/>
          <p:nvPr/>
        </p:nvSpPr>
        <p:spPr>
          <a:xfrm>
            <a:off x="548640" y="4206240"/>
            <a:ext cx="11094415" cy="1691640"/>
          </a:xfrm>
          <a:prstGeom prst="roundRect">
            <a:avLst>
              <a:gd name="adj" fmla="val 5405"/>
            </a:avLst>
          </a:prstGeom>
          <a:solidFill>
            <a:srgbClr val="20242C"/>
          </a:solidFill>
          <a:ln w="12700">
            <a:solidFill>
              <a:srgbClr val="E8A33D"/>
            </a:solidFill>
            <a:prstDash val="solid"/>
          </a:ln>
        </p:spPr>
      </p:sp>
      <p:sp>
        <p:nvSpPr>
          <p:cNvPr id="18" name="Shape 15"/>
          <p:cNvSpPr/>
          <p:nvPr/>
        </p:nvSpPr>
        <p:spPr>
          <a:xfrm>
            <a:off x="548640" y="4206240"/>
            <a:ext cx="109728" cy="1691640"/>
          </a:xfrm>
          <a:prstGeom prst="rect">
            <a:avLst/>
          </a:prstGeom>
          <a:solidFill>
            <a:srgbClr val="E8A33D"/>
          </a:solidFill>
          <a:ln w="12700">
            <a:solidFill>
              <a:srgbClr val="E8A33D"/>
            </a:solidFill>
            <a:prstDash val="solid"/>
          </a:ln>
        </p:spPr>
      </p:sp>
      <p:sp>
        <p:nvSpPr>
          <p:cNvPr id="19" name="Text 16"/>
          <p:cNvSpPr/>
          <p:nvPr/>
        </p:nvSpPr>
        <p:spPr>
          <a:xfrm>
            <a:off x="914400" y="4389120"/>
            <a:ext cx="10545775" cy="1325880"/>
          </a:xfrm>
          <a:prstGeom prst="rect">
            <a:avLst/>
          </a:prstGeom>
          <a:noFill/>
          <a:ln/>
        </p:spPr>
        <p:txBody>
          <a:bodyPr wrap="square" lIns="0" tIns="0" rIns="0" bIns="0" rtlCol="0" anchor="t"/>
          <a:lstStyle/>
          <a:p>
            <a:pPr algn="l" indent="0" marL="0">
              <a:spcAft>
                <a:spcPts val="500"/>
              </a:spcAft>
              <a:buNone/>
            </a:pPr>
            <a:r>
              <a:rPr lang="en-US" sz="1600" b="1" dirty="0">
                <a:solidFill>
                  <a:srgbClr val="F5C161"/>
                </a:solidFill>
                <a:latin typeface="Calibri" pitchFamily="34" charset="0"/>
                <a:ea typeface="Calibri" pitchFamily="34" charset="-122"/>
                <a:cs typeface="Calibri" pitchFamily="34" charset="-120"/>
              </a:rPr>
              <a:t>Why both findings matter:  </a:t>
            </a:r>
            <a:endParaRPr lang="en-US" sz="1600" dirty="0"/>
          </a:p>
          <a:p>
            <a:pPr algn="l" indent="0" marL="0">
              <a:spcAft>
                <a:spcPts val="500"/>
              </a:spcAft>
              <a:buNone/>
            </a:pPr>
            <a:r>
              <a:rPr lang="en-US" sz="400" dirty="0">
                <a:solidFill>
                  <a:srgbClr val="F4F4F5"/>
                </a:solidFill>
                <a:latin typeface="Calibri" pitchFamily="34" charset="0"/>
                <a:ea typeface="Calibri" pitchFamily="34" charset="-122"/>
                <a:cs typeface="Calibri" pitchFamily="34" charset="-120"/>
              </a:rPr>
              <a:t> </a:t>
            </a:r>
            <a:endParaRPr lang="en-US" sz="1600" dirty="0"/>
          </a:p>
          <a:p>
            <a:pPr algn="l" indent="0" marL="0">
              <a:spcAft>
                <a:spcPts val="500"/>
              </a:spcAft>
              <a:buNone/>
            </a:pPr>
            <a:r>
              <a:rPr lang="en-US" sz="1400" dirty="0">
                <a:solidFill>
                  <a:srgbClr val="F4F4F5"/>
                </a:solidFill>
                <a:latin typeface="Calibri" pitchFamily="34" charset="0"/>
                <a:ea typeface="Calibri" pitchFamily="34" charset="-122"/>
                <a:cs typeface="Calibri" pitchFamily="34" charset="-120"/>
              </a:rPr>
              <a:t>Opus's σ = 0.16 sits well below the 1.5-point ceiling that would mean two students could receive grades a full letter apart on the same submission. Combined with 100% parse rate, the API-level structured-output enforcement and temperature 0.0 protocol have effectively resolved the format-compliance problem flagged by </a:t>
            </a:r>
            <a:pPr algn="l" indent="0" marL="0">
              <a:spcAft>
                <a:spcPts val="500"/>
              </a:spcAft>
              <a:buNone/>
            </a:pPr>
            <a:r>
              <a:rPr lang="en-US" sz="1400" i="1" dirty="0">
                <a:solidFill>
                  <a:srgbClr val="F5C161"/>
                </a:solidFill>
                <a:latin typeface="Calibri" pitchFamily="34" charset="0"/>
                <a:ea typeface="Calibri" pitchFamily="34" charset="-122"/>
                <a:cs typeface="Calibri" pitchFamily="34" charset="-120"/>
              </a:rPr>
              <a:t>Piscitelli et al. (2025)</a:t>
            </a:r>
            <a:pPr algn="l" indent="0" marL="0">
              <a:spcAft>
                <a:spcPts val="500"/>
              </a:spcAft>
              <a:buNone/>
            </a:pPr>
            <a:r>
              <a:rPr lang="en-US" sz="1400" dirty="0">
                <a:solidFill>
                  <a:srgbClr val="F4F4F5"/>
                </a:solidFill>
                <a:latin typeface="Calibri" pitchFamily="34" charset="0"/>
                <a:ea typeface="Calibri" pitchFamily="34" charset="-122"/>
                <a:cs typeface="Calibri" pitchFamily="34" charset="-120"/>
              </a:rPr>
              <a:t>.</a:t>
            </a:r>
            <a:endParaRPr lang="en-US" sz="1600" dirty="0"/>
          </a:p>
        </p:txBody>
      </p:sp>
      <p:sp>
        <p:nvSpPr>
          <p:cNvPr id="20" name="Shape 17"/>
          <p:cNvSpPr/>
          <p:nvPr/>
        </p:nvSpPr>
        <p:spPr>
          <a:xfrm>
            <a:off x="457200" y="6519672"/>
            <a:ext cx="11277295" cy="0"/>
          </a:xfrm>
          <a:prstGeom prst="line">
            <a:avLst/>
          </a:prstGeom>
          <a:noFill/>
          <a:ln w="9525">
            <a:solidFill>
              <a:srgbClr val="2D3138"/>
            </a:solidFill>
            <a:prstDash val="solid"/>
          </a:ln>
        </p:spPr>
      </p:sp>
      <p:sp>
        <p:nvSpPr>
          <p:cNvPr id="21" name="Text 18"/>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22" name="Text 19"/>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28 / 33</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Aggregate Ranking &amp; Recommendation</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914400"/>
                <a:gridCol w="3200400"/>
                <a:gridCol w="2286000"/>
                <a:gridCol w="4693615"/>
              </a:tblGrid>
              <a:tr h="502920">
                <a:tc>
                  <a:txBody>
                    <a:bodyPr/>
                    <a:lstStyle/>
                    <a:p>
                      <a:pPr algn="l" indent="0" marL="0">
                        <a:buNone/>
                      </a:pPr>
                      <a:r>
                        <a:rPr lang="en-US" sz="1300" b="1" dirty="0">
                          <a:solidFill>
                            <a:srgbClr val="F4F4F5"/>
                          </a:solidFill>
                          <a:latin typeface="Calibri" pitchFamily="34" charset="0"/>
                          <a:ea typeface="Calibri" pitchFamily="34" charset="-122"/>
                          <a:cs typeface="Calibri" pitchFamily="34" charset="-120"/>
                        </a:rPr>
                        <a:t>Rank</a:t>
                      </a:r>
                      <a:endParaRPr lang="en-US" sz="13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l" indent="0" marL="0">
                        <a:buNone/>
                      </a:pPr>
                      <a:r>
                        <a:rPr lang="en-US" sz="1300" b="1" dirty="0">
                          <a:solidFill>
                            <a:srgbClr val="F4F4F5"/>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l" indent="0" marL="0">
                        <a:buNone/>
                      </a:pPr>
                      <a:r>
                        <a:rPr lang="en-US" sz="1300" b="1" dirty="0">
                          <a:solidFill>
                            <a:srgbClr val="F4F4F5"/>
                          </a:solidFill>
                          <a:latin typeface="Calibri" pitchFamily="34" charset="0"/>
                          <a:ea typeface="Calibri" pitchFamily="34" charset="-122"/>
                          <a:cs typeface="Calibri" pitchFamily="34" charset="-120"/>
                        </a:rPr>
                        <a:t>Weighted Score</a:t>
                      </a:r>
                      <a:endParaRPr lang="en-US" sz="13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l" indent="0" marL="0">
                        <a:buNone/>
                      </a:pPr>
                      <a:r>
                        <a:rPr lang="en-US" sz="1300" b="1" dirty="0">
                          <a:solidFill>
                            <a:srgbClr val="F4F4F5"/>
                          </a:solidFill>
                          <a:latin typeface="Calibri" pitchFamily="34" charset="0"/>
                          <a:ea typeface="Calibri" pitchFamily="34" charset="-122"/>
                          <a:cs typeface="Calibri" pitchFamily="34" charset="-120"/>
                        </a:rPr>
                        <a:t>Recommendation</a:t>
                      </a:r>
                      <a:endParaRPr lang="en-US" sz="130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r>
              <a:tr h="502920">
                <a:tc>
                  <a:txBody>
                    <a:bodyPr/>
                    <a:lstStyle/>
                    <a:p>
                      <a:pPr algn="l" indent="0" marL="0">
                        <a:buNone/>
                      </a:pPr>
                      <a:r>
                        <a:rPr lang="en-US" sz="1250" b="1" dirty="0">
                          <a:solidFill>
                            <a:srgbClr val="F4F4F5"/>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l" indent="0" marL="0">
                        <a:buNone/>
                      </a:pPr>
                      <a:r>
                        <a:rPr lang="en-US" sz="1250" b="1" dirty="0">
                          <a:solidFill>
                            <a:srgbClr val="F4F4F5"/>
                          </a:solidFill>
                          <a:latin typeface="Calibri" pitchFamily="34" charset="0"/>
                          <a:ea typeface="Calibri" pitchFamily="34" charset="-122"/>
                          <a:cs typeface="Calibri" pitchFamily="34" charset="-120"/>
                        </a:rPr>
                        <a:t>Claude Opus 4.6</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l" indent="0" marL="0">
                        <a:buNone/>
                      </a:pPr>
                      <a:r>
                        <a:rPr lang="en-US" sz="1250" b="1" dirty="0">
                          <a:solidFill>
                            <a:srgbClr val="F4F4F5"/>
                          </a:solidFill>
                          <a:latin typeface="Calibri" pitchFamily="34" charset="0"/>
                          <a:ea typeface="Calibri" pitchFamily="34" charset="-122"/>
                          <a:cs typeface="Calibri" pitchFamily="34" charset="-120"/>
                        </a:rPr>
                        <a:t>0.87</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l" indent="0" marL="0">
                        <a:buNone/>
                      </a:pPr>
                      <a:r>
                        <a:rPr lang="en-US" sz="1250" b="1" dirty="0">
                          <a:solidFill>
                            <a:srgbClr val="F4F4F5"/>
                          </a:solidFill>
                          <a:latin typeface="Calibri" pitchFamily="34" charset="0"/>
                          <a:ea typeface="Calibri" pitchFamily="34" charset="-122"/>
                          <a:cs typeface="Calibri" pitchFamily="34" charset="-120"/>
                        </a:rPr>
                        <a:t>Default for production deployment</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r>
              <a:tr h="502920">
                <a:tc>
                  <a:txBody>
                    <a:bodyPr/>
                    <a:lstStyle/>
                    <a:p>
                      <a:pPr algn="l" indent="0" marL="0">
                        <a:buNone/>
                      </a:pPr>
                      <a:r>
                        <a:rPr lang="en-US" sz="1250" b="1" dirty="0">
                          <a:solidFill>
                            <a:srgbClr val="F4F4F5"/>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l" indent="0" marL="0">
                        <a:buNone/>
                      </a:pPr>
                      <a:r>
                        <a:rPr lang="en-US" sz="1250" b="1" dirty="0">
                          <a:solidFill>
                            <a:srgbClr val="F4F4F5"/>
                          </a:solidFill>
                          <a:latin typeface="Calibri" pitchFamily="34" charset="0"/>
                          <a:ea typeface="Calibri" pitchFamily="34" charset="-122"/>
                          <a:cs typeface="Calibri" pitchFamily="34" charset="-120"/>
                        </a:rPr>
                        <a:t>Claude Sonnet 4.6</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l" indent="0" marL="0">
                        <a:buNone/>
                      </a:pPr>
                      <a:r>
                        <a:rPr lang="en-US" sz="1250" b="1" dirty="0">
                          <a:solidFill>
                            <a:srgbClr val="F4F4F5"/>
                          </a:solidFill>
                          <a:latin typeface="Calibri" pitchFamily="34" charset="0"/>
                          <a:ea typeface="Calibri" pitchFamily="34" charset="-122"/>
                          <a:cs typeface="Calibri" pitchFamily="34" charset="-120"/>
                        </a:rPr>
                        <a:t>0.87</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c>
                  <a:txBody>
                    <a:bodyPr/>
                    <a:lstStyle/>
                    <a:p>
                      <a:pPr algn="l" indent="0" marL="0">
                        <a:buNone/>
                      </a:pPr>
                      <a:r>
                        <a:rPr lang="en-US" sz="1250" b="1" dirty="0">
                          <a:solidFill>
                            <a:srgbClr val="F4F4F5"/>
                          </a:solidFill>
                          <a:latin typeface="Calibri" pitchFamily="34" charset="0"/>
                          <a:ea typeface="Calibri" pitchFamily="34" charset="-122"/>
                          <a:cs typeface="Calibri" pitchFamily="34" charset="-120"/>
                        </a:rPr>
                        <a:t>Cost-effective alternative</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B57820"/>
                    </a:solidFill>
                  </a:tcPr>
                </a:tc>
              </a:tr>
              <a:tr h="502920">
                <a:tc>
                  <a:txBody>
                    <a:bodyPr/>
                    <a:lstStyle/>
                    <a:p>
                      <a:pPr algn="l" indent="0" marL="0">
                        <a:buNone/>
                      </a:pPr>
                      <a:r>
                        <a:rPr lang="en-US" sz="1250" dirty="0">
                          <a:solidFill>
                            <a:srgbClr val="F4F4F5"/>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l" indent="0" marL="0">
                        <a:buNone/>
                      </a:pPr>
                      <a:r>
                        <a:rPr lang="en-US" sz="1250" dirty="0">
                          <a:solidFill>
                            <a:srgbClr val="F4F4F5"/>
                          </a:solidFill>
                          <a:latin typeface="Calibri" pitchFamily="34" charset="0"/>
                          <a:ea typeface="Calibri" pitchFamily="34" charset="-122"/>
                          <a:cs typeface="Calibri" pitchFamily="34" charset="-120"/>
                        </a:rPr>
                        <a:t>GPT-5.4</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l" indent="0" marL="0">
                        <a:buNone/>
                      </a:pPr>
                      <a:r>
                        <a:rPr lang="en-US" sz="1250" dirty="0">
                          <a:solidFill>
                            <a:srgbClr val="F4F4F5"/>
                          </a:solidFill>
                          <a:latin typeface="Calibri" pitchFamily="34" charset="0"/>
                          <a:ea typeface="Calibri" pitchFamily="34" charset="-122"/>
                          <a:cs typeface="Calibri" pitchFamily="34" charset="-120"/>
                        </a:rPr>
                        <a:t>0.84</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l" indent="0" marL="0">
                        <a:buNone/>
                      </a:pPr>
                      <a:r>
                        <a:rPr lang="en-US" sz="1250" dirty="0">
                          <a:solidFill>
                            <a:srgbClr val="F4F4F5"/>
                          </a:solidFill>
                          <a:latin typeface="Calibri" pitchFamily="34" charset="0"/>
                          <a:ea typeface="Calibri" pitchFamily="34" charset="-122"/>
                          <a:cs typeface="Calibri" pitchFamily="34" charset="-120"/>
                        </a:rPr>
                        <a:t>Fallback when Anthropic unavailable</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r>
              <a:tr h="502920">
                <a:tc>
                  <a:txBody>
                    <a:bodyPr/>
                    <a:lstStyle/>
                    <a:p>
                      <a:pPr algn="l" indent="0" marL="0">
                        <a:buNone/>
                      </a:pPr>
                      <a:r>
                        <a:rPr lang="en-US" sz="1250" dirty="0">
                          <a:solidFill>
                            <a:srgbClr val="F4F4F5"/>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l" indent="0" marL="0">
                        <a:buNone/>
                      </a:pPr>
                      <a:r>
                        <a:rPr lang="en-US" sz="1250" dirty="0">
                          <a:solidFill>
                            <a:srgbClr val="F4F4F5"/>
                          </a:solidFill>
                          <a:latin typeface="Calibri" pitchFamily="34" charset="0"/>
                          <a:ea typeface="Calibri" pitchFamily="34" charset="-122"/>
                          <a:cs typeface="Calibri" pitchFamily="34" charset="-120"/>
                        </a:rPr>
                        <a:t>Gemini 3.1 Pro</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l" indent="0" marL="0">
                        <a:buNone/>
                      </a:pPr>
                      <a:r>
                        <a:rPr lang="en-US" sz="1250" dirty="0">
                          <a:solidFill>
                            <a:srgbClr val="F4F4F5"/>
                          </a:solidFill>
                          <a:latin typeface="Calibri" pitchFamily="34" charset="0"/>
                          <a:ea typeface="Calibri" pitchFamily="34" charset="-122"/>
                          <a:cs typeface="Calibri" pitchFamily="34" charset="-120"/>
                        </a:rPr>
                        <a:t>0.83</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l" indent="0" marL="0">
                        <a:buNone/>
                      </a:pPr>
                      <a:r>
                        <a:rPr lang="en-US" sz="1250" dirty="0">
                          <a:solidFill>
                            <a:srgbClr val="F4F4F5"/>
                          </a:solidFill>
                          <a:latin typeface="Calibri" pitchFamily="34" charset="0"/>
                          <a:ea typeface="Calibri" pitchFamily="34" charset="-122"/>
                          <a:cs typeface="Calibri" pitchFamily="34" charset="-120"/>
                        </a:rPr>
                        <a:t>Not recommended</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r>
              <a:tr h="502920">
                <a:tc>
                  <a:txBody>
                    <a:bodyPr/>
                    <a:lstStyle/>
                    <a:p>
                      <a:pPr algn="l" indent="0" marL="0">
                        <a:buNone/>
                      </a:pPr>
                      <a:r>
                        <a:rPr lang="en-US" sz="1250" dirty="0">
                          <a:solidFill>
                            <a:srgbClr val="F4F4F5"/>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l" indent="0" marL="0">
                        <a:buNone/>
                      </a:pPr>
                      <a:r>
                        <a:rPr lang="en-US" sz="1250" dirty="0">
                          <a:solidFill>
                            <a:srgbClr val="F4F4F5"/>
                          </a:solidFill>
                          <a:latin typeface="Calibri" pitchFamily="34" charset="0"/>
                          <a:ea typeface="Calibri" pitchFamily="34" charset="-122"/>
                          <a:cs typeface="Calibri" pitchFamily="34" charset="-120"/>
                        </a:rPr>
                        <a:t>GPT-5.4 Mini</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l" indent="0" marL="0">
                        <a:buNone/>
                      </a:pPr>
                      <a:r>
                        <a:rPr lang="en-US" sz="1250" dirty="0">
                          <a:solidFill>
                            <a:srgbClr val="F4F4F5"/>
                          </a:solidFill>
                          <a:latin typeface="Calibri" pitchFamily="34" charset="0"/>
                          <a:ea typeface="Calibri" pitchFamily="34" charset="-122"/>
                          <a:cs typeface="Calibri" pitchFamily="34" charset="-120"/>
                        </a:rPr>
                        <a:t>0.80</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c>
                  <a:txBody>
                    <a:bodyPr/>
                    <a:lstStyle/>
                    <a:p>
                      <a:pPr algn="l" indent="0" marL="0">
                        <a:buNone/>
                      </a:pPr>
                      <a:r>
                        <a:rPr lang="en-US" sz="1250" dirty="0">
                          <a:solidFill>
                            <a:srgbClr val="F4F4F5"/>
                          </a:solidFill>
                          <a:latin typeface="Calibri" pitchFamily="34" charset="0"/>
                          <a:ea typeface="Calibri" pitchFamily="34" charset="-122"/>
                          <a:cs typeface="Calibri" pitchFamily="34" charset="-120"/>
                        </a:rPr>
                        <a:t>Not recommended</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20242C"/>
                    </a:solidFill>
                  </a:tcPr>
                </a:tc>
              </a:tr>
              <a:tr h="502920">
                <a:tc>
                  <a:txBody>
                    <a:bodyPr/>
                    <a:lstStyle/>
                    <a:p>
                      <a:pPr algn="l" indent="0" marL="0">
                        <a:buNone/>
                      </a:pPr>
                      <a:r>
                        <a:rPr lang="en-US" sz="1250" dirty="0">
                          <a:solidFill>
                            <a:srgbClr val="F4F4F5"/>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l" indent="0" marL="0">
                        <a:buNone/>
                      </a:pPr>
                      <a:r>
                        <a:rPr lang="en-US" sz="1250" dirty="0">
                          <a:solidFill>
                            <a:srgbClr val="F4F4F5"/>
                          </a:solidFill>
                          <a:latin typeface="Calibri" pitchFamily="34" charset="0"/>
                          <a:ea typeface="Calibri" pitchFamily="34" charset="-122"/>
                          <a:cs typeface="Calibri" pitchFamily="34" charset="-120"/>
                        </a:rPr>
                        <a:t>Gemini 3 Flash</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l" indent="0" marL="0">
                        <a:buNone/>
                      </a:pPr>
                      <a:r>
                        <a:rPr lang="en-US" sz="1250" dirty="0">
                          <a:solidFill>
                            <a:srgbClr val="F4F4F5"/>
                          </a:solidFill>
                          <a:latin typeface="Calibri" pitchFamily="34" charset="0"/>
                          <a:ea typeface="Calibri" pitchFamily="34" charset="-122"/>
                          <a:cs typeface="Calibri" pitchFamily="34" charset="-120"/>
                        </a:rPr>
                        <a:t>0.77</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c>
                  <a:txBody>
                    <a:bodyPr/>
                    <a:lstStyle/>
                    <a:p>
                      <a:pPr algn="l" indent="0" marL="0">
                        <a:buNone/>
                      </a:pPr>
                      <a:r>
                        <a:rPr lang="en-US" sz="1250" dirty="0">
                          <a:solidFill>
                            <a:srgbClr val="F4F4F5"/>
                          </a:solidFill>
                          <a:latin typeface="Calibri" pitchFamily="34" charset="0"/>
                          <a:ea typeface="Calibri" pitchFamily="34" charset="-122"/>
                          <a:cs typeface="Calibri" pitchFamily="34" charset="-120"/>
                        </a:rPr>
                        <a:t>Not recommended</a:t>
                      </a:r>
                      <a:endParaRPr lang="en-US" sz="1250" dirty="0">
                        <a:latin typeface="Calibri" charset="0"/>
                        <a:ea typeface="Calibri" charset="0"/>
                        <a:cs typeface="Calibri" charset="0"/>
                      </a:endParaRPr>
                    </a:p>
                  </a:txBody>
                  <a:tcPr marL="54864" marR="54864" marT="54864" marB="54864" anchor="ctr">
                    <a:lnL w="12700" cap="flat" cmpd="sng" algn="ctr">
                      <a:solidFill>
                        <a:srgbClr val="0F1115"/>
                      </a:solidFill>
                      <a:prstDash val="solid"/>
                      <a:round/>
                      <a:headEnd type="none" w="med" len="med"/>
                      <a:tailEnd type="none" w="med" len="med"/>
                    </a:lnL>
                    <a:lnR w="12700" cap="flat" cmpd="sng" algn="ctr">
                      <a:solidFill>
                        <a:srgbClr val="0F1115"/>
                      </a:solidFill>
                      <a:prstDash val="solid"/>
                      <a:round/>
                      <a:headEnd type="none" w="med" len="med"/>
                      <a:tailEnd type="none" w="med" len="med"/>
                    </a:lnR>
                    <a:lnT w="12700" cap="flat" cmpd="sng" algn="ctr">
                      <a:solidFill>
                        <a:srgbClr val="0F1115"/>
                      </a:solidFill>
                      <a:prstDash val="solid"/>
                      <a:round/>
                      <a:headEnd type="none" w="med" len="med"/>
                      <a:tailEnd type="none" w="med" len="med"/>
                    </a:lnT>
                    <a:lnB w="12700" cap="flat" cmpd="sng" algn="ctr">
                      <a:solidFill>
                        <a:srgbClr val="0F1115"/>
                      </a:solidFill>
                      <a:prstDash val="solid"/>
                      <a:round/>
                      <a:headEnd type="none" w="med" len="med"/>
                      <a:tailEnd type="none" w="med" len="med"/>
                    </a:lnB>
                    <a:solidFill>
                      <a:srgbClr val="1A1D24"/>
                    </a:solidFill>
                  </a:tcPr>
                </a:tc>
              </a:tr>
            </a:tbl>
          </a:graphicData>
        </a:graphic>
      </p:graphicFrame>
      <p:sp>
        <p:nvSpPr>
          <p:cNvPr id="5" name="Text 2"/>
          <p:cNvSpPr/>
          <p:nvPr/>
        </p:nvSpPr>
        <p:spPr>
          <a:xfrm>
            <a:off x="548640" y="5486400"/>
            <a:ext cx="11094415" cy="777240"/>
          </a:xfrm>
          <a:prstGeom prst="rect">
            <a:avLst/>
          </a:prstGeom>
          <a:noFill/>
          <a:ln/>
        </p:spPr>
        <p:txBody>
          <a:bodyPr wrap="square" lIns="0" tIns="0" rIns="0" bIns="0" rtlCol="0" anchor="ctr"/>
          <a:lstStyle/>
          <a:p>
            <a:pPr algn="l" indent="0" marL="0">
              <a:buNone/>
            </a:pPr>
            <a:r>
              <a:rPr lang="en-US" sz="1500" b="1" dirty="0">
                <a:solidFill>
                  <a:srgbClr val="F5C161"/>
                </a:solidFill>
                <a:latin typeface="Calibri" pitchFamily="34" charset="0"/>
                <a:ea typeface="Calibri" pitchFamily="34" charset="-122"/>
                <a:cs typeface="Calibri" pitchFamily="34" charset="-120"/>
              </a:rPr>
              <a:t>Tie at 0.87  —  </a:t>
            </a:r>
            <a:pPr algn="l" indent="0" marL="0">
              <a:buNone/>
            </a:pPr>
            <a:r>
              <a:rPr lang="en-US" sz="1400" dirty="0">
                <a:solidFill>
                  <a:srgbClr val="F4F4F5"/>
                </a:solidFill>
                <a:latin typeface="Calibri" pitchFamily="34" charset="0"/>
                <a:ea typeface="Calibri" pitchFamily="34" charset="-122"/>
                <a:cs typeface="Calibri" pitchFamily="34" charset="-120"/>
              </a:rPr>
              <a:t>Opus leads by &lt; 0.01 at full precision (driven by accuracy + consistency). Opus = production default; Sonnet = cost-effective alternative; GPT-5.4 = viable fallback.</a:t>
            </a:r>
            <a:endParaRPr lang="en-US" sz="1500" dirty="0"/>
          </a:p>
        </p:txBody>
      </p:sp>
      <p:sp>
        <p:nvSpPr>
          <p:cNvPr id="6" name="Shape 3"/>
          <p:cNvSpPr/>
          <p:nvPr/>
        </p:nvSpPr>
        <p:spPr>
          <a:xfrm>
            <a:off x="457200" y="6519672"/>
            <a:ext cx="11277295" cy="0"/>
          </a:xfrm>
          <a:prstGeom prst="line">
            <a:avLst/>
          </a:prstGeom>
          <a:noFill/>
          <a:ln w="9525">
            <a:solidFill>
              <a:srgbClr val="2D3138"/>
            </a:solidFill>
            <a:prstDash val="solid"/>
          </a:ln>
        </p:spPr>
      </p:sp>
      <p:sp>
        <p:nvSpPr>
          <p:cNvPr id="7" name="Text 4"/>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8" name="Text 5"/>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29 / 33</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Threats to Validity</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Shape 2"/>
          <p:cNvSpPr/>
          <p:nvPr/>
        </p:nvSpPr>
        <p:spPr>
          <a:xfrm>
            <a:off x="586588" y="1371600"/>
            <a:ext cx="3520440" cy="1920240"/>
          </a:xfrm>
          <a:prstGeom prst="roundRect">
            <a:avLst>
              <a:gd name="adj" fmla="val 5714"/>
            </a:avLst>
          </a:prstGeom>
          <a:solidFill>
            <a:srgbClr val="1A1D24"/>
          </a:solidFill>
          <a:ln w="9525">
            <a:solidFill>
              <a:srgbClr val="2D3138"/>
            </a:solidFill>
            <a:prstDash val="solid"/>
          </a:ln>
        </p:spPr>
      </p:sp>
      <p:sp>
        <p:nvSpPr>
          <p:cNvPr id="5" name="Shape 3"/>
          <p:cNvSpPr/>
          <p:nvPr/>
        </p:nvSpPr>
        <p:spPr>
          <a:xfrm>
            <a:off x="787756" y="1536192"/>
            <a:ext cx="384048" cy="384048"/>
          </a:xfrm>
          <a:prstGeom prst="ellipse">
            <a:avLst/>
          </a:prstGeom>
          <a:solidFill>
            <a:srgbClr val="E8A33D"/>
          </a:solidFill>
          <a:ln w="15875">
            <a:solidFill>
              <a:srgbClr val="F5C161"/>
            </a:solidFill>
            <a:prstDash val="solid"/>
          </a:ln>
        </p:spPr>
      </p:sp>
      <p:sp>
        <p:nvSpPr>
          <p:cNvPr id="6" name="Text 4"/>
          <p:cNvSpPr/>
          <p:nvPr/>
        </p:nvSpPr>
        <p:spPr>
          <a:xfrm>
            <a:off x="787756" y="153619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1263244" y="1499616"/>
            <a:ext cx="274320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Synthetic-heavy dataset</a:t>
            </a:r>
            <a:endParaRPr lang="en-US" sz="1600" dirty="0"/>
          </a:p>
        </p:txBody>
      </p:sp>
      <p:sp>
        <p:nvSpPr>
          <p:cNvPr id="8" name="Text 6"/>
          <p:cNvSpPr/>
          <p:nvPr/>
        </p:nvSpPr>
        <p:spPr>
          <a:xfrm>
            <a:off x="842620" y="1993392"/>
            <a:ext cx="3063240" cy="120700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Only 2 of 32 submissions are real student work.</a:t>
            </a:r>
            <a:endParaRPr lang="en-US" sz="1300" dirty="0"/>
          </a:p>
        </p:txBody>
      </p:sp>
      <p:sp>
        <p:nvSpPr>
          <p:cNvPr id="9" name="Shape 7"/>
          <p:cNvSpPr/>
          <p:nvPr/>
        </p:nvSpPr>
        <p:spPr>
          <a:xfrm>
            <a:off x="4335628" y="1371600"/>
            <a:ext cx="3520440" cy="1920240"/>
          </a:xfrm>
          <a:prstGeom prst="roundRect">
            <a:avLst>
              <a:gd name="adj" fmla="val 5714"/>
            </a:avLst>
          </a:prstGeom>
          <a:solidFill>
            <a:srgbClr val="1A1D24"/>
          </a:solidFill>
          <a:ln w="9525">
            <a:solidFill>
              <a:srgbClr val="2D3138"/>
            </a:solidFill>
            <a:prstDash val="solid"/>
          </a:ln>
        </p:spPr>
      </p:sp>
      <p:sp>
        <p:nvSpPr>
          <p:cNvPr id="10" name="Shape 8"/>
          <p:cNvSpPr/>
          <p:nvPr/>
        </p:nvSpPr>
        <p:spPr>
          <a:xfrm>
            <a:off x="4536796" y="1536192"/>
            <a:ext cx="384048" cy="384048"/>
          </a:xfrm>
          <a:prstGeom prst="ellipse">
            <a:avLst/>
          </a:prstGeom>
          <a:solidFill>
            <a:srgbClr val="E8A33D"/>
          </a:solidFill>
          <a:ln w="15875">
            <a:solidFill>
              <a:srgbClr val="F5C161"/>
            </a:solidFill>
            <a:prstDash val="solid"/>
          </a:ln>
        </p:spPr>
      </p:sp>
      <p:sp>
        <p:nvSpPr>
          <p:cNvPr id="11" name="Text 9"/>
          <p:cNvSpPr/>
          <p:nvPr/>
        </p:nvSpPr>
        <p:spPr>
          <a:xfrm>
            <a:off x="4536796" y="153619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02</a:t>
            </a:r>
            <a:endParaRPr lang="en-US" sz="1300" dirty="0"/>
          </a:p>
        </p:txBody>
      </p:sp>
      <p:sp>
        <p:nvSpPr>
          <p:cNvPr id="12" name="Text 10"/>
          <p:cNvSpPr/>
          <p:nvPr/>
        </p:nvSpPr>
        <p:spPr>
          <a:xfrm>
            <a:off x="5012284" y="1499616"/>
            <a:ext cx="274320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Single-grader ground truth</a:t>
            </a:r>
            <a:endParaRPr lang="en-US" sz="1600" dirty="0"/>
          </a:p>
        </p:txBody>
      </p:sp>
      <p:sp>
        <p:nvSpPr>
          <p:cNvPr id="13" name="Text 11"/>
          <p:cNvSpPr/>
          <p:nvPr/>
        </p:nvSpPr>
        <p:spPr>
          <a:xfrm>
            <a:off x="4591660" y="1993392"/>
            <a:ext cx="3063240" cy="120700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Most significant threat — no inter-rater reliability measured.</a:t>
            </a:r>
            <a:endParaRPr lang="en-US" sz="1300" dirty="0"/>
          </a:p>
        </p:txBody>
      </p:sp>
      <p:sp>
        <p:nvSpPr>
          <p:cNvPr id="14" name="Shape 12"/>
          <p:cNvSpPr/>
          <p:nvPr/>
        </p:nvSpPr>
        <p:spPr>
          <a:xfrm>
            <a:off x="8084668" y="1371600"/>
            <a:ext cx="3520440" cy="1920240"/>
          </a:xfrm>
          <a:prstGeom prst="roundRect">
            <a:avLst>
              <a:gd name="adj" fmla="val 5714"/>
            </a:avLst>
          </a:prstGeom>
          <a:solidFill>
            <a:srgbClr val="1A1D24"/>
          </a:solidFill>
          <a:ln w="9525">
            <a:solidFill>
              <a:srgbClr val="2D3138"/>
            </a:solidFill>
            <a:prstDash val="solid"/>
          </a:ln>
        </p:spPr>
      </p:sp>
      <p:sp>
        <p:nvSpPr>
          <p:cNvPr id="15" name="Shape 13"/>
          <p:cNvSpPr/>
          <p:nvPr/>
        </p:nvSpPr>
        <p:spPr>
          <a:xfrm>
            <a:off x="8285836" y="1536192"/>
            <a:ext cx="384048" cy="384048"/>
          </a:xfrm>
          <a:prstGeom prst="ellipse">
            <a:avLst/>
          </a:prstGeom>
          <a:solidFill>
            <a:srgbClr val="E8A33D"/>
          </a:solidFill>
          <a:ln w="15875">
            <a:solidFill>
              <a:srgbClr val="F5C161"/>
            </a:solidFill>
            <a:prstDash val="solid"/>
          </a:ln>
        </p:spPr>
      </p:sp>
      <p:sp>
        <p:nvSpPr>
          <p:cNvPr id="16" name="Text 14"/>
          <p:cNvSpPr/>
          <p:nvPr/>
        </p:nvSpPr>
        <p:spPr>
          <a:xfrm>
            <a:off x="8285836" y="153619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03</a:t>
            </a:r>
            <a:endParaRPr lang="en-US" sz="1300" dirty="0"/>
          </a:p>
        </p:txBody>
      </p:sp>
      <p:sp>
        <p:nvSpPr>
          <p:cNvPr id="17" name="Text 15"/>
          <p:cNvSpPr/>
          <p:nvPr/>
        </p:nvSpPr>
        <p:spPr>
          <a:xfrm>
            <a:off x="8761324" y="1499616"/>
            <a:ext cx="274320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Class diagrams only</a:t>
            </a:r>
            <a:endParaRPr lang="en-US" sz="1600" dirty="0"/>
          </a:p>
        </p:txBody>
      </p:sp>
      <p:sp>
        <p:nvSpPr>
          <p:cNvPr id="18" name="Text 16"/>
          <p:cNvSpPr/>
          <p:nvPr/>
        </p:nvSpPr>
        <p:spPr>
          <a:xfrm>
            <a:off x="8340700" y="1993392"/>
            <a:ext cx="3063240" cy="120700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Sequence / activity / state not yet evaluated.</a:t>
            </a:r>
            <a:endParaRPr lang="en-US" sz="1300" dirty="0"/>
          </a:p>
        </p:txBody>
      </p:sp>
      <p:sp>
        <p:nvSpPr>
          <p:cNvPr id="19" name="Shape 17"/>
          <p:cNvSpPr/>
          <p:nvPr/>
        </p:nvSpPr>
        <p:spPr>
          <a:xfrm>
            <a:off x="2461108" y="3520440"/>
            <a:ext cx="3520440" cy="1920240"/>
          </a:xfrm>
          <a:prstGeom prst="roundRect">
            <a:avLst>
              <a:gd name="adj" fmla="val 5714"/>
            </a:avLst>
          </a:prstGeom>
          <a:solidFill>
            <a:srgbClr val="1A1D24"/>
          </a:solidFill>
          <a:ln w="9525">
            <a:solidFill>
              <a:srgbClr val="2D3138"/>
            </a:solidFill>
            <a:prstDash val="solid"/>
          </a:ln>
        </p:spPr>
      </p:sp>
      <p:sp>
        <p:nvSpPr>
          <p:cNvPr id="20" name="Shape 18"/>
          <p:cNvSpPr/>
          <p:nvPr/>
        </p:nvSpPr>
        <p:spPr>
          <a:xfrm>
            <a:off x="2662276" y="3685032"/>
            <a:ext cx="384048" cy="384048"/>
          </a:xfrm>
          <a:prstGeom prst="ellipse">
            <a:avLst/>
          </a:prstGeom>
          <a:solidFill>
            <a:srgbClr val="E8A33D"/>
          </a:solidFill>
          <a:ln w="15875">
            <a:solidFill>
              <a:srgbClr val="F5C161"/>
            </a:solidFill>
            <a:prstDash val="solid"/>
          </a:ln>
        </p:spPr>
      </p:sp>
      <p:sp>
        <p:nvSpPr>
          <p:cNvPr id="21" name="Text 19"/>
          <p:cNvSpPr/>
          <p:nvPr/>
        </p:nvSpPr>
        <p:spPr>
          <a:xfrm>
            <a:off x="2662276" y="368503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04</a:t>
            </a:r>
            <a:endParaRPr lang="en-US" sz="1300" dirty="0"/>
          </a:p>
        </p:txBody>
      </p:sp>
      <p:sp>
        <p:nvSpPr>
          <p:cNvPr id="22" name="Text 20"/>
          <p:cNvSpPr/>
          <p:nvPr/>
        </p:nvSpPr>
        <p:spPr>
          <a:xfrm>
            <a:off x="3137764" y="3648456"/>
            <a:ext cx="274320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Conversion artefact</a:t>
            </a:r>
            <a:endParaRPr lang="en-US" sz="1600" dirty="0"/>
          </a:p>
        </p:txBody>
      </p:sp>
      <p:sp>
        <p:nvSpPr>
          <p:cNvPr id="23" name="Text 21"/>
          <p:cNvSpPr/>
          <p:nvPr/>
        </p:nvSpPr>
        <p:spPr>
          <a:xfrm>
            <a:off x="2717140" y="4142232"/>
            <a:ext cx="3063240" cy="120700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McGill submissions required Umple → PlantUML conversion.</a:t>
            </a:r>
            <a:endParaRPr lang="en-US" sz="1300" dirty="0"/>
          </a:p>
        </p:txBody>
      </p:sp>
      <p:sp>
        <p:nvSpPr>
          <p:cNvPr id="24" name="Shape 22"/>
          <p:cNvSpPr/>
          <p:nvPr/>
        </p:nvSpPr>
        <p:spPr>
          <a:xfrm>
            <a:off x="6210148" y="3520440"/>
            <a:ext cx="3520440" cy="1920240"/>
          </a:xfrm>
          <a:prstGeom prst="roundRect">
            <a:avLst>
              <a:gd name="adj" fmla="val 5714"/>
            </a:avLst>
          </a:prstGeom>
          <a:solidFill>
            <a:srgbClr val="1A1D24"/>
          </a:solidFill>
          <a:ln w="9525">
            <a:solidFill>
              <a:srgbClr val="2D3138"/>
            </a:solidFill>
            <a:prstDash val="solid"/>
          </a:ln>
        </p:spPr>
      </p:sp>
      <p:sp>
        <p:nvSpPr>
          <p:cNvPr id="25" name="Shape 23"/>
          <p:cNvSpPr/>
          <p:nvPr/>
        </p:nvSpPr>
        <p:spPr>
          <a:xfrm>
            <a:off x="6411316" y="3685032"/>
            <a:ext cx="384048" cy="384048"/>
          </a:xfrm>
          <a:prstGeom prst="ellipse">
            <a:avLst/>
          </a:prstGeom>
          <a:solidFill>
            <a:srgbClr val="E8A33D"/>
          </a:solidFill>
          <a:ln w="15875">
            <a:solidFill>
              <a:srgbClr val="F5C161"/>
            </a:solidFill>
            <a:prstDash val="solid"/>
          </a:ln>
        </p:spPr>
      </p:sp>
      <p:sp>
        <p:nvSpPr>
          <p:cNvPr id="26" name="Text 24"/>
          <p:cNvSpPr/>
          <p:nvPr/>
        </p:nvSpPr>
        <p:spPr>
          <a:xfrm>
            <a:off x="6411316" y="368503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05</a:t>
            </a:r>
            <a:endParaRPr lang="en-US" sz="1300" dirty="0"/>
          </a:p>
        </p:txBody>
      </p:sp>
      <p:sp>
        <p:nvSpPr>
          <p:cNvPr id="27" name="Text 25"/>
          <p:cNvSpPr/>
          <p:nvPr/>
        </p:nvSpPr>
        <p:spPr>
          <a:xfrm>
            <a:off x="6886804" y="3648456"/>
            <a:ext cx="2743200"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Model drift</a:t>
            </a:r>
            <a:endParaRPr lang="en-US" sz="1600" dirty="0"/>
          </a:p>
        </p:txBody>
      </p:sp>
      <p:sp>
        <p:nvSpPr>
          <p:cNvPr id="28" name="Text 26"/>
          <p:cNvSpPr/>
          <p:nvPr/>
        </p:nvSpPr>
        <p:spPr>
          <a:xfrm>
            <a:off x="6466180" y="4142232"/>
            <a:ext cx="3063240" cy="120700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Providers update models over time; results are a snapshot.</a:t>
            </a:r>
            <a:endParaRPr lang="en-US" sz="1300" dirty="0"/>
          </a:p>
        </p:txBody>
      </p:sp>
      <p:sp>
        <p:nvSpPr>
          <p:cNvPr id="29" name="Shape 27"/>
          <p:cNvSpPr/>
          <p:nvPr/>
        </p:nvSpPr>
        <p:spPr>
          <a:xfrm>
            <a:off x="548640" y="5852160"/>
            <a:ext cx="11094415" cy="502920"/>
          </a:xfrm>
          <a:prstGeom prst="roundRect">
            <a:avLst>
              <a:gd name="adj" fmla="val 14545"/>
            </a:avLst>
          </a:prstGeom>
          <a:solidFill>
            <a:srgbClr val="1A1D24"/>
          </a:solidFill>
          <a:ln w="9525">
            <a:solidFill>
              <a:srgbClr val="E8A33D"/>
            </a:solidFill>
            <a:prstDash val="solid"/>
          </a:ln>
        </p:spPr>
      </p:sp>
      <p:sp>
        <p:nvSpPr>
          <p:cNvPr id="30" name="Shape 28"/>
          <p:cNvSpPr/>
          <p:nvPr/>
        </p:nvSpPr>
        <p:spPr>
          <a:xfrm>
            <a:off x="548640" y="5852160"/>
            <a:ext cx="91440" cy="502920"/>
          </a:xfrm>
          <a:prstGeom prst="rect">
            <a:avLst/>
          </a:prstGeom>
          <a:solidFill>
            <a:srgbClr val="E8A33D"/>
          </a:solidFill>
          <a:ln w="12700">
            <a:solidFill>
              <a:srgbClr val="E8A33D"/>
            </a:solidFill>
            <a:prstDash val="solid"/>
          </a:ln>
        </p:spPr>
      </p:sp>
      <p:sp>
        <p:nvSpPr>
          <p:cNvPr id="31" name="Text 29"/>
          <p:cNvSpPr/>
          <p:nvPr/>
        </p:nvSpPr>
        <p:spPr>
          <a:xfrm>
            <a:off x="822960" y="5852160"/>
            <a:ext cx="10637215" cy="502920"/>
          </a:xfrm>
          <a:prstGeom prst="rect">
            <a:avLst/>
          </a:prstGeom>
          <a:noFill/>
          <a:ln/>
        </p:spPr>
        <p:txBody>
          <a:bodyPr wrap="square" lIns="0" tIns="0" rIns="0" bIns="0" rtlCol="0" anchor="ctr"/>
          <a:lstStyle/>
          <a:p>
            <a:pPr algn="l" indent="0" marL="0">
              <a:buNone/>
            </a:pPr>
            <a:r>
              <a:rPr lang="en-US" sz="1400" i="1" dirty="0">
                <a:solidFill>
                  <a:srgbClr val="F4F4F5"/>
                </a:solidFill>
                <a:latin typeface="Calibri" pitchFamily="34" charset="0"/>
                <a:ea typeface="Calibri" pitchFamily="34" charset="-122"/>
                <a:cs typeface="Calibri" pitchFamily="34" charset="-120"/>
              </a:rPr>
              <a:t>Future work prioritises real student data with multi-grader ground truth — see Section 05.</a:t>
            </a:r>
            <a:endParaRPr lang="en-US" sz="1400" dirty="0"/>
          </a:p>
        </p:txBody>
      </p:sp>
      <p:sp>
        <p:nvSpPr>
          <p:cNvPr id="32" name="Shape 30"/>
          <p:cNvSpPr/>
          <p:nvPr/>
        </p:nvSpPr>
        <p:spPr>
          <a:xfrm>
            <a:off x="457200" y="6519672"/>
            <a:ext cx="11277295" cy="0"/>
          </a:xfrm>
          <a:prstGeom prst="line">
            <a:avLst/>
          </a:prstGeom>
          <a:noFill/>
          <a:ln w="9525">
            <a:solidFill>
              <a:srgbClr val="2D3138"/>
            </a:solidFill>
            <a:prstDash val="solid"/>
          </a:ln>
        </p:spPr>
      </p:sp>
      <p:sp>
        <p:nvSpPr>
          <p:cNvPr id="33" name="Text 31"/>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34" name="Text 32"/>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30 / 33</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0D11"/>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3D"/>
          </a:solidFill>
          <a:ln w="12700">
            <a:solidFill>
              <a:srgbClr val="E8A33D"/>
            </a:solidFill>
            <a:prstDash val="solid"/>
          </a:ln>
        </p:spPr>
      </p:sp>
      <p:sp>
        <p:nvSpPr>
          <p:cNvPr id="3" name="Text 1"/>
          <p:cNvSpPr/>
          <p:nvPr/>
        </p:nvSpPr>
        <p:spPr>
          <a:xfrm>
            <a:off x="731520" y="1371600"/>
            <a:ext cx="5486400" cy="3200400"/>
          </a:xfrm>
          <a:prstGeom prst="rect">
            <a:avLst/>
          </a:prstGeom>
          <a:noFill/>
          <a:ln/>
        </p:spPr>
        <p:txBody>
          <a:bodyPr wrap="square" lIns="0" tIns="0" rIns="0" bIns="0" rtlCol="0" anchor="ctr"/>
          <a:lstStyle/>
          <a:p>
            <a:pPr algn="l" indent="0" marL="0">
              <a:buNone/>
            </a:pPr>
            <a:r>
              <a:rPr lang="en-US" sz="22000" b="1" spc="-800" kern="0" dirty="0">
                <a:solidFill>
                  <a:srgbClr val="E8A33D"/>
                </a:solidFill>
                <a:latin typeface="Calibri" pitchFamily="34" charset="0"/>
                <a:ea typeface="Calibri" pitchFamily="34" charset="-122"/>
                <a:cs typeface="Calibri" pitchFamily="34" charset="-120"/>
              </a:rPr>
              <a:t>05</a:t>
            </a:r>
            <a:endParaRPr lang="en-US" sz="22000" dirty="0"/>
          </a:p>
        </p:txBody>
      </p:sp>
      <p:sp>
        <p:nvSpPr>
          <p:cNvPr id="4" name="Text 2"/>
          <p:cNvSpPr/>
          <p:nvPr/>
        </p:nvSpPr>
        <p:spPr>
          <a:xfrm>
            <a:off x="777240" y="4297680"/>
            <a:ext cx="2743200" cy="365760"/>
          </a:xfrm>
          <a:prstGeom prst="rect">
            <a:avLst/>
          </a:prstGeom>
          <a:noFill/>
          <a:ln/>
        </p:spPr>
        <p:txBody>
          <a:bodyPr wrap="square" lIns="0" tIns="0" rIns="0" bIns="0" rtlCol="0" anchor="ctr"/>
          <a:lstStyle/>
          <a:p>
            <a:pPr algn="l" indent="0" marL="0">
              <a:buNone/>
            </a:pPr>
            <a:r>
              <a:rPr lang="en-US" sz="1400" b="1" spc="800" kern="0" dirty="0">
                <a:solidFill>
                  <a:srgbClr val="6B7280"/>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777240" y="4617720"/>
            <a:ext cx="10972800" cy="822960"/>
          </a:xfrm>
          <a:prstGeom prst="rect">
            <a:avLst/>
          </a:prstGeom>
          <a:noFill/>
          <a:ln/>
        </p:spPr>
        <p:txBody>
          <a:bodyPr wrap="square" lIns="0" tIns="0" rIns="0" bIns="0" rtlCol="0" anchor="ctr"/>
          <a:lstStyle/>
          <a:p>
            <a:pPr algn="l" indent="0" marL="0">
              <a:buNone/>
            </a:pPr>
            <a:r>
              <a:rPr lang="en-US" sz="4400" b="1" dirty="0">
                <a:solidFill>
                  <a:srgbClr val="F4F4F5"/>
                </a:solidFill>
                <a:latin typeface="Calibri" pitchFamily="34" charset="0"/>
                <a:ea typeface="Calibri" pitchFamily="34" charset="-122"/>
                <a:cs typeface="Calibri" pitchFamily="34" charset="-120"/>
              </a:rPr>
              <a:t>Conclusion</a:t>
            </a:r>
            <a:endParaRPr lang="en-US" sz="4400" dirty="0"/>
          </a:p>
        </p:txBody>
      </p:sp>
      <p:pic>
        <p:nvPicPr>
          <p:cNvPr id="6" name="Image 0" descr="preencoded.png">    </p:cNvPr>
          <p:cNvPicPr>
            <a:picLocks noChangeAspect="1"/>
          </p:cNvPicPr>
          <p:nvPr/>
        </p:nvPicPr>
        <p:blipFill>
          <a:blip r:embed="rId1">
            <a:alphaModFix amt="70000"/>
          </a:blip>
          <a:stretch>
            <a:fillRect/>
          </a:stretch>
        </p:blipFill>
        <p:spPr>
          <a:xfrm>
            <a:off x="9082735" y="914400"/>
            <a:ext cx="2377440" cy="2377440"/>
          </a:xfrm>
          <a:prstGeom prst="rect">
            <a:avLst/>
          </a:prstGeom>
        </p:spPr>
      </p:pic>
      <p:sp>
        <p:nvSpPr>
          <p:cNvPr id="7" name="Shape 4"/>
          <p:cNvSpPr/>
          <p:nvPr/>
        </p:nvSpPr>
        <p:spPr>
          <a:xfrm>
            <a:off x="777240" y="5852160"/>
            <a:ext cx="5943600" cy="0"/>
          </a:xfrm>
          <a:prstGeom prst="line">
            <a:avLst/>
          </a:prstGeom>
          <a:noFill/>
          <a:ln w="19050">
            <a:solidFill>
              <a:srgbClr val="E8A33D"/>
            </a:solidFill>
            <a:prstDash val="solid"/>
          </a:ln>
        </p:spPr>
      </p:sp>
      <p:sp>
        <p:nvSpPr>
          <p:cNvPr id="8" name="Text 5"/>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9" name="Text 6"/>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31 / 33</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lIns="0" tIns="0" rIns="0" bIns="0" rtlCol="0" anchor="ctr"/>
          <a:lstStyle/>
          <a:p>
            <a:pPr algn="l" indent="0" marL="0">
              <a:buNone/>
            </a:pPr>
            <a:r>
              <a:rPr lang="en-US" sz="3200" b="1" dirty="0">
                <a:solidFill>
                  <a:srgbClr val="F4F4F5"/>
                </a:solidFill>
                <a:latin typeface="Calibri" pitchFamily="34" charset="0"/>
                <a:ea typeface="Calibri" pitchFamily="34" charset="-122"/>
                <a:cs typeface="Calibri" pitchFamily="34" charset="-120"/>
              </a:rPr>
              <a:t>Summary &amp; Future Work</a:t>
            </a:r>
            <a:endParaRPr lang="en-US" sz="3200" dirty="0"/>
          </a:p>
        </p:txBody>
      </p:sp>
      <p:sp>
        <p:nvSpPr>
          <p:cNvPr id="3" name="Shape 1"/>
          <p:cNvSpPr/>
          <p:nvPr/>
        </p:nvSpPr>
        <p:spPr>
          <a:xfrm>
            <a:off x="292608" y="658368"/>
            <a:ext cx="146304" cy="146304"/>
          </a:xfrm>
          <a:prstGeom prst="ellipse">
            <a:avLst/>
          </a:prstGeom>
          <a:solidFill>
            <a:srgbClr val="E8A33D"/>
          </a:solidFill>
          <a:ln w="12700">
            <a:solidFill>
              <a:srgbClr val="E8A33D"/>
            </a:solidFill>
            <a:prstDash val="solid"/>
          </a:ln>
        </p:spPr>
      </p:sp>
      <p:sp>
        <p:nvSpPr>
          <p:cNvPr id="4" name="Shape 2"/>
          <p:cNvSpPr/>
          <p:nvPr/>
        </p:nvSpPr>
        <p:spPr>
          <a:xfrm>
            <a:off x="548640" y="1325880"/>
            <a:ext cx="5486400" cy="4937760"/>
          </a:xfrm>
          <a:prstGeom prst="roundRect">
            <a:avLst>
              <a:gd name="adj" fmla="val 2222"/>
            </a:avLst>
          </a:prstGeom>
          <a:solidFill>
            <a:srgbClr val="1A1D24"/>
          </a:solidFill>
          <a:ln w="9525">
            <a:solidFill>
              <a:srgbClr val="2D3138"/>
            </a:solidFill>
            <a:prstDash val="solid"/>
          </a:ln>
        </p:spPr>
      </p:sp>
      <p:sp>
        <p:nvSpPr>
          <p:cNvPr id="5" name="Text 3"/>
          <p:cNvSpPr/>
          <p:nvPr/>
        </p:nvSpPr>
        <p:spPr>
          <a:xfrm>
            <a:off x="822960" y="1508760"/>
            <a:ext cx="4937760" cy="41148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Delivered</a:t>
            </a:r>
            <a:endParaRPr lang="en-US" sz="1600" dirty="0"/>
          </a:p>
        </p:txBody>
      </p:sp>
      <p:sp>
        <p:nvSpPr>
          <p:cNvPr id="6" name="Text 4"/>
          <p:cNvSpPr/>
          <p:nvPr/>
        </p:nvSpPr>
        <p:spPr>
          <a:xfrm>
            <a:off x="822960" y="2011680"/>
            <a:ext cx="502920" cy="777240"/>
          </a:xfrm>
          <a:prstGeom prst="rect">
            <a:avLst/>
          </a:prstGeom>
          <a:noFill/>
          <a:ln/>
        </p:spPr>
        <p:txBody>
          <a:bodyPr wrap="square" lIns="0" tIns="0" rIns="0" bIns="0" rtlCol="0" anchor="ctr"/>
          <a:lstStyle/>
          <a:p>
            <a:pPr algn="ctr" indent="0" marL="0">
              <a:buNone/>
            </a:pPr>
            <a:r>
              <a:rPr lang="en-US" sz="1800" dirty="0">
                <a:solidFill>
                  <a:srgbClr val="F4F4F5"/>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417320" y="2011680"/>
            <a:ext cx="4389120" cy="777240"/>
          </a:xfrm>
          <a:prstGeom prst="rect">
            <a:avLst/>
          </a:prstGeom>
          <a:noFill/>
          <a:ln/>
        </p:spPr>
        <p:txBody>
          <a:bodyPr wrap="square" lIns="0" tIns="0" rIns="0" bIns="0" rtlCol="0" anchor="ctr"/>
          <a:lstStyle/>
          <a:p>
            <a:pPr algn="l" indent="0" marL="0">
              <a:buNone/>
            </a:pPr>
            <a:r>
              <a:rPr lang="en-US" sz="1400" dirty="0">
                <a:solidFill>
                  <a:srgbClr val="F4F4F5"/>
                </a:solidFill>
                <a:latin typeface="Calibri" pitchFamily="34" charset="0"/>
                <a:ea typeface="Calibri" pitchFamily="34" charset="-122"/>
                <a:cs typeface="Calibri" pitchFamily="34" charset="-120"/>
              </a:rPr>
              <a:t>Full-stack platform with end-to-end assessment lifecycle</a:t>
            </a:r>
            <a:pPr algn="l" indent="0" marL="0">
              <a:buNone/>
            </a:pPr>
            <a:r>
              <a:rPr lang="en-US" sz="1400" b="1" dirty="0">
                <a:solidFill>
                  <a:srgbClr val="F5C161"/>
                </a:solidFill>
                <a:latin typeface="Calibri" pitchFamily="34" charset="0"/>
                <a:ea typeface="Calibri" pitchFamily="34" charset="-122"/>
                <a:cs typeface="Calibri" pitchFamily="34" charset="-120"/>
              </a:rPr>
              <a:t>  [O1]</a:t>
            </a:r>
            <a:endParaRPr lang="en-US" sz="1400" dirty="0"/>
          </a:p>
        </p:txBody>
      </p:sp>
      <p:sp>
        <p:nvSpPr>
          <p:cNvPr id="8" name="Text 6"/>
          <p:cNvSpPr/>
          <p:nvPr/>
        </p:nvSpPr>
        <p:spPr>
          <a:xfrm>
            <a:off x="822960" y="2788920"/>
            <a:ext cx="502920" cy="777240"/>
          </a:xfrm>
          <a:prstGeom prst="rect">
            <a:avLst/>
          </a:prstGeom>
          <a:noFill/>
          <a:ln/>
        </p:spPr>
        <p:txBody>
          <a:bodyPr wrap="square" lIns="0" tIns="0" rIns="0" bIns="0" rtlCol="0" anchor="ctr"/>
          <a:lstStyle/>
          <a:p>
            <a:pPr algn="ctr" indent="0" marL="0">
              <a:buNone/>
            </a:pPr>
            <a:r>
              <a:rPr lang="en-US" sz="1800" dirty="0">
                <a:solidFill>
                  <a:srgbClr val="F4F4F5"/>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1417320" y="2788920"/>
            <a:ext cx="4389120" cy="777240"/>
          </a:xfrm>
          <a:prstGeom prst="rect">
            <a:avLst/>
          </a:prstGeom>
          <a:noFill/>
          <a:ln/>
        </p:spPr>
        <p:txBody>
          <a:bodyPr wrap="square" lIns="0" tIns="0" rIns="0" bIns="0" rtlCol="0" anchor="ctr"/>
          <a:lstStyle/>
          <a:p>
            <a:pPr algn="l" indent="0" marL="0">
              <a:buNone/>
            </a:pPr>
            <a:r>
              <a:rPr lang="en-US" sz="1400" dirty="0">
                <a:solidFill>
                  <a:srgbClr val="F4F4F5"/>
                </a:solidFill>
                <a:latin typeface="Calibri" pitchFamily="34" charset="0"/>
                <a:ea typeface="Calibri" pitchFamily="34" charset="-122"/>
                <a:cs typeface="Calibri" pitchFamily="34" charset="-120"/>
              </a:rPr>
              <a:t>Dual-modality LLM grading, 100% parse rate on Claude models</a:t>
            </a:r>
            <a:pPr algn="l" indent="0" marL="0">
              <a:buNone/>
            </a:pPr>
            <a:r>
              <a:rPr lang="en-US" sz="1400" b="1" dirty="0">
                <a:solidFill>
                  <a:srgbClr val="F5C161"/>
                </a:solidFill>
                <a:latin typeface="Calibri" pitchFamily="34" charset="0"/>
                <a:ea typeface="Calibri" pitchFamily="34" charset="-122"/>
                <a:cs typeface="Calibri" pitchFamily="34" charset="-120"/>
              </a:rPr>
              <a:t>  [O2]</a:t>
            </a:r>
            <a:endParaRPr lang="en-US" sz="1400" dirty="0"/>
          </a:p>
        </p:txBody>
      </p:sp>
      <p:sp>
        <p:nvSpPr>
          <p:cNvPr id="10" name="Text 8"/>
          <p:cNvSpPr/>
          <p:nvPr/>
        </p:nvSpPr>
        <p:spPr>
          <a:xfrm>
            <a:off x="822960" y="3566160"/>
            <a:ext cx="502920" cy="777240"/>
          </a:xfrm>
          <a:prstGeom prst="rect">
            <a:avLst/>
          </a:prstGeom>
          <a:noFill/>
          <a:ln/>
        </p:spPr>
        <p:txBody>
          <a:bodyPr wrap="square" lIns="0" tIns="0" rIns="0" bIns="0" rtlCol="0" anchor="ctr"/>
          <a:lstStyle/>
          <a:p>
            <a:pPr algn="ctr" indent="0" marL="0">
              <a:buNone/>
            </a:pPr>
            <a:r>
              <a:rPr lang="en-US" sz="1800" dirty="0">
                <a:solidFill>
                  <a:srgbClr val="F4F4F5"/>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1417320" y="3566160"/>
            <a:ext cx="4389120" cy="777240"/>
          </a:xfrm>
          <a:prstGeom prst="rect">
            <a:avLst/>
          </a:prstGeom>
          <a:noFill/>
          <a:ln/>
        </p:spPr>
        <p:txBody>
          <a:bodyPr wrap="square" lIns="0" tIns="0" rIns="0" bIns="0" rtlCol="0" anchor="ctr"/>
          <a:lstStyle/>
          <a:p>
            <a:pPr algn="l" indent="0" marL="0">
              <a:buNone/>
            </a:pPr>
            <a:r>
              <a:rPr lang="en-US" sz="1400" dirty="0">
                <a:solidFill>
                  <a:srgbClr val="F4F4F5"/>
                </a:solidFill>
                <a:latin typeface="Calibri" pitchFamily="34" charset="0"/>
                <a:ea typeface="Calibri" pitchFamily="34" charset="-122"/>
                <a:cs typeface="Calibri" pitchFamily="34" charset="-120"/>
              </a:rPr>
              <a:t>Empirical: Claude Opus 4.6 wins (r = 0.92), Sonnet best cost-quality</a:t>
            </a:r>
            <a:pPr algn="l" indent="0" marL="0">
              <a:buNone/>
            </a:pPr>
            <a:r>
              <a:rPr lang="en-US" sz="1400" b="1" dirty="0">
                <a:solidFill>
                  <a:srgbClr val="F5C161"/>
                </a:solidFill>
                <a:latin typeface="Calibri" pitchFamily="34" charset="0"/>
                <a:ea typeface="Calibri" pitchFamily="34" charset="-122"/>
                <a:cs typeface="Calibri" pitchFamily="34" charset="-120"/>
              </a:rPr>
              <a:t>  [O4]</a:t>
            </a:r>
            <a:endParaRPr lang="en-US" sz="1400" dirty="0"/>
          </a:p>
        </p:txBody>
      </p:sp>
      <p:sp>
        <p:nvSpPr>
          <p:cNvPr id="12" name="Text 10"/>
          <p:cNvSpPr/>
          <p:nvPr/>
        </p:nvSpPr>
        <p:spPr>
          <a:xfrm>
            <a:off x="822960" y="4343400"/>
            <a:ext cx="502920" cy="777240"/>
          </a:xfrm>
          <a:prstGeom prst="rect">
            <a:avLst/>
          </a:prstGeom>
          <a:noFill/>
          <a:ln/>
        </p:spPr>
        <p:txBody>
          <a:bodyPr wrap="square" lIns="0" tIns="0" rIns="0" bIns="0" rtlCol="0" anchor="ctr"/>
          <a:lstStyle/>
          <a:p>
            <a:pPr algn="ctr" indent="0" marL="0">
              <a:buNone/>
            </a:pPr>
            <a:r>
              <a:rPr lang="en-US" sz="1800" dirty="0">
                <a:solidFill>
                  <a:srgbClr val="F4F4F5"/>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1417320" y="4343400"/>
            <a:ext cx="4389120" cy="777240"/>
          </a:xfrm>
          <a:prstGeom prst="rect">
            <a:avLst/>
          </a:prstGeom>
          <a:noFill/>
          <a:ln/>
        </p:spPr>
        <p:txBody>
          <a:bodyPr wrap="square" lIns="0" tIns="0" rIns="0" bIns="0" rtlCol="0" anchor="ctr"/>
          <a:lstStyle/>
          <a:p>
            <a:pPr algn="l" indent="0" marL="0">
              <a:buNone/>
            </a:pPr>
            <a:r>
              <a:rPr lang="en-US" sz="1400" dirty="0">
                <a:solidFill>
                  <a:srgbClr val="F4F4F5"/>
                </a:solidFill>
                <a:latin typeface="Calibri" pitchFamily="34" charset="0"/>
                <a:ea typeface="Calibri" pitchFamily="34" charset="-122"/>
                <a:cs typeface="Calibri" pitchFamily="34" charset="-120"/>
              </a:rPr>
              <a:t>Two-panel grading UX — exact time saving pending user study</a:t>
            </a:r>
            <a:pPr algn="l" indent="0" marL="0">
              <a:buNone/>
            </a:pPr>
            <a:r>
              <a:rPr lang="en-US" sz="1400" b="1" dirty="0">
                <a:solidFill>
                  <a:srgbClr val="F5C161"/>
                </a:solidFill>
                <a:latin typeface="Calibri" pitchFamily="34" charset="0"/>
                <a:ea typeface="Calibri" pitchFamily="34" charset="-122"/>
                <a:cs typeface="Calibri" pitchFamily="34" charset="-120"/>
              </a:rPr>
              <a:t>  [O3]</a:t>
            </a:r>
            <a:endParaRPr lang="en-US" sz="1400" dirty="0"/>
          </a:p>
        </p:txBody>
      </p:sp>
      <p:sp>
        <p:nvSpPr>
          <p:cNvPr id="14" name="Text 12"/>
          <p:cNvSpPr/>
          <p:nvPr/>
        </p:nvSpPr>
        <p:spPr>
          <a:xfrm>
            <a:off x="822960" y="5120640"/>
            <a:ext cx="502920" cy="777240"/>
          </a:xfrm>
          <a:prstGeom prst="rect">
            <a:avLst/>
          </a:prstGeom>
          <a:noFill/>
          <a:ln/>
        </p:spPr>
        <p:txBody>
          <a:bodyPr wrap="square" lIns="0" tIns="0" rIns="0" bIns="0" rtlCol="0" anchor="ctr"/>
          <a:lstStyle/>
          <a:p>
            <a:pPr algn="ctr" indent="0" marL="0">
              <a:buNone/>
            </a:pPr>
            <a:r>
              <a:rPr lang="en-US" sz="1800" dirty="0">
                <a:solidFill>
                  <a:srgbClr val="F4F4F5"/>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1417320" y="5120640"/>
            <a:ext cx="4389120" cy="777240"/>
          </a:xfrm>
          <a:prstGeom prst="rect">
            <a:avLst/>
          </a:prstGeom>
          <a:noFill/>
          <a:ln/>
        </p:spPr>
        <p:txBody>
          <a:bodyPr wrap="square" lIns="0" tIns="0" rIns="0" bIns="0" rtlCol="0" anchor="ctr"/>
          <a:lstStyle/>
          <a:p>
            <a:pPr algn="l" indent="0" marL="0">
              <a:buNone/>
            </a:pPr>
            <a:r>
              <a:rPr lang="en-US" sz="1400" dirty="0">
                <a:solidFill>
                  <a:srgbClr val="F4F4F5"/>
                </a:solidFill>
                <a:latin typeface="Calibri" pitchFamily="34" charset="0"/>
                <a:ea typeface="Calibri" pitchFamily="34" charset="-122"/>
                <a:cs typeface="Calibri" pitchFamily="34" charset="-120"/>
              </a:rPr>
              <a:t>Containerised + k8s deployment — load-test under realistic exam load pending</a:t>
            </a:r>
            <a:pPr algn="l" indent="0" marL="0">
              <a:buNone/>
            </a:pPr>
            <a:r>
              <a:rPr lang="en-US" sz="1400" b="1" dirty="0">
                <a:solidFill>
                  <a:srgbClr val="F5C161"/>
                </a:solidFill>
                <a:latin typeface="Calibri" pitchFamily="34" charset="0"/>
                <a:ea typeface="Calibri" pitchFamily="34" charset="-122"/>
                <a:cs typeface="Calibri" pitchFamily="34" charset="-120"/>
              </a:rPr>
              <a:t>  [O5]</a:t>
            </a:r>
            <a:endParaRPr lang="en-US" sz="1400" dirty="0"/>
          </a:p>
        </p:txBody>
      </p:sp>
      <p:sp>
        <p:nvSpPr>
          <p:cNvPr id="16" name="Text 14"/>
          <p:cNvSpPr/>
          <p:nvPr/>
        </p:nvSpPr>
        <p:spPr>
          <a:xfrm>
            <a:off x="6263640" y="1371600"/>
            <a:ext cx="5379415" cy="36576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Future Work</a:t>
            </a:r>
            <a:endParaRPr lang="en-US" sz="1600" dirty="0"/>
          </a:p>
        </p:txBody>
      </p:sp>
      <p:sp>
        <p:nvSpPr>
          <p:cNvPr id="17" name="Shape 15"/>
          <p:cNvSpPr/>
          <p:nvPr/>
        </p:nvSpPr>
        <p:spPr>
          <a:xfrm>
            <a:off x="6263640" y="1783080"/>
            <a:ext cx="2596896" cy="2057400"/>
          </a:xfrm>
          <a:prstGeom prst="roundRect">
            <a:avLst>
              <a:gd name="adj" fmla="val 5333"/>
            </a:avLst>
          </a:prstGeom>
          <a:solidFill>
            <a:srgbClr val="1A1D24"/>
          </a:solidFill>
          <a:ln w="9525">
            <a:solidFill>
              <a:srgbClr val="2D3138"/>
            </a:solidFill>
            <a:prstDash val="solid"/>
          </a:ln>
        </p:spPr>
      </p:sp>
      <p:sp>
        <p:nvSpPr>
          <p:cNvPr id="18" name="Shape 16"/>
          <p:cNvSpPr/>
          <p:nvPr/>
        </p:nvSpPr>
        <p:spPr>
          <a:xfrm>
            <a:off x="6464808" y="1947672"/>
            <a:ext cx="384048" cy="384048"/>
          </a:xfrm>
          <a:prstGeom prst="ellipse">
            <a:avLst/>
          </a:prstGeom>
          <a:solidFill>
            <a:srgbClr val="E8A33D"/>
          </a:solidFill>
          <a:ln w="15875">
            <a:solidFill>
              <a:srgbClr val="F5C161"/>
            </a:solidFill>
            <a:prstDash val="solid"/>
          </a:ln>
        </p:spPr>
      </p:sp>
      <p:sp>
        <p:nvSpPr>
          <p:cNvPr id="19" name="Text 17"/>
          <p:cNvSpPr/>
          <p:nvPr/>
        </p:nvSpPr>
        <p:spPr>
          <a:xfrm>
            <a:off x="6464808" y="194767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01</a:t>
            </a:r>
            <a:endParaRPr lang="en-US" sz="1300" dirty="0"/>
          </a:p>
        </p:txBody>
      </p:sp>
      <p:sp>
        <p:nvSpPr>
          <p:cNvPr id="20" name="Text 18"/>
          <p:cNvSpPr/>
          <p:nvPr/>
        </p:nvSpPr>
        <p:spPr>
          <a:xfrm>
            <a:off x="6940296" y="1911096"/>
            <a:ext cx="1819656"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Beyond class diagrams</a:t>
            </a:r>
            <a:endParaRPr lang="en-US" sz="1600" dirty="0"/>
          </a:p>
        </p:txBody>
      </p:sp>
      <p:sp>
        <p:nvSpPr>
          <p:cNvPr id="21" name="Text 19"/>
          <p:cNvSpPr/>
          <p:nvPr/>
        </p:nvSpPr>
        <p:spPr>
          <a:xfrm>
            <a:off x="6519672" y="2404872"/>
            <a:ext cx="2139696" cy="134416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Extend editor to sequence, activity, state, ER. Pipeline already type-agnostic.</a:t>
            </a:r>
            <a:endParaRPr lang="en-US" sz="1300" dirty="0"/>
          </a:p>
        </p:txBody>
      </p:sp>
      <p:sp>
        <p:nvSpPr>
          <p:cNvPr id="22" name="Shape 20"/>
          <p:cNvSpPr/>
          <p:nvPr/>
        </p:nvSpPr>
        <p:spPr>
          <a:xfrm>
            <a:off x="9043416" y="1783080"/>
            <a:ext cx="2596896" cy="2057400"/>
          </a:xfrm>
          <a:prstGeom prst="roundRect">
            <a:avLst>
              <a:gd name="adj" fmla="val 5333"/>
            </a:avLst>
          </a:prstGeom>
          <a:solidFill>
            <a:srgbClr val="1A1D24"/>
          </a:solidFill>
          <a:ln w="9525">
            <a:solidFill>
              <a:srgbClr val="2D3138"/>
            </a:solidFill>
            <a:prstDash val="solid"/>
          </a:ln>
        </p:spPr>
      </p:sp>
      <p:sp>
        <p:nvSpPr>
          <p:cNvPr id="23" name="Shape 21"/>
          <p:cNvSpPr/>
          <p:nvPr/>
        </p:nvSpPr>
        <p:spPr>
          <a:xfrm>
            <a:off x="9244584" y="1947672"/>
            <a:ext cx="384048" cy="384048"/>
          </a:xfrm>
          <a:prstGeom prst="ellipse">
            <a:avLst/>
          </a:prstGeom>
          <a:solidFill>
            <a:srgbClr val="E8A33D"/>
          </a:solidFill>
          <a:ln w="15875">
            <a:solidFill>
              <a:srgbClr val="F5C161"/>
            </a:solidFill>
            <a:prstDash val="solid"/>
          </a:ln>
        </p:spPr>
      </p:sp>
      <p:sp>
        <p:nvSpPr>
          <p:cNvPr id="24" name="Text 22"/>
          <p:cNvSpPr/>
          <p:nvPr/>
        </p:nvSpPr>
        <p:spPr>
          <a:xfrm>
            <a:off x="9244584" y="194767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02</a:t>
            </a:r>
            <a:endParaRPr lang="en-US" sz="1300" dirty="0"/>
          </a:p>
        </p:txBody>
      </p:sp>
      <p:sp>
        <p:nvSpPr>
          <p:cNvPr id="25" name="Text 23"/>
          <p:cNvSpPr/>
          <p:nvPr/>
        </p:nvSpPr>
        <p:spPr>
          <a:xfrm>
            <a:off x="9720072" y="1911096"/>
            <a:ext cx="1819656"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Real-student benchmark</a:t>
            </a:r>
            <a:endParaRPr lang="en-US" sz="1600" dirty="0"/>
          </a:p>
        </p:txBody>
      </p:sp>
      <p:sp>
        <p:nvSpPr>
          <p:cNvPr id="26" name="Text 24"/>
          <p:cNvSpPr/>
          <p:nvPr/>
        </p:nvSpPr>
        <p:spPr>
          <a:xfrm>
            <a:off x="9299448" y="2404872"/>
            <a:ext cx="2139696" cy="134416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Organic student work across multiple courses. Closes the Bouali et al. standardisation gap.</a:t>
            </a:r>
            <a:endParaRPr lang="en-US" sz="1300" dirty="0"/>
          </a:p>
        </p:txBody>
      </p:sp>
      <p:sp>
        <p:nvSpPr>
          <p:cNvPr id="27" name="Shape 25"/>
          <p:cNvSpPr/>
          <p:nvPr/>
        </p:nvSpPr>
        <p:spPr>
          <a:xfrm>
            <a:off x="6263640" y="4023360"/>
            <a:ext cx="2596896" cy="2057400"/>
          </a:xfrm>
          <a:prstGeom prst="roundRect">
            <a:avLst>
              <a:gd name="adj" fmla="val 5333"/>
            </a:avLst>
          </a:prstGeom>
          <a:solidFill>
            <a:srgbClr val="1A1D24"/>
          </a:solidFill>
          <a:ln w="9525">
            <a:solidFill>
              <a:srgbClr val="2D3138"/>
            </a:solidFill>
            <a:prstDash val="solid"/>
          </a:ln>
        </p:spPr>
      </p:sp>
      <p:sp>
        <p:nvSpPr>
          <p:cNvPr id="28" name="Shape 26"/>
          <p:cNvSpPr/>
          <p:nvPr/>
        </p:nvSpPr>
        <p:spPr>
          <a:xfrm>
            <a:off x="6464808" y="4187952"/>
            <a:ext cx="384048" cy="384048"/>
          </a:xfrm>
          <a:prstGeom prst="ellipse">
            <a:avLst/>
          </a:prstGeom>
          <a:solidFill>
            <a:srgbClr val="E8A33D"/>
          </a:solidFill>
          <a:ln w="15875">
            <a:solidFill>
              <a:srgbClr val="F5C161"/>
            </a:solidFill>
            <a:prstDash val="solid"/>
          </a:ln>
        </p:spPr>
      </p:sp>
      <p:sp>
        <p:nvSpPr>
          <p:cNvPr id="29" name="Text 27"/>
          <p:cNvSpPr/>
          <p:nvPr/>
        </p:nvSpPr>
        <p:spPr>
          <a:xfrm>
            <a:off x="6464808" y="418795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03</a:t>
            </a:r>
            <a:endParaRPr lang="en-US" sz="1300" dirty="0"/>
          </a:p>
        </p:txBody>
      </p:sp>
      <p:sp>
        <p:nvSpPr>
          <p:cNvPr id="30" name="Text 28"/>
          <p:cNvSpPr/>
          <p:nvPr/>
        </p:nvSpPr>
        <p:spPr>
          <a:xfrm>
            <a:off x="6940296" y="4151376"/>
            <a:ext cx="1819656"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Multi-grader validation</a:t>
            </a:r>
            <a:endParaRPr lang="en-US" sz="1600" dirty="0"/>
          </a:p>
        </p:txBody>
      </p:sp>
      <p:sp>
        <p:nvSpPr>
          <p:cNvPr id="31" name="Text 29"/>
          <p:cNvSpPr/>
          <p:nvPr/>
        </p:nvSpPr>
        <p:spPr>
          <a:xfrm>
            <a:off x="6519672" y="4645152"/>
            <a:ext cx="2139696" cy="134416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3+ graders, ICC metrics, recalibrate the −0.28 → −1.02 LLM bias estimates.</a:t>
            </a:r>
            <a:endParaRPr lang="en-US" sz="1300" dirty="0"/>
          </a:p>
        </p:txBody>
      </p:sp>
      <p:sp>
        <p:nvSpPr>
          <p:cNvPr id="32" name="Shape 30"/>
          <p:cNvSpPr/>
          <p:nvPr/>
        </p:nvSpPr>
        <p:spPr>
          <a:xfrm>
            <a:off x="9043416" y="4023360"/>
            <a:ext cx="2596896" cy="2057400"/>
          </a:xfrm>
          <a:prstGeom prst="roundRect">
            <a:avLst>
              <a:gd name="adj" fmla="val 5333"/>
            </a:avLst>
          </a:prstGeom>
          <a:solidFill>
            <a:srgbClr val="1A1D24"/>
          </a:solidFill>
          <a:ln w="9525">
            <a:solidFill>
              <a:srgbClr val="2D3138"/>
            </a:solidFill>
            <a:prstDash val="solid"/>
          </a:ln>
        </p:spPr>
      </p:sp>
      <p:sp>
        <p:nvSpPr>
          <p:cNvPr id="33" name="Shape 31"/>
          <p:cNvSpPr/>
          <p:nvPr/>
        </p:nvSpPr>
        <p:spPr>
          <a:xfrm>
            <a:off x="9244584" y="4187952"/>
            <a:ext cx="384048" cy="384048"/>
          </a:xfrm>
          <a:prstGeom prst="ellipse">
            <a:avLst/>
          </a:prstGeom>
          <a:solidFill>
            <a:srgbClr val="E8A33D"/>
          </a:solidFill>
          <a:ln w="15875">
            <a:solidFill>
              <a:srgbClr val="F5C161"/>
            </a:solidFill>
            <a:prstDash val="solid"/>
          </a:ln>
        </p:spPr>
      </p:sp>
      <p:sp>
        <p:nvSpPr>
          <p:cNvPr id="34" name="Text 32"/>
          <p:cNvSpPr/>
          <p:nvPr/>
        </p:nvSpPr>
        <p:spPr>
          <a:xfrm>
            <a:off x="9244584" y="4187952"/>
            <a:ext cx="384048" cy="384048"/>
          </a:xfrm>
          <a:prstGeom prst="rect">
            <a:avLst/>
          </a:prstGeom>
          <a:noFill/>
          <a:ln/>
        </p:spPr>
        <p:txBody>
          <a:bodyPr wrap="square" lIns="0" tIns="0" rIns="0" bIns="0" rtlCol="0" anchor="ctr"/>
          <a:lstStyle/>
          <a:p>
            <a:pPr algn="ctr" indent="0" marL="0">
              <a:buNone/>
            </a:pPr>
            <a:r>
              <a:rPr lang="en-US" sz="1300" b="1" dirty="0">
                <a:solidFill>
                  <a:srgbClr val="0F1115"/>
                </a:solidFill>
                <a:latin typeface="Calibri" pitchFamily="34" charset="0"/>
                <a:ea typeface="Calibri" pitchFamily="34" charset="-122"/>
                <a:cs typeface="Calibri" pitchFamily="34" charset="-120"/>
              </a:rPr>
              <a:t>04</a:t>
            </a:r>
            <a:endParaRPr lang="en-US" sz="1300" dirty="0"/>
          </a:p>
        </p:txBody>
      </p:sp>
      <p:sp>
        <p:nvSpPr>
          <p:cNvPr id="35" name="Text 33"/>
          <p:cNvSpPr/>
          <p:nvPr/>
        </p:nvSpPr>
        <p:spPr>
          <a:xfrm>
            <a:off x="9720072" y="4151376"/>
            <a:ext cx="1819656" cy="457200"/>
          </a:xfrm>
          <a:prstGeom prst="rect">
            <a:avLst/>
          </a:prstGeom>
          <a:noFill/>
          <a:ln/>
        </p:spPr>
        <p:txBody>
          <a:bodyPr wrap="square" lIns="0" tIns="0" rIns="0" bIns="0" rtlCol="0" anchor="ctr"/>
          <a:lstStyle/>
          <a:p>
            <a:pPr algn="l" indent="0" marL="0">
              <a:buNone/>
            </a:pPr>
            <a:r>
              <a:rPr lang="en-US" sz="1600" b="1" dirty="0">
                <a:solidFill>
                  <a:srgbClr val="F5C161"/>
                </a:solidFill>
                <a:latin typeface="Calibri" pitchFamily="34" charset="0"/>
                <a:ea typeface="Calibri" pitchFamily="34" charset="-122"/>
                <a:cs typeface="Calibri" pitchFamily="34" charset="-120"/>
              </a:rPr>
              <a:t>Air-gapped deployment</a:t>
            </a:r>
            <a:endParaRPr lang="en-US" sz="1600" dirty="0"/>
          </a:p>
        </p:txBody>
      </p:sp>
      <p:sp>
        <p:nvSpPr>
          <p:cNvPr id="36" name="Text 34"/>
          <p:cNvSpPr/>
          <p:nvPr/>
        </p:nvSpPr>
        <p:spPr>
          <a:xfrm>
            <a:off x="9299448" y="4645152"/>
            <a:ext cx="2139696" cy="1344168"/>
          </a:xfrm>
          <a:prstGeom prst="rect">
            <a:avLst/>
          </a:prstGeom>
          <a:noFill/>
          <a:ln/>
        </p:spPr>
        <p:txBody>
          <a:bodyPr wrap="square" lIns="0" tIns="0" rIns="0" bIns="0" rtlCol="0" anchor="t"/>
          <a:lstStyle/>
          <a:p>
            <a:pPr algn="l" indent="0" marL="0">
              <a:spcAft>
                <a:spcPts val="300"/>
              </a:spcAft>
              <a:buNone/>
            </a:pPr>
            <a:r>
              <a:rPr lang="en-US" sz="1300" dirty="0">
                <a:solidFill>
                  <a:srgbClr val="F4F4F5"/>
                </a:solidFill>
                <a:latin typeface="Calibri" pitchFamily="34" charset="0"/>
                <a:ea typeface="Calibri" pitchFamily="34" charset="-122"/>
                <a:cs typeface="Calibri" pitchFamily="34" charset="-120"/>
              </a:rPr>
              <a:t>Ollama / vLLM for on-prem LLM serving; self-hosted PostgreSQL StatefulSet.</a:t>
            </a:r>
            <a:endParaRPr lang="en-US" sz="1300" dirty="0"/>
          </a:p>
        </p:txBody>
      </p:sp>
      <p:sp>
        <p:nvSpPr>
          <p:cNvPr id="37" name="Shape 35"/>
          <p:cNvSpPr/>
          <p:nvPr/>
        </p:nvSpPr>
        <p:spPr>
          <a:xfrm>
            <a:off x="457200" y="6519672"/>
            <a:ext cx="11277295" cy="0"/>
          </a:xfrm>
          <a:prstGeom prst="line">
            <a:avLst/>
          </a:prstGeom>
          <a:noFill/>
          <a:ln w="9525">
            <a:solidFill>
              <a:srgbClr val="2D3138"/>
            </a:solidFill>
            <a:prstDash val="solid"/>
          </a:ln>
        </p:spPr>
      </p:sp>
      <p:sp>
        <p:nvSpPr>
          <p:cNvPr id="38" name="Text 36"/>
          <p:cNvSpPr/>
          <p:nvPr/>
        </p:nvSpPr>
        <p:spPr>
          <a:xfrm>
            <a:off x="457200" y="6565392"/>
            <a:ext cx="2743200" cy="246888"/>
          </a:xfrm>
          <a:prstGeom prst="rect">
            <a:avLst/>
          </a:prstGeom>
          <a:noFill/>
          <a:ln/>
        </p:spPr>
        <p:txBody>
          <a:bodyPr wrap="square" lIns="0" tIns="0" rIns="0" bIns="0" rtlCol="0" anchor="ctr"/>
          <a:lstStyle/>
          <a:p>
            <a:pPr algn="l" indent="0" marL="0">
              <a:buNone/>
            </a:pPr>
            <a:r>
              <a:rPr lang="en-US" sz="1050" dirty="0">
                <a:solidFill>
                  <a:srgbClr val="6B7280"/>
                </a:solidFill>
                <a:latin typeface="Calibri" pitchFamily="34" charset="0"/>
                <a:ea typeface="Calibri" pitchFamily="34" charset="-122"/>
                <a:cs typeface="Calibri" pitchFamily="34" charset="-120"/>
              </a:rPr>
              <a:t>CCDS25-0233</a:t>
            </a:r>
            <a:endParaRPr lang="en-US" sz="1050" dirty="0"/>
          </a:p>
        </p:txBody>
      </p:sp>
      <p:sp>
        <p:nvSpPr>
          <p:cNvPr id="39" name="Text 37"/>
          <p:cNvSpPr/>
          <p:nvPr/>
        </p:nvSpPr>
        <p:spPr>
          <a:xfrm>
            <a:off x="10820095" y="6565392"/>
            <a:ext cx="914400" cy="246888"/>
          </a:xfrm>
          <a:prstGeom prst="rect">
            <a:avLst/>
          </a:prstGeom>
          <a:noFill/>
          <a:ln/>
        </p:spPr>
        <p:txBody>
          <a:bodyPr wrap="square" lIns="0" tIns="0" rIns="0" bIns="0" rtlCol="0" anchor="ctr"/>
          <a:lstStyle/>
          <a:p>
            <a:pPr algn="r" indent="0" marL="0">
              <a:buNone/>
            </a:pPr>
            <a:r>
              <a:rPr lang="en-US" sz="1050" dirty="0">
                <a:solidFill>
                  <a:srgbClr val="6B7280"/>
                </a:solidFill>
                <a:latin typeface="Calibri" pitchFamily="34" charset="0"/>
                <a:ea typeface="Calibri" pitchFamily="34" charset="-122"/>
                <a:cs typeface="Calibri" pitchFamily="34" charset="-120"/>
              </a:rPr>
              <a:t>32 / 33</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1115"/>
        </a:solidFill>
      </p:bgPr>
    </p:bg>
    <p:spTree>
      <p:nvGrpSpPr>
        <p:cNvPr id="1" name=""/>
        <p:cNvGrpSpPr/>
        <p:nvPr/>
      </p:nvGrpSpPr>
      <p:grpSpPr>
        <a:xfrm>
          <a:off x="0" y="0"/>
          <a:ext cx="0" cy="0"/>
          <a:chOff x="0" y="0"/>
          <a:chExt cx="0" cy="0"/>
        </a:xfrm>
      </p:grpSpPr>
      <p:sp>
        <p:nvSpPr>
          <p:cNvPr id="2" name="Shape 0"/>
          <p:cNvSpPr/>
          <p:nvPr/>
        </p:nvSpPr>
        <p:spPr>
          <a:xfrm rot="-480000">
            <a:off x="-914400" y="0"/>
            <a:ext cx="3657600" cy="6858000"/>
          </a:xfrm>
          <a:prstGeom prst="rect">
            <a:avLst/>
          </a:prstGeom>
          <a:solidFill>
            <a:srgbClr val="111419"/>
          </a:solidFill>
          <a:ln w="12700">
            <a:solidFill>
              <a:srgbClr val="111419"/>
            </a:solidFill>
            <a:prstDash val="solid"/>
          </a:ln>
        </p:spPr>
      </p:sp>
      <p:sp>
        <p:nvSpPr>
          <p:cNvPr id="3" name="Shape 1"/>
          <p:cNvSpPr/>
          <p:nvPr/>
        </p:nvSpPr>
        <p:spPr>
          <a:xfrm rot="720000">
            <a:off x="8991295" y="-914400"/>
            <a:ext cx="5486400" cy="6858000"/>
          </a:xfrm>
          <a:prstGeom prst="rect">
            <a:avLst/>
          </a:prstGeom>
          <a:solidFill>
            <a:srgbClr val="13171F"/>
          </a:solidFill>
          <a:ln w="12700">
            <a:solidFill>
              <a:srgbClr val="13171F"/>
            </a:solidFill>
            <a:prstDash val="solid"/>
          </a:ln>
        </p:spPr>
      </p:sp>
      <p:sp>
        <p:nvSpPr>
          <p:cNvPr id="4" name="Text 2"/>
          <p:cNvSpPr/>
          <p:nvPr/>
        </p:nvSpPr>
        <p:spPr>
          <a:xfrm>
            <a:off x="0" y="1783080"/>
            <a:ext cx="12191695" cy="1554480"/>
          </a:xfrm>
          <a:prstGeom prst="rect">
            <a:avLst/>
          </a:prstGeom>
          <a:noFill/>
          <a:ln/>
        </p:spPr>
        <p:txBody>
          <a:bodyPr wrap="square" lIns="0" tIns="0" rIns="0" bIns="0" rtlCol="0" anchor="ctr"/>
          <a:lstStyle/>
          <a:p>
            <a:pPr algn="ctr" indent="0" marL="0">
              <a:buNone/>
            </a:pPr>
            <a:r>
              <a:rPr lang="en-US" sz="8000" b="1" dirty="0">
                <a:solidFill>
                  <a:srgbClr val="F4F4F5"/>
                </a:solidFill>
                <a:latin typeface="Calibri" pitchFamily="34" charset="0"/>
                <a:ea typeface="Calibri" pitchFamily="34" charset="-122"/>
                <a:cs typeface="Calibri" pitchFamily="34" charset="-120"/>
              </a:rPr>
              <a:t>Thank you</a:t>
            </a:r>
            <a:endParaRPr lang="en-US" sz="8000" dirty="0"/>
          </a:p>
        </p:txBody>
      </p:sp>
      <p:sp>
        <p:nvSpPr>
          <p:cNvPr id="5" name="Text 3"/>
          <p:cNvSpPr/>
          <p:nvPr/>
        </p:nvSpPr>
        <p:spPr>
          <a:xfrm>
            <a:off x="0" y="3383280"/>
            <a:ext cx="12191695" cy="640080"/>
          </a:xfrm>
          <a:prstGeom prst="rect">
            <a:avLst/>
          </a:prstGeom>
          <a:noFill/>
          <a:ln/>
        </p:spPr>
        <p:txBody>
          <a:bodyPr wrap="square" lIns="0" tIns="0" rIns="0" bIns="0" rtlCol="0" anchor="ctr"/>
          <a:lstStyle/>
          <a:p>
            <a:pPr algn="ctr" indent="0" marL="0">
              <a:buNone/>
            </a:pPr>
            <a:r>
              <a:rPr lang="en-US" sz="2400" b="1" spc="1400" kern="0" dirty="0">
                <a:solidFill>
                  <a:srgbClr val="E8A33D"/>
                </a:solidFill>
                <a:latin typeface="Calibri" pitchFamily="34" charset="0"/>
                <a:ea typeface="Calibri" pitchFamily="34" charset="-122"/>
                <a:cs typeface="Calibri" pitchFamily="34" charset="-120"/>
              </a:rPr>
              <a:t>Q &amp; A</a:t>
            </a:r>
            <a:endParaRPr lang="en-US" sz="2400" dirty="0"/>
          </a:p>
        </p:txBody>
      </p:sp>
      <p:sp>
        <p:nvSpPr>
          <p:cNvPr id="6" name="Shape 4"/>
          <p:cNvSpPr/>
          <p:nvPr/>
        </p:nvSpPr>
        <p:spPr>
          <a:xfrm>
            <a:off x="4724248" y="4160520"/>
            <a:ext cx="2743200" cy="0"/>
          </a:xfrm>
          <a:prstGeom prst="line">
            <a:avLst/>
          </a:prstGeom>
          <a:noFill/>
          <a:ln w="12700">
            <a:solidFill>
              <a:srgbClr val="E8A33D"/>
            </a:solidFill>
            <a:prstDash val="solid"/>
          </a:ln>
        </p:spPr>
      </p:sp>
      <p:sp>
        <p:nvSpPr>
          <p:cNvPr id="7" name="Text 5"/>
          <p:cNvSpPr/>
          <p:nvPr/>
        </p:nvSpPr>
        <p:spPr>
          <a:xfrm>
            <a:off x="0" y="4343400"/>
            <a:ext cx="12191695" cy="365760"/>
          </a:xfrm>
          <a:prstGeom prst="rect">
            <a:avLst/>
          </a:prstGeom>
          <a:noFill/>
          <a:ln/>
        </p:spPr>
        <p:txBody>
          <a:bodyPr wrap="square" lIns="0" tIns="0" rIns="0" bIns="0" rtlCol="0" anchor="ctr"/>
          <a:lstStyle/>
          <a:p>
            <a:pPr algn="ctr" indent="0" marL="0">
              <a:buNone/>
            </a:pPr>
            <a:r>
              <a:rPr lang="en-US" sz="1200" dirty="0">
                <a:solidFill>
                  <a:srgbClr val="B0B5BD"/>
                </a:solidFill>
                <a:latin typeface="Calibri" pitchFamily="34" charset="0"/>
                <a:ea typeface="Calibri" pitchFamily="34" charset="-122"/>
                <a:cs typeface="Calibri" pitchFamily="34" charset="-120"/>
              </a:rPr>
              <a:t>Wang Yu Teng (U2122796L)  ·  CCDS25-0233</a:t>
            </a:r>
            <a:endParaRPr lang="en-US" sz="1200" dirty="0"/>
          </a:p>
        </p:txBody>
      </p:sp>
      <p:sp>
        <p:nvSpPr>
          <p:cNvPr id="8" name="Text 6"/>
          <p:cNvSpPr/>
          <p:nvPr/>
        </p:nvSpPr>
        <p:spPr>
          <a:xfrm>
            <a:off x="0" y="4663440"/>
            <a:ext cx="12191695" cy="36576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Supervisor: Dr. Loke Yuan Ren  ·  Examiner: Prof. Zhang Hanwang</a:t>
            </a:r>
            <a:endParaRPr lang="en-US" sz="1100" dirty="0"/>
          </a:p>
        </p:txBody>
      </p:sp>
      <p:sp>
        <p:nvSpPr>
          <p:cNvPr id="9" name="Text 7"/>
          <p:cNvSpPr/>
          <p:nvPr/>
        </p:nvSpPr>
        <p:spPr>
          <a:xfrm>
            <a:off x="0" y="4983480"/>
            <a:ext cx="12191695" cy="36576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College of Computing and Data Science  ·  2026</a:t>
            </a:r>
            <a:endParaRPr lang="en-US" sz="1100" dirty="0"/>
          </a:p>
        </p:txBody>
      </p:sp>
      <p:sp>
        <p:nvSpPr>
          <p:cNvPr id="10" name="Shape 8"/>
          <p:cNvSpPr/>
          <p:nvPr/>
        </p:nvSpPr>
        <p:spPr>
          <a:xfrm>
            <a:off x="548640" y="6355080"/>
            <a:ext cx="11094415" cy="0"/>
          </a:xfrm>
          <a:prstGeom prst="line">
            <a:avLst/>
          </a:prstGeom>
          <a:noFill/>
          <a:ln w="9525">
            <a:solidFill>
              <a:srgbClr val="2D3138"/>
            </a:solidFill>
            <a:prstDash val="solid"/>
          </a:ln>
        </p:spPr>
      </p:sp>
      <p:sp>
        <p:nvSpPr>
          <p:cNvPr id="11" name="Text 9"/>
          <p:cNvSpPr/>
          <p:nvPr/>
        </p:nvSpPr>
        <p:spPr>
          <a:xfrm>
            <a:off x="548640" y="6446520"/>
            <a:ext cx="27432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CCDS25-0233</a:t>
            </a:r>
            <a:endParaRPr lang="en-US" sz="1000" dirty="0"/>
          </a:p>
        </p:txBody>
      </p:sp>
      <p:sp>
        <p:nvSpPr>
          <p:cNvPr id="12" name="Text 10"/>
          <p:cNvSpPr/>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33 / 33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NTU College of Computing and Data Science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FYP Oral Presentation — CCDS25-0233</dc:title>
  <dc:subject>Full-Stack Web Development of an Automated Assessment Platform for UML Diagrams</dc:subject>
  <dc:creator>Wang Yu Teng</dc:creator>
  <cp:lastModifiedBy>Wang Yu Teng</cp:lastModifiedBy>
  <cp:revision>1</cp:revision>
  <dcterms:created xsi:type="dcterms:W3CDTF">2026-05-07T08:26:54Z</dcterms:created>
  <dcterms:modified xsi:type="dcterms:W3CDTF">2026-05-07T08:26:54Z</dcterms:modified>
</cp:coreProperties>
</file>